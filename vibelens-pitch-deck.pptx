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We are Team VibeLens, presenting for the Prasunex Innovathon 2026. Today, AI assistants help developers generate thousands of lines of code in hours. But that speed creates a catastrophic downstream problem: phantom vulnerability alert overload. VibeLens solves this with one uncompromising premise: Only fix the vulnerabilities your code can actually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any modern repository running npm audit or Snyk today. You see 30, 40, or 100 vulnerability alarms. But here is the dirty secret of AppSec: the vast majority of those functions are NEVER called. If a library has a prototype pollution flaw in function B, but your code only calls function A, you are not exploitable. Yet developers spend days triaging, or worse, ignore the scanner completely. With AI coding agents pulling in dependencies at breakneck speed, this problem is exploding.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insight is simple compiler science: A vulnerability only exists if a path exists from an entry point—a Next.js route, an API endpoint, a CLI flag—to the vulnerable code. If lodash.merge has a CVE, but your entire application only ever calls lodash.pick, that CVE is dead weight. It cannot be exploited through your code. VibeLens deterministically traces that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four-step pipeline. Step 1: Ingest standard scanner results from npm audit or SARIF. Step 2: Parse local TypeScript and JavaScript on-device with Babel and es-module-lexer. Step 3: Run Depth-First Search from every public route and entry point. Step 4: Output ranked, honest findings. Total execution time on a 200-file codebase: less than 15 milliseconds. And zero bytes of code ever leave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judges remember: a concrete trace. Look at the left column: VibeLens maps the attack surface from route.ts through processOrder down to lodash.merge. It identifies CVE-2020-8203 as genuinely reachable. On the right, it computes the blast radius: 3 callers depend on this function. Instead of breaking production, VibeLens provides a surgical 1-click replacement with native structuredClone.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3D X-Ray. Instead of scrolling through an Excel spreadsheet of CVEs, the developer sees their codebase as a living city. Files are buildings, imports are bridges. By default, there are zero lasers—clean, pitch-black silence. But the moment you click a vulnerability, a red laser arc ignites, cutting across the city to trace the exact route that reaches it. It gives developers instant architectural intuition.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with security backgrounds respect this slide most. We never claim a codebase is '100% safe.' That is mathematically impossible in dynamic languages with eval and runtime reflection. Instead, we provide honest labels: Reachable, Unknown, and No Static Path Found. If code is dynamic, we classify it honestly as Unknown. This scientific rigor separates VibeLens from generic marketing hype.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real benchmark numbers: On our test repository, npm audit flagged 36 CVEs. VibeLens traversed the call-graph and proved that 34 of them were completely uncalled phantom code. Only 2 were reachable. Instead of wasting 140 minutes inspecting 36 false alarms, the developer fixes the 2 real risks in under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VibeLens for? First, the exploding demographic of AI Vibe Coders—developers building apps in an afternoon with Cursor, Claude, or v0. They don't have time to audit dependencies. Second, lean startups with 3 to 20 engineers and no dedicated security team. They're drowning in Dependabot PRs. VibeLens filters the noise from the tools they already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stack, modeled as our exploded optical engine. Layer 1: Babel and es-module-lexer parse code on disk. Layer 2: Transformers.js computes on-device embeddings with zero cloud API keys. Layer 3: Our DFS call-graph filters phantom CVEs. Layer 4: Our Universal Tri-Bridge connects to Cursor, Claude, and v0 via MCP and handover files. Layer 5: Three.js renders the 3D software city. It's 100% TypeScript, runs in &lt;15ms, and complies with strict local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our discipline here. For the hackathon, we built and verified ReachableSec and the 3D X-Ray. They are 100% working today. On the right, we present our post-hackathon roadmap: AST de-duplication, context shrinking for prompt compilers, and multi-language support. We present these clearly on the roadmap without pretending they are already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are asking for feedback, mentorship from security architects, and 3 pilot design partner teams to run VibeLens in their daily workflows. In the generative era, developers don't have to choose between AI speed and security integrity. You can build with the velocity of AI, and keep the clarity of a master craftsman.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822960"/>
            <a:ext cx="10698480" cy="32004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[PRASUNEX INNOVATHON 2026 // IDEA SUBMISSION // INDUSTRIAL TELEMETRY]</a:t>
            </a:r>
            <a:endParaRPr lang="en-US" sz="1100" dirty="0"/>
          </a:p>
        </p:txBody>
      </p:sp>
      <p:sp>
        <p:nvSpPr>
          <p:cNvPr id="3" name="Text 1"/>
          <p:cNvSpPr/>
          <p:nvPr/>
        </p:nvSpPr>
        <p:spPr>
          <a:xfrm>
            <a:off x="731520" y="1234440"/>
            <a:ext cx="10698480" cy="1005840"/>
          </a:xfrm>
          <a:prstGeom prst="rect">
            <a:avLst/>
          </a:prstGeom>
          <a:noFill/>
          <a:ln/>
        </p:spPr>
        <p:txBody>
          <a:bodyPr wrap="square" lIns="0" tIns="0" rIns="0" bIns="0" rtlCol="0" anchor="ctr"/>
          <a:lstStyle/>
          <a:p>
            <a:pPr indent="0" marL="0">
              <a:buNone/>
            </a:pPr>
            <a:r>
              <a:rPr lang="en-US" sz="6400" b="1" dirty="0">
                <a:solidFill>
                  <a:srgbClr val="FFFFFF"/>
                </a:solidFill>
                <a:latin typeface="Arial" pitchFamily="34" charset="0"/>
                <a:ea typeface="Arial" pitchFamily="34" charset="-122"/>
                <a:cs typeface="Arial" pitchFamily="34" charset="-120"/>
              </a:rPr>
              <a:t>VIBELENS</a:t>
            </a:r>
            <a:endParaRPr lang="en-US" sz="6400" dirty="0"/>
          </a:p>
        </p:txBody>
      </p:sp>
      <p:sp>
        <p:nvSpPr>
          <p:cNvPr id="4" name="Text 2"/>
          <p:cNvSpPr/>
          <p:nvPr/>
        </p:nvSpPr>
        <p:spPr>
          <a:xfrm>
            <a:off x="731520" y="2377440"/>
            <a:ext cx="10698480" cy="457200"/>
          </a:xfrm>
          <a:prstGeom prst="rect">
            <a:avLst/>
          </a:prstGeom>
          <a:noFill/>
          <a:ln/>
        </p:spPr>
        <p:txBody>
          <a:bodyPr wrap="square" lIns="0" tIns="0" rIns="0" bIns="0" rtlCol="0" anchor="ctr"/>
          <a:lstStyle/>
          <a:p>
            <a:pPr indent="0" marL="0">
              <a:buNone/>
            </a:pPr>
            <a:r>
              <a:rPr lang="en-US" sz="2000" b="1" dirty="0">
                <a:solidFill>
                  <a:srgbClr val="10B981"/>
                </a:solidFill>
                <a:latin typeface="Arial" pitchFamily="34" charset="0"/>
                <a:ea typeface="Arial" pitchFamily="34" charset="-122"/>
                <a:cs typeface="Arial" pitchFamily="34" charset="-120"/>
              </a:rPr>
              <a:t>"Only fix the vulnerabilities your code can actually reach."</a:t>
            </a:r>
            <a:endParaRPr lang="en-US" sz="2000" dirty="0"/>
          </a:p>
        </p:txBody>
      </p:sp>
      <p:sp>
        <p:nvSpPr>
          <p:cNvPr id="5" name="Text 3"/>
          <p:cNvSpPr/>
          <p:nvPr/>
        </p:nvSpPr>
        <p:spPr>
          <a:xfrm>
            <a:off x="731520" y="2880360"/>
            <a:ext cx="10058400" cy="502920"/>
          </a:xfrm>
          <a:prstGeom prst="rect">
            <a:avLst/>
          </a:prstGeom>
          <a:noFill/>
          <a:ln/>
        </p:spPr>
        <p:txBody>
          <a:bodyPr wrap="square" lIns="0" tIns="0" rIns="0" bIns="0" rtlCol="0" anchor="ctr"/>
          <a:lstStyle/>
          <a:p>
            <a:pPr indent="0" marL="0">
              <a:buNone/>
            </a:pPr>
            <a:r>
              <a:rPr lang="en-US" sz="1400" dirty="0">
                <a:solidFill>
                  <a:srgbClr val="A1A1AA"/>
                </a:solidFill>
                <a:latin typeface="Calibri" pitchFamily="34" charset="0"/>
                <a:ea typeface="Calibri" pitchFamily="34" charset="-122"/>
                <a:cs typeface="Calibri" pitchFamily="34" charset="-120"/>
              </a:rPr>
              <a:t>A local-first codebase hygiene, vulnerability reachability, and 3D architecture visualization system for the generative AI era.</a:t>
            </a:r>
            <a:endParaRPr lang="en-US" sz="1400" dirty="0"/>
          </a:p>
        </p:txBody>
      </p:sp>
      <p:sp>
        <p:nvSpPr>
          <p:cNvPr id="6" name="Shape 4"/>
          <p:cNvSpPr/>
          <p:nvPr/>
        </p:nvSpPr>
        <p:spPr>
          <a:xfrm>
            <a:off x="731520" y="3749040"/>
            <a:ext cx="10698480" cy="1737360"/>
          </a:xfrm>
          <a:prstGeom prst="rect">
            <a:avLst/>
          </a:prstGeom>
          <a:solidFill>
            <a:srgbClr val="111115"/>
          </a:solidFill>
          <a:ln w="12700">
            <a:solidFill>
              <a:srgbClr val="27272A"/>
            </a:solidFill>
            <a:prstDash val="solid"/>
          </a:ln>
        </p:spPr>
      </p:sp>
      <p:sp>
        <p:nvSpPr>
          <p:cNvPr id="7" name="Text 5"/>
          <p:cNvSpPr/>
          <p:nvPr/>
        </p:nvSpPr>
        <p:spPr>
          <a:xfrm>
            <a:off x="1005840" y="3931920"/>
            <a:ext cx="10058400" cy="228600"/>
          </a:xfrm>
          <a:prstGeom prst="rect">
            <a:avLst/>
          </a:prstGeom>
          <a:noFill/>
          <a:ln/>
        </p:spPr>
        <p:txBody>
          <a:bodyPr wrap="square" lIns="0" tIns="0" rIns="0" bIns="0" rtlCol="0" anchor="ctr"/>
          <a:lstStyle/>
          <a:p>
            <a:pPr indent="0" marL="0">
              <a:buNone/>
            </a:pPr>
            <a:r>
              <a:rPr lang="en-US" sz="1000" b="1" dirty="0">
                <a:solidFill>
                  <a:srgbClr val="71717A"/>
                </a:solidFill>
                <a:latin typeface="Consolas" pitchFamily="34" charset="0"/>
                <a:ea typeface="Consolas" pitchFamily="34" charset="-122"/>
                <a:cs typeface="Consolas" pitchFamily="34" charset="-120"/>
              </a:rPr>
              <a:t>TEAM CONTRIBUTORS &amp; ARCHITECTURAL ROLES</a:t>
            </a:r>
            <a:endParaRPr lang="en-US" sz="1000" dirty="0"/>
          </a:p>
        </p:txBody>
      </p:sp>
      <p:sp>
        <p:nvSpPr>
          <p:cNvPr id="8" name="Text 6"/>
          <p:cNvSpPr/>
          <p:nvPr/>
        </p:nvSpPr>
        <p:spPr>
          <a:xfrm>
            <a:off x="1005840" y="4297680"/>
            <a:ext cx="192024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Chirag Goenka</a:t>
            </a:r>
            <a:endParaRPr lang="en-US" sz="1300" dirty="0"/>
          </a:p>
        </p:txBody>
      </p:sp>
      <p:sp>
        <p:nvSpPr>
          <p:cNvPr id="9" name="Text 7"/>
          <p:cNvSpPr/>
          <p:nvPr/>
        </p:nvSpPr>
        <p:spPr>
          <a:xfrm>
            <a:off x="1005840" y="4617720"/>
            <a:ext cx="1920240" cy="548640"/>
          </a:xfrm>
          <a:prstGeom prst="rect">
            <a:avLst/>
          </a:prstGeom>
          <a:noFill/>
          <a:ln/>
        </p:spPr>
        <p:txBody>
          <a:bodyPr wrap="square" lIns="0" tIns="0" rIns="0" bIns="0" rtlCol="0" anchor="ctr"/>
          <a:lstStyle/>
          <a:p>
            <a:pPr indent="0" marL="0">
              <a:buNone/>
            </a:pPr>
            <a:r>
              <a:rPr lang="en-US" sz="1000" dirty="0">
                <a:solidFill>
                  <a:srgbClr val="06B6D4"/>
                </a:solidFill>
                <a:latin typeface="Consolas" pitchFamily="34" charset="0"/>
                <a:ea typeface="Consolas" pitchFamily="34" charset="-122"/>
                <a:cs typeface="Consolas" pitchFamily="34" charset="-120"/>
              </a:rPr>
              <a:t>UI &amp; Product Architecture</a:t>
            </a:r>
            <a:endParaRPr lang="en-US" sz="1000" dirty="0"/>
          </a:p>
        </p:txBody>
      </p:sp>
      <p:sp>
        <p:nvSpPr>
          <p:cNvPr id="10" name="Text 8"/>
          <p:cNvSpPr/>
          <p:nvPr/>
        </p:nvSpPr>
        <p:spPr>
          <a:xfrm>
            <a:off x="3063240" y="4297680"/>
            <a:ext cx="192024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Rajveer Singh</a:t>
            </a:r>
            <a:endParaRPr lang="en-US" sz="1300" dirty="0"/>
          </a:p>
        </p:txBody>
      </p:sp>
      <p:sp>
        <p:nvSpPr>
          <p:cNvPr id="11" name="Text 9"/>
          <p:cNvSpPr/>
          <p:nvPr/>
        </p:nvSpPr>
        <p:spPr>
          <a:xfrm>
            <a:off x="3063240" y="4617720"/>
            <a:ext cx="1920240" cy="548640"/>
          </a:xfrm>
          <a:prstGeom prst="rect">
            <a:avLst/>
          </a:prstGeom>
          <a:noFill/>
          <a:ln/>
        </p:spPr>
        <p:txBody>
          <a:bodyPr wrap="square" lIns="0" tIns="0" rIns="0" bIns="0" rtlCol="0" anchor="ctr"/>
          <a:lstStyle/>
          <a:p>
            <a:pPr indent="0" marL="0">
              <a:buNone/>
            </a:pPr>
            <a:r>
              <a:rPr lang="en-US" sz="1000" dirty="0">
                <a:solidFill>
                  <a:srgbClr val="06B6D4"/>
                </a:solidFill>
                <a:latin typeface="Consolas" pitchFamily="34" charset="0"/>
                <a:ea typeface="Consolas" pitchFamily="34" charset="-122"/>
                <a:cs typeface="Consolas" pitchFamily="34" charset="-120"/>
              </a:rPr>
              <a:t>ReachableSec SAST Engine</a:t>
            </a:r>
            <a:endParaRPr lang="en-US" sz="1000" dirty="0"/>
          </a:p>
        </p:txBody>
      </p:sp>
      <p:sp>
        <p:nvSpPr>
          <p:cNvPr id="12" name="Text 10"/>
          <p:cNvSpPr/>
          <p:nvPr/>
        </p:nvSpPr>
        <p:spPr>
          <a:xfrm>
            <a:off x="5120640" y="4297680"/>
            <a:ext cx="192024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Vihaan Verma</a:t>
            </a:r>
            <a:endParaRPr lang="en-US" sz="1300" dirty="0"/>
          </a:p>
        </p:txBody>
      </p:sp>
      <p:sp>
        <p:nvSpPr>
          <p:cNvPr id="13" name="Text 11"/>
          <p:cNvSpPr/>
          <p:nvPr/>
        </p:nvSpPr>
        <p:spPr>
          <a:xfrm>
            <a:off x="5120640" y="4617720"/>
            <a:ext cx="1920240" cy="548640"/>
          </a:xfrm>
          <a:prstGeom prst="rect">
            <a:avLst/>
          </a:prstGeom>
          <a:noFill/>
          <a:ln/>
        </p:spPr>
        <p:txBody>
          <a:bodyPr wrap="square" lIns="0" tIns="0" rIns="0" bIns="0" rtlCol="0" anchor="ctr"/>
          <a:lstStyle/>
          <a:p>
            <a:pPr indent="0" marL="0">
              <a:buNone/>
            </a:pPr>
            <a:r>
              <a:rPr lang="en-US" sz="1000" dirty="0">
                <a:solidFill>
                  <a:srgbClr val="06B6D4"/>
                </a:solidFill>
                <a:latin typeface="Consolas" pitchFamily="34" charset="0"/>
                <a:ea typeface="Consolas" pitchFamily="34" charset="-122"/>
                <a:cs typeface="Consolas" pitchFamily="34" charset="-120"/>
              </a:rPr>
              <a:t>3D Spatial Treemap &amp; Wiring</a:t>
            </a:r>
            <a:endParaRPr lang="en-US" sz="1000" dirty="0"/>
          </a:p>
        </p:txBody>
      </p:sp>
      <p:sp>
        <p:nvSpPr>
          <p:cNvPr id="14" name="Text 12"/>
          <p:cNvSpPr/>
          <p:nvPr/>
        </p:nvSpPr>
        <p:spPr>
          <a:xfrm>
            <a:off x="7178040" y="4297680"/>
            <a:ext cx="192024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Aaryan Sharma</a:t>
            </a:r>
            <a:endParaRPr lang="en-US" sz="1300" dirty="0"/>
          </a:p>
        </p:txBody>
      </p:sp>
      <p:sp>
        <p:nvSpPr>
          <p:cNvPr id="15" name="Text 13"/>
          <p:cNvSpPr/>
          <p:nvPr/>
        </p:nvSpPr>
        <p:spPr>
          <a:xfrm>
            <a:off x="7178040" y="4617720"/>
            <a:ext cx="1920240" cy="548640"/>
          </a:xfrm>
          <a:prstGeom prst="rect">
            <a:avLst/>
          </a:prstGeom>
          <a:noFill/>
          <a:ln/>
        </p:spPr>
        <p:txBody>
          <a:bodyPr wrap="square" lIns="0" tIns="0" rIns="0" bIns="0" rtlCol="0" anchor="ctr"/>
          <a:lstStyle/>
          <a:p>
            <a:pPr indent="0" marL="0">
              <a:buNone/>
            </a:pPr>
            <a:r>
              <a:rPr lang="en-US" sz="1000" dirty="0">
                <a:solidFill>
                  <a:srgbClr val="06B6D4"/>
                </a:solidFill>
                <a:latin typeface="Consolas" pitchFamily="34" charset="0"/>
                <a:ea typeface="Consolas" pitchFamily="34" charset="-122"/>
                <a:cs typeface="Consolas" pitchFamily="34" charset="-120"/>
              </a:rPr>
              <a:t>Blast Radius HUD &amp; MCP</a:t>
            </a:r>
            <a:endParaRPr lang="en-US" sz="1000" dirty="0"/>
          </a:p>
        </p:txBody>
      </p:sp>
      <p:sp>
        <p:nvSpPr>
          <p:cNvPr id="16" name="Text 14"/>
          <p:cNvSpPr/>
          <p:nvPr/>
        </p:nvSpPr>
        <p:spPr>
          <a:xfrm>
            <a:off x="9235440" y="4297680"/>
            <a:ext cx="192024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Archit Agrawal</a:t>
            </a:r>
            <a:endParaRPr lang="en-US" sz="1300" dirty="0"/>
          </a:p>
        </p:txBody>
      </p:sp>
      <p:sp>
        <p:nvSpPr>
          <p:cNvPr id="17" name="Text 15"/>
          <p:cNvSpPr/>
          <p:nvPr/>
        </p:nvSpPr>
        <p:spPr>
          <a:xfrm>
            <a:off x="9235440" y="4617720"/>
            <a:ext cx="1920240" cy="548640"/>
          </a:xfrm>
          <a:prstGeom prst="rect">
            <a:avLst/>
          </a:prstGeom>
          <a:noFill/>
          <a:ln/>
        </p:spPr>
        <p:txBody>
          <a:bodyPr wrap="square" lIns="0" tIns="0" rIns="0" bIns="0" rtlCol="0" anchor="ctr"/>
          <a:lstStyle/>
          <a:p>
            <a:pPr indent="0" marL="0">
              <a:buNone/>
            </a:pPr>
            <a:r>
              <a:rPr lang="en-US" sz="1000" dirty="0">
                <a:solidFill>
                  <a:srgbClr val="06B6D4"/>
                </a:solidFill>
                <a:latin typeface="Consolas" pitchFamily="34" charset="0"/>
                <a:ea typeface="Consolas" pitchFamily="34" charset="-122"/>
                <a:cs typeface="Consolas" pitchFamily="34" charset="-120"/>
              </a:rPr>
              <a:t>1Hz CLI Sentinel &amp; Daemon</a:t>
            </a:r>
            <a:endParaRPr lang="en-US" sz="1000" dirty="0"/>
          </a:p>
        </p:txBody>
      </p:sp>
      <p:sp>
        <p:nvSpPr>
          <p:cNvPr id="18" name="Text 16"/>
          <p:cNvSpPr/>
          <p:nvPr/>
        </p:nvSpPr>
        <p:spPr>
          <a:xfrm>
            <a:off x="731520" y="6080760"/>
            <a:ext cx="10698480" cy="274320"/>
          </a:xfrm>
          <a:prstGeom prst="rect">
            <a:avLst/>
          </a:prstGeom>
          <a:noFill/>
          <a:ln/>
        </p:spPr>
        <p:txBody>
          <a:bodyPr wrap="square" lIns="0" tIns="0" rIns="0" bIns="0" rtlCol="0" anchor="ctr"/>
          <a:lstStyle/>
          <a:p>
            <a:pPr indent="0" marL="0">
              <a:buNone/>
            </a:pPr>
            <a:r>
              <a:rPr lang="en-US" sz="1000" dirty="0">
                <a:solidFill>
                  <a:srgbClr val="71717A"/>
                </a:solidFill>
                <a:latin typeface="Consolas" pitchFamily="34" charset="0"/>
                <a:ea typeface="Consolas" pitchFamily="34" charset="-122"/>
                <a:cs typeface="Consolas" pitchFamily="34" charset="-120"/>
              </a:rPr>
              <a:t>[INVARIANTS: 100% LOCAL PRIVACY // ZERO CLOUD CODE UPLOADS // 88.6% NOISE FILTERED]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411480"/>
            <a:ext cx="1069848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[THE PROBLEM // DEPENDENCY REALITY]</a:t>
            </a:r>
            <a:pPr indent="0" marL="0">
              <a:buNone/>
            </a:pPr>
            <a:r>
              <a:rPr lang="en-US" sz="1000" dirty="0">
                <a:solidFill>
                  <a:srgbClr val="71717A"/>
                </a:solidFill>
                <a:latin typeface="Consolas" pitchFamily="34" charset="0"/>
                <a:ea typeface="Consolas" pitchFamily="34" charset="-122"/>
                <a:cs typeface="Consolas" pitchFamily="34" charset="-120"/>
              </a:rPr>
              <a:t> // PRASUNEX 2026 TELEMETRY</a:t>
            </a:r>
            <a:endParaRPr lang="en-US" sz="1000" dirty="0"/>
          </a:p>
        </p:txBody>
      </p:sp>
      <p:sp>
        <p:nvSpPr>
          <p:cNvPr id="3" name="Text 1"/>
          <p:cNvSpPr/>
          <p:nvPr/>
        </p:nvSpPr>
        <p:spPr>
          <a:xfrm>
            <a:off x="731520" y="731520"/>
            <a:ext cx="1069848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Dependency Scanners Are Drowning Developers in Phantom Noise</a:t>
            </a:r>
            <a:endParaRPr lang="en-US" sz="2400" dirty="0"/>
          </a:p>
        </p:txBody>
      </p:sp>
      <p:sp>
        <p:nvSpPr>
          <p:cNvPr id="4" name="Text 2"/>
          <p:cNvSpPr/>
          <p:nvPr/>
        </p:nvSpPr>
        <p:spPr>
          <a:xfrm>
            <a:off x="731520" y="1298448"/>
            <a:ext cx="10698480" cy="32004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Traditional static tools inspect package manifests rather than executable runtime call-chains.</a:t>
            </a:r>
            <a:endParaRPr lang="en-US" sz="1300" dirty="0"/>
          </a:p>
        </p:txBody>
      </p:sp>
      <p:sp>
        <p:nvSpPr>
          <p:cNvPr id="5" name="Text 3"/>
          <p:cNvSpPr/>
          <p:nvPr/>
        </p:nvSpPr>
        <p:spPr>
          <a:xfrm>
            <a:off x="731520" y="6400800"/>
            <a:ext cx="8686800" cy="27432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VIBELENS // INDUSTRIAL SECURITY TELEMETRY</a:t>
            </a:r>
            <a:pPr indent="0" marL="0">
              <a:buNone/>
            </a:pPr>
            <a:r>
              <a:rPr lang="en-US" sz="900" dirty="0">
                <a:solidFill>
                  <a:srgbClr val="71717A"/>
                </a:solidFill>
                <a:latin typeface="Consolas" pitchFamily="34" charset="0"/>
                <a:ea typeface="Consolas" pitchFamily="34" charset="-122"/>
                <a:cs typeface="Consolas" pitchFamily="34" charset="-120"/>
              </a:rPr>
              <a:t>   •   100% LOCAL PRIVACY   •   ZERO CLOUD CODE UPLOADS   •   PURE NATIVE EDITABLE TEXT</a:t>
            </a:r>
            <a:endParaRPr lang="en-US" sz="900" dirty="0"/>
          </a:p>
        </p:txBody>
      </p:sp>
      <p:sp>
        <p:nvSpPr>
          <p:cNvPr id="6" name="Text 4"/>
          <p:cNvSpPr/>
          <p:nvPr/>
        </p:nvSpPr>
        <p:spPr>
          <a:xfrm>
            <a:off x="9601200" y="6400800"/>
            <a:ext cx="1828800" cy="27432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SLIDE 02 / 12</a:t>
            </a:r>
            <a:endParaRPr lang="en-US" sz="900" dirty="0"/>
          </a:p>
        </p:txBody>
      </p:sp>
      <p:sp>
        <p:nvSpPr>
          <p:cNvPr id="7" name="Shape 5"/>
          <p:cNvSpPr/>
          <p:nvPr/>
        </p:nvSpPr>
        <p:spPr>
          <a:xfrm>
            <a:off x="731520" y="1874520"/>
            <a:ext cx="3429000" cy="4251960"/>
          </a:xfrm>
          <a:prstGeom prst="rect">
            <a:avLst/>
          </a:prstGeom>
          <a:solidFill>
            <a:srgbClr val="111115"/>
          </a:solidFill>
          <a:ln w="12700">
            <a:solidFill>
              <a:srgbClr val="27272A"/>
            </a:solidFill>
            <a:prstDash val="solid"/>
          </a:ln>
        </p:spPr>
      </p:sp>
      <p:sp>
        <p:nvSpPr>
          <p:cNvPr id="8" name="Text 6"/>
          <p:cNvSpPr/>
          <p:nvPr/>
        </p:nvSpPr>
        <p:spPr>
          <a:xfrm>
            <a:off x="1005840" y="2103120"/>
            <a:ext cx="2880360" cy="228600"/>
          </a:xfrm>
          <a:prstGeom prst="rect">
            <a:avLst/>
          </a:prstGeom>
          <a:noFill/>
          <a:ln/>
        </p:spPr>
        <p:txBody>
          <a:bodyPr wrap="square" lIns="0" tIns="0" rIns="0" bIns="0" rtlCol="0" anchor="ctr"/>
          <a:lstStyle/>
          <a:p>
            <a:pPr indent="0" marL="0">
              <a:buNone/>
            </a:pPr>
            <a:r>
              <a:rPr lang="en-US" sz="1000" b="1" dirty="0">
                <a:solidFill>
                  <a:srgbClr val="F59E0B"/>
                </a:solidFill>
                <a:latin typeface="Consolas" pitchFamily="34" charset="0"/>
                <a:ea typeface="Consolas" pitchFamily="34" charset="-122"/>
                <a:cs typeface="Consolas" pitchFamily="34" charset="-120"/>
              </a:rPr>
              <a:t>01 // NOISE TSUNAMI</a:t>
            </a:r>
            <a:endParaRPr lang="en-US" sz="1000" dirty="0"/>
          </a:p>
        </p:txBody>
      </p:sp>
      <p:sp>
        <p:nvSpPr>
          <p:cNvPr id="9" name="Text 7"/>
          <p:cNvSpPr/>
          <p:nvPr/>
        </p:nvSpPr>
        <p:spPr>
          <a:xfrm>
            <a:off x="1005840" y="2377440"/>
            <a:ext cx="2880360" cy="5486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Hundreds of Phantom CVEs</a:t>
            </a:r>
            <a:endParaRPr lang="en-US" sz="1600" dirty="0"/>
          </a:p>
        </p:txBody>
      </p:sp>
      <p:sp>
        <p:nvSpPr>
          <p:cNvPr id="10" name="Text 8"/>
          <p:cNvSpPr/>
          <p:nvPr/>
        </p:nvSpPr>
        <p:spPr>
          <a:xfrm>
            <a:off x="1005840" y="3017520"/>
            <a:ext cx="2880360" cy="173736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Standard scanners (npm audit, Snyk, Trivy) report hundreds of CVEs by simply matching package.json versions. Over 85% of flagged vulnerabilities sit in unused functions, dead sub-dependencies, or dev fixtures that are never called in production.</a:t>
            </a:r>
            <a:endParaRPr lang="en-US" sz="1200" dirty="0"/>
          </a:p>
        </p:txBody>
      </p:sp>
      <p:sp>
        <p:nvSpPr>
          <p:cNvPr id="11" name="Text 9"/>
          <p:cNvSpPr/>
          <p:nvPr/>
        </p:nvSpPr>
        <p:spPr>
          <a:xfrm>
            <a:off x="1005840" y="4892040"/>
            <a:ext cx="2880360" cy="548640"/>
          </a:xfrm>
          <a:prstGeom prst="rect">
            <a:avLst/>
          </a:prstGeom>
          <a:noFill/>
          <a:ln/>
        </p:spPr>
        <p:txBody>
          <a:bodyPr wrap="square" lIns="0" tIns="0" rIns="0" bIns="0" rtlCol="0" anchor="ctr"/>
          <a:lstStyle/>
          <a:p>
            <a:pPr indent="0" marL="0">
              <a:buNone/>
            </a:pPr>
            <a:r>
              <a:rPr lang="en-US" sz="3200" b="1" dirty="0">
                <a:solidFill>
                  <a:srgbClr val="F59E0B"/>
                </a:solidFill>
                <a:latin typeface="Arial" pitchFamily="34" charset="0"/>
                <a:ea typeface="Arial" pitchFamily="34" charset="-122"/>
                <a:cs typeface="Arial" pitchFamily="34" charset="-120"/>
              </a:rPr>
              <a:t>85%+</a:t>
            </a:r>
            <a:endParaRPr lang="en-US" sz="3200" dirty="0"/>
          </a:p>
        </p:txBody>
      </p:sp>
      <p:sp>
        <p:nvSpPr>
          <p:cNvPr id="12" name="Text 10"/>
          <p:cNvSpPr/>
          <p:nvPr/>
        </p:nvSpPr>
        <p:spPr>
          <a:xfrm>
            <a:off x="1005840" y="5486400"/>
            <a:ext cx="2880360" cy="274320"/>
          </a:xfrm>
          <a:prstGeom prst="rect">
            <a:avLst/>
          </a:prstGeom>
          <a:noFill/>
          <a:ln/>
        </p:spPr>
        <p:txBody>
          <a:bodyPr wrap="square" lIns="0" tIns="0" rIns="0" bIns="0" rtlCol="0" anchor="ctr"/>
          <a:lstStyle/>
          <a:p>
            <a:pPr indent="0" marL="0">
              <a:buNone/>
            </a:pPr>
            <a:r>
              <a:rPr lang="en-US" sz="1000" dirty="0">
                <a:solidFill>
                  <a:srgbClr val="71717A"/>
                </a:solidFill>
                <a:latin typeface="Consolas" pitchFamily="34" charset="0"/>
                <a:ea typeface="Consolas" pitchFamily="34" charset="-122"/>
                <a:cs typeface="Consolas" pitchFamily="34" charset="-120"/>
              </a:rPr>
              <a:t>CVEs are never called</a:t>
            </a:r>
            <a:endParaRPr lang="en-US" sz="1000" dirty="0"/>
          </a:p>
        </p:txBody>
      </p:sp>
      <p:sp>
        <p:nvSpPr>
          <p:cNvPr id="13" name="Shape 11"/>
          <p:cNvSpPr/>
          <p:nvPr/>
        </p:nvSpPr>
        <p:spPr>
          <a:xfrm>
            <a:off x="4389120" y="1874520"/>
            <a:ext cx="3429000" cy="4251960"/>
          </a:xfrm>
          <a:prstGeom prst="rect">
            <a:avLst/>
          </a:prstGeom>
          <a:solidFill>
            <a:srgbClr val="111115"/>
          </a:solidFill>
          <a:ln w="12700">
            <a:solidFill>
              <a:srgbClr val="27272A"/>
            </a:solidFill>
            <a:prstDash val="solid"/>
          </a:ln>
        </p:spPr>
      </p:sp>
      <p:sp>
        <p:nvSpPr>
          <p:cNvPr id="14" name="Text 12"/>
          <p:cNvSpPr/>
          <p:nvPr/>
        </p:nvSpPr>
        <p:spPr>
          <a:xfrm>
            <a:off x="4663440" y="2103120"/>
            <a:ext cx="2880360" cy="228600"/>
          </a:xfrm>
          <a:prstGeom prst="rect">
            <a:avLst/>
          </a:prstGeom>
          <a:noFill/>
          <a:ln/>
        </p:spPr>
        <p:txBody>
          <a:bodyPr wrap="square" lIns="0" tIns="0" rIns="0" bIns="0" rtlCol="0" anchor="ctr"/>
          <a:lstStyle/>
          <a:p>
            <a:pPr indent="0" marL="0">
              <a:buNone/>
            </a:pPr>
            <a:r>
              <a:rPr lang="en-US" sz="1000" b="1" dirty="0">
                <a:solidFill>
                  <a:srgbClr val="EF4444"/>
                </a:solidFill>
                <a:latin typeface="Consolas" pitchFamily="34" charset="0"/>
                <a:ea typeface="Consolas" pitchFamily="34" charset="-122"/>
                <a:cs typeface="Consolas" pitchFamily="34" charset="-120"/>
              </a:rPr>
              <a:t>02 // FATIGUE &amp; PARALYSIS</a:t>
            </a:r>
            <a:endParaRPr lang="en-US" sz="1000" dirty="0"/>
          </a:p>
        </p:txBody>
      </p:sp>
      <p:sp>
        <p:nvSpPr>
          <p:cNvPr id="15" name="Text 13"/>
          <p:cNvSpPr/>
          <p:nvPr/>
        </p:nvSpPr>
        <p:spPr>
          <a:xfrm>
            <a:off x="4663440" y="2377440"/>
            <a:ext cx="2880360" cy="5486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Ignored Alerts or Lost Days</a:t>
            </a:r>
            <a:endParaRPr lang="en-US" sz="1600" dirty="0"/>
          </a:p>
        </p:txBody>
      </p:sp>
      <p:sp>
        <p:nvSpPr>
          <p:cNvPr id="16" name="Text 14"/>
          <p:cNvSpPr/>
          <p:nvPr/>
        </p:nvSpPr>
        <p:spPr>
          <a:xfrm>
            <a:off x="4663440" y="3017520"/>
            <a:ext cx="2880360" cy="173736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Engineering teams face a toxic dilemma: spend dozens of hours manually tracing whether an obscure CVE is exploitable, or ignore security alerts entirely with blanket '--audit-level=critical' flags, allowing real zero-days to slip into production unnoticed.</a:t>
            </a:r>
            <a:endParaRPr lang="en-US" sz="1200" dirty="0"/>
          </a:p>
        </p:txBody>
      </p:sp>
      <p:sp>
        <p:nvSpPr>
          <p:cNvPr id="17" name="Text 15"/>
          <p:cNvSpPr/>
          <p:nvPr/>
        </p:nvSpPr>
        <p:spPr>
          <a:xfrm>
            <a:off x="4663440" y="4892040"/>
            <a:ext cx="2880360" cy="548640"/>
          </a:xfrm>
          <a:prstGeom prst="rect">
            <a:avLst/>
          </a:prstGeom>
          <a:noFill/>
          <a:ln/>
        </p:spPr>
        <p:txBody>
          <a:bodyPr wrap="square" lIns="0" tIns="0" rIns="0" bIns="0" rtlCol="0" anchor="ctr"/>
          <a:lstStyle/>
          <a:p>
            <a:pPr indent="0" marL="0">
              <a:buNone/>
            </a:pPr>
            <a:r>
              <a:rPr lang="en-US" sz="3200" b="1" dirty="0">
                <a:solidFill>
                  <a:srgbClr val="EF4444"/>
                </a:solidFill>
                <a:latin typeface="Arial" pitchFamily="34" charset="0"/>
                <a:ea typeface="Arial" pitchFamily="34" charset="-122"/>
                <a:cs typeface="Arial" pitchFamily="34" charset="-120"/>
              </a:rPr>
              <a:t>140min</a:t>
            </a:r>
            <a:endParaRPr lang="en-US" sz="3200" dirty="0"/>
          </a:p>
        </p:txBody>
      </p:sp>
      <p:sp>
        <p:nvSpPr>
          <p:cNvPr id="18" name="Text 16"/>
          <p:cNvSpPr/>
          <p:nvPr/>
        </p:nvSpPr>
        <p:spPr>
          <a:xfrm>
            <a:off x="4663440" y="5486400"/>
            <a:ext cx="2880360" cy="274320"/>
          </a:xfrm>
          <a:prstGeom prst="rect">
            <a:avLst/>
          </a:prstGeom>
          <a:noFill/>
          <a:ln/>
        </p:spPr>
        <p:txBody>
          <a:bodyPr wrap="square" lIns="0" tIns="0" rIns="0" bIns="0" rtlCol="0" anchor="ctr"/>
          <a:lstStyle/>
          <a:p>
            <a:pPr indent="0" marL="0">
              <a:buNone/>
            </a:pPr>
            <a:r>
              <a:rPr lang="en-US" sz="1000" dirty="0">
                <a:solidFill>
                  <a:srgbClr val="71717A"/>
                </a:solidFill>
                <a:latin typeface="Consolas" pitchFamily="34" charset="0"/>
                <a:ea typeface="Consolas" pitchFamily="34" charset="-122"/>
                <a:cs typeface="Consolas" pitchFamily="34" charset="-120"/>
              </a:rPr>
              <a:t>Wasted per triage cycle</a:t>
            </a:r>
            <a:endParaRPr lang="en-US" sz="1000" dirty="0"/>
          </a:p>
        </p:txBody>
      </p:sp>
      <p:sp>
        <p:nvSpPr>
          <p:cNvPr id="19" name="Shape 17"/>
          <p:cNvSpPr/>
          <p:nvPr/>
        </p:nvSpPr>
        <p:spPr>
          <a:xfrm>
            <a:off x="8046720" y="1874520"/>
            <a:ext cx="3429000" cy="4251960"/>
          </a:xfrm>
          <a:prstGeom prst="rect">
            <a:avLst/>
          </a:prstGeom>
          <a:solidFill>
            <a:srgbClr val="111115"/>
          </a:solidFill>
          <a:ln w="12700">
            <a:solidFill>
              <a:srgbClr val="27272A"/>
            </a:solidFill>
            <a:prstDash val="solid"/>
          </a:ln>
        </p:spPr>
      </p:sp>
      <p:sp>
        <p:nvSpPr>
          <p:cNvPr id="20" name="Text 18"/>
          <p:cNvSpPr/>
          <p:nvPr/>
        </p:nvSpPr>
        <p:spPr>
          <a:xfrm>
            <a:off x="8321040" y="2103120"/>
            <a:ext cx="2880360" cy="228600"/>
          </a:xfrm>
          <a:prstGeom prst="rect">
            <a:avLst/>
          </a:prstGeom>
          <a:noFill/>
          <a:ln/>
        </p:spPr>
        <p:txBody>
          <a:bodyPr wrap="square" lIns="0" tIns="0" rIns="0" bIns="0" rtlCol="0" anchor="ctr"/>
          <a:lstStyle/>
          <a:p>
            <a:pPr indent="0" marL="0">
              <a:buNone/>
            </a:pPr>
            <a:r>
              <a:rPr lang="en-US" sz="1000" b="1" dirty="0">
                <a:solidFill>
                  <a:srgbClr val="F97316"/>
                </a:solidFill>
                <a:latin typeface="Consolas" pitchFamily="34" charset="0"/>
                <a:ea typeface="Consolas" pitchFamily="34" charset="-122"/>
                <a:cs typeface="Consolas" pitchFamily="34" charset="-120"/>
              </a:rPr>
              <a:t>03 // THE AI VELOCITY TRAP</a:t>
            </a:r>
            <a:endParaRPr lang="en-US" sz="1000" dirty="0"/>
          </a:p>
        </p:txBody>
      </p:sp>
      <p:sp>
        <p:nvSpPr>
          <p:cNvPr id="21" name="Text 19"/>
          <p:cNvSpPr/>
          <p:nvPr/>
        </p:nvSpPr>
        <p:spPr>
          <a:xfrm>
            <a:off x="8321040" y="2377440"/>
            <a:ext cx="2880360" cy="5486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AI Ships Transitive Slop</a:t>
            </a:r>
            <a:endParaRPr lang="en-US" sz="1600" dirty="0"/>
          </a:p>
        </p:txBody>
      </p:sp>
      <p:sp>
        <p:nvSpPr>
          <p:cNvPr id="22" name="Text 20"/>
          <p:cNvSpPr/>
          <p:nvPr/>
        </p:nvSpPr>
        <p:spPr>
          <a:xfrm>
            <a:off x="8321040" y="3017520"/>
            <a:ext cx="2880360" cy="173736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Coding agents (Cursor, Claude, Copilot) install packages rapidly to solve instant tasks. The velocity is exhilarating, but transitive dependency bloat accumulates 10x faster than human review capacity. The morning spark becomes a 2 AM crisis.</a:t>
            </a:r>
            <a:endParaRPr lang="en-US" sz="1200" dirty="0"/>
          </a:p>
        </p:txBody>
      </p:sp>
      <p:sp>
        <p:nvSpPr>
          <p:cNvPr id="23" name="Text 21"/>
          <p:cNvSpPr/>
          <p:nvPr/>
        </p:nvSpPr>
        <p:spPr>
          <a:xfrm>
            <a:off x="8321040" y="4892040"/>
            <a:ext cx="2880360" cy="548640"/>
          </a:xfrm>
          <a:prstGeom prst="rect">
            <a:avLst/>
          </a:prstGeom>
          <a:noFill/>
          <a:ln/>
        </p:spPr>
        <p:txBody>
          <a:bodyPr wrap="square" lIns="0" tIns="0" rIns="0" bIns="0" rtlCol="0" anchor="ctr"/>
          <a:lstStyle/>
          <a:p>
            <a:pPr indent="0" marL="0">
              <a:buNone/>
            </a:pPr>
            <a:r>
              <a:rPr lang="en-US" sz="3200" b="1" dirty="0">
                <a:solidFill>
                  <a:srgbClr val="F97316"/>
                </a:solidFill>
                <a:latin typeface="Arial" pitchFamily="34" charset="0"/>
                <a:ea typeface="Arial" pitchFamily="34" charset="-122"/>
                <a:cs typeface="Arial" pitchFamily="34" charset="-120"/>
              </a:rPr>
              <a:t>10x</a:t>
            </a:r>
            <a:endParaRPr lang="en-US" sz="3200" dirty="0"/>
          </a:p>
        </p:txBody>
      </p:sp>
      <p:sp>
        <p:nvSpPr>
          <p:cNvPr id="24" name="Text 22"/>
          <p:cNvSpPr/>
          <p:nvPr/>
        </p:nvSpPr>
        <p:spPr>
          <a:xfrm>
            <a:off x="8321040" y="5486400"/>
            <a:ext cx="2880360" cy="274320"/>
          </a:xfrm>
          <a:prstGeom prst="rect">
            <a:avLst/>
          </a:prstGeom>
          <a:noFill/>
          <a:ln/>
        </p:spPr>
        <p:txBody>
          <a:bodyPr wrap="square" lIns="0" tIns="0" rIns="0" bIns="0" rtlCol="0" anchor="ctr"/>
          <a:lstStyle/>
          <a:p>
            <a:pPr indent="0" marL="0">
              <a:buNone/>
            </a:pPr>
            <a:r>
              <a:rPr lang="en-US" sz="1000" dirty="0">
                <a:solidFill>
                  <a:srgbClr val="71717A"/>
                </a:solidFill>
                <a:latin typeface="Consolas" pitchFamily="34" charset="0"/>
                <a:ea typeface="Consolas" pitchFamily="34" charset="-122"/>
                <a:cs typeface="Consolas" pitchFamily="34" charset="-120"/>
              </a:rPr>
              <a:t>Dependency growth rate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411480"/>
            <a:ext cx="1069848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[THE INSIGHT // COMPILER SCIENCE PRINCIPLE]</a:t>
            </a:r>
            <a:pPr indent="0" marL="0">
              <a:buNone/>
            </a:pPr>
            <a:r>
              <a:rPr lang="en-US" sz="1000" dirty="0">
                <a:solidFill>
                  <a:srgbClr val="71717A"/>
                </a:solidFill>
                <a:latin typeface="Consolas" pitchFamily="34" charset="0"/>
                <a:ea typeface="Consolas" pitchFamily="34" charset="-122"/>
                <a:cs typeface="Consolas" pitchFamily="34" charset="-120"/>
              </a:rPr>
              <a:t> // PRASUNEX 2026 TELEMETRY</a:t>
            </a:r>
            <a:endParaRPr lang="en-US" sz="1000" dirty="0"/>
          </a:p>
        </p:txBody>
      </p:sp>
      <p:sp>
        <p:nvSpPr>
          <p:cNvPr id="3" name="Text 1"/>
          <p:cNvSpPr/>
          <p:nvPr/>
        </p:nvSpPr>
        <p:spPr>
          <a:xfrm>
            <a:off x="731520" y="731520"/>
            <a:ext cx="1069848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A Vulnerability Only Matters If A Path Exists To Reach It</a:t>
            </a:r>
            <a:endParaRPr lang="en-US" sz="2400" dirty="0"/>
          </a:p>
        </p:txBody>
      </p:sp>
      <p:sp>
        <p:nvSpPr>
          <p:cNvPr id="4" name="Text 2"/>
          <p:cNvSpPr/>
          <p:nvPr/>
        </p:nvSpPr>
        <p:spPr>
          <a:xfrm>
            <a:off x="731520" y="1298448"/>
            <a:ext cx="10698480" cy="32004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Replacing blind manifest scanning with deterministic Abstract Syntax Tree (AST) reachability traversal.</a:t>
            </a:r>
            <a:endParaRPr lang="en-US" sz="1300" dirty="0"/>
          </a:p>
        </p:txBody>
      </p:sp>
      <p:sp>
        <p:nvSpPr>
          <p:cNvPr id="5" name="Text 3"/>
          <p:cNvSpPr/>
          <p:nvPr/>
        </p:nvSpPr>
        <p:spPr>
          <a:xfrm>
            <a:off x="731520" y="6400800"/>
            <a:ext cx="8686800" cy="27432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VIBELENS // INDUSTRIAL SECURITY TELEMETRY</a:t>
            </a:r>
            <a:pPr indent="0" marL="0">
              <a:buNone/>
            </a:pPr>
            <a:r>
              <a:rPr lang="en-US" sz="900" dirty="0">
                <a:solidFill>
                  <a:srgbClr val="71717A"/>
                </a:solidFill>
                <a:latin typeface="Consolas" pitchFamily="34" charset="0"/>
                <a:ea typeface="Consolas" pitchFamily="34" charset="-122"/>
                <a:cs typeface="Consolas" pitchFamily="34" charset="-120"/>
              </a:rPr>
              <a:t>   •   100% LOCAL PRIVACY   •   ZERO CLOUD CODE UPLOADS   •   PURE NATIVE EDITABLE TEXT</a:t>
            </a:r>
            <a:endParaRPr lang="en-US" sz="900" dirty="0"/>
          </a:p>
        </p:txBody>
      </p:sp>
      <p:sp>
        <p:nvSpPr>
          <p:cNvPr id="6" name="Text 4"/>
          <p:cNvSpPr/>
          <p:nvPr/>
        </p:nvSpPr>
        <p:spPr>
          <a:xfrm>
            <a:off x="9601200" y="6400800"/>
            <a:ext cx="1828800" cy="27432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SLIDE 03 / 12</a:t>
            </a:r>
            <a:endParaRPr lang="en-US" sz="900" dirty="0"/>
          </a:p>
        </p:txBody>
      </p:sp>
      <p:sp>
        <p:nvSpPr>
          <p:cNvPr id="7" name="Shape 5"/>
          <p:cNvSpPr/>
          <p:nvPr/>
        </p:nvSpPr>
        <p:spPr>
          <a:xfrm>
            <a:off x="731520" y="1874520"/>
            <a:ext cx="5166360" cy="4251960"/>
          </a:xfrm>
          <a:prstGeom prst="rect">
            <a:avLst/>
          </a:prstGeom>
          <a:solidFill>
            <a:srgbClr val="111115"/>
          </a:solidFill>
          <a:ln w="12700">
            <a:solidFill>
              <a:srgbClr val="27272A"/>
            </a:solidFill>
            <a:prstDash val="solid"/>
          </a:ln>
        </p:spPr>
      </p:sp>
      <p:sp>
        <p:nvSpPr>
          <p:cNvPr id="8" name="Text 6"/>
          <p:cNvSpPr/>
          <p:nvPr/>
        </p:nvSpPr>
        <p:spPr>
          <a:xfrm>
            <a:off x="1005840" y="2103120"/>
            <a:ext cx="4572000" cy="22860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THE REACHABILITY THEOREM</a:t>
            </a:r>
            <a:endParaRPr lang="en-US" sz="1100" dirty="0"/>
          </a:p>
        </p:txBody>
      </p:sp>
      <p:sp>
        <p:nvSpPr>
          <p:cNvPr id="9" name="Text 7"/>
          <p:cNvSpPr/>
          <p:nvPr/>
        </p:nvSpPr>
        <p:spPr>
          <a:xfrm>
            <a:off x="1005840" y="2377440"/>
            <a:ext cx="4572000" cy="5486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Static Lists Are Meaningless Without Execution Flow</a:t>
            </a:r>
            <a:endParaRPr lang="en-US" sz="1800" dirty="0"/>
          </a:p>
        </p:txBody>
      </p:sp>
      <p:sp>
        <p:nvSpPr>
          <p:cNvPr id="10" name="Text 8"/>
          <p:cNvSpPr/>
          <p:nvPr/>
        </p:nvSpPr>
        <p:spPr>
          <a:xfrm>
            <a:off x="1005840" y="3017520"/>
            <a:ext cx="4572000" cy="274320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In software security, an attack surface requires three elements:</a:t>
            </a:r>
            <a:endParaRPr lang="en-US" sz="1300" dirty="0"/>
          </a:p>
          <a:p>
            <a:pPr indent="0" marL="0">
              <a:buNone/>
            </a:pPr>
            <a:endParaRPr lang="en-US" sz="1300" dirty="0"/>
          </a:p>
          <a:p>
            <a:pPr indent="0" marL="0">
              <a:buNone/>
            </a:pPr>
            <a:r>
              <a:rPr lang="en-US" sz="1300" dirty="0">
                <a:solidFill>
                  <a:srgbClr val="A1A1AA"/>
                </a:solidFill>
                <a:latin typeface="Calibri" pitchFamily="34" charset="0"/>
                <a:ea typeface="Calibri" pitchFamily="34" charset="-122"/>
                <a:cs typeface="Calibri" pitchFamily="34" charset="-120"/>
              </a:rPr>
              <a:t>1. An untrusted input entry point (HTTP route, RPC handler, CLI arg).</a:t>
            </a:r>
            <a:endParaRPr lang="en-US" sz="1300" dirty="0"/>
          </a:p>
          <a:p>
            <a:pPr indent="0" marL="0">
              <a:buNone/>
            </a:pPr>
            <a:r>
              <a:rPr lang="en-US" sz="1300" dirty="0">
                <a:solidFill>
                  <a:srgbClr val="A1A1AA"/>
                </a:solidFill>
                <a:latin typeface="Calibri" pitchFamily="34" charset="0"/>
                <a:ea typeface="Calibri" pitchFamily="34" charset="-122"/>
                <a:cs typeface="Calibri" pitchFamily="34" charset="-120"/>
              </a:rPr>
              <a:t>2. A deterministic propagation path through local application code.</a:t>
            </a:r>
            <a:endParaRPr lang="en-US" sz="1300" dirty="0"/>
          </a:p>
          <a:p>
            <a:pPr indent="0" marL="0">
              <a:buNone/>
            </a:pPr>
            <a:r>
              <a:rPr lang="en-US" sz="1300" dirty="0">
                <a:solidFill>
                  <a:srgbClr val="A1A1AA"/>
                </a:solidFill>
                <a:latin typeface="Calibri" pitchFamily="34" charset="0"/>
                <a:ea typeface="Calibri" pitchFamily="34" charset="-122"/>
                <a:cs typeface="Calibri" pitchFamily="34" charset="-120"/>
              </a:rPr>
              <a:t>3. An execution sink into the vulnerable library function.</a:t>
            </a:r>
            <a:endParaRPr lang="en-US" sz="1300" dirty="0"/>
          </a:p>
          <a:p>
            <a:pPr indent="0" marL="0">
              <a:buNone/>
            </a:pPr>
            <a:endParaRPr lang="en-US" sz="1300" dirty="0"/>
          </a:p>
          <a:p>
            <a:pPr indent="0" marL="0">
              <a:buNone/>
            </a:pPr>
            <a:r>
              <a:rPr lang="en-US" sz="1300" dirty="0">
                <a:solidFill>
                  <a:srgbClr val="A1A1AA"/>
                </a:solidFill>
                <a:latin typeface="Calibri" pitchFamily="34" charset="0"/>
                <a:ea typeface="Calibri" pitchFamily="34" charset="-122"/>
                <a:cs typeface="Calibri" pitchFamily="34" charset="-120"/>
              </a:rPr>
              <a:t>If step 2 does not exist, the vulnerability is dormant phantom noise. VibeLens checks that exact path across the codebase AST call-graph and separates 'Reachable' from 'No Static Path Found'.</a:t>
            </a:r>
            <a:endParaRPr lang="en-US" sz="1300" dirty="0"/>
          </a:p>
        </p:txBody>
      </p:sp>
      <p:sp>
        <p:nvSpPr>
          <p:cNvPr id="11" name="Shape 9"/>
          <p:cNvSpPr/>
          <p:nvPr/>
        </p:nvSpPr>
        <p:spPr>
          <a:xfrm>
            <a:off x="6263640" y="1874520"/>
            <a:ext cx="5166360" cy="4251960"/>
          </a:xfrm>
          <a:prstGeom prst="rect">
            <a:avLst/>
          </a:prstGeom>
          <a:solidFill>
            <a:srgbClr val="111115"/>
          </a:solidFill>
          <a:ln w="12700">
            <a:solidFill>
              <a:srgbClr val="27272A"/>
            </a:solidFill>
            <a:prstDash val="solid"/>
          </a:ln>
        </p:spPr>
      </p:sp>
      <p:sp>
        <p:nvSpPr>
          <p:cNvPr id="12" name="Text 10"/>
          <p:cNvSpPr/>
          <p:nvPr/>
        </p:nvSpPr>
        <p:spPr>
          <a:xfrm>
            <a:off x="6537960" y="2103120"/>
            <a:ext cx="4572000" cy="228600"/>
          </a:xfrm>
          <a:prstGeom prst="rect">
            <a:avLst/>
          </a:prstGeom>
          <a:noFill/>
          <a:ln/>
        </p:spPr>
        <p:txBody>
          <a:bodyPr wrap="square" lIns="0" tIns="0" rIns="0" bIns="0" rtlCol="0" anchor="ctr"/>
          <a:lstStyle/>
          <a:p>
            <a:pPr indent="0" marL="0">
              <a:buNone/>
            </a:pPr>
            <a:r>
              <a:rPr lang="en-US" sz="1100" b="1" dirty="0">
                <a:solidFill>
                  <a:srgbClr val="10B981"/>
                </a:solidFill>
                <a:latin typeface="Consolas" pitchFamily="34" charset="0"/>
                <a:ea typeface="Consolas" pitchFamily="34" charset="-122"/>
                <a:cs typeface="Consolas" pitchFamily="34" charset="-120"/>
              </a:rPr>
              <a:t>CONVENTIONAL SCANNER VS. VIBELENS REACHABLESEC</a:t>
            </a:r>
            <a:endParaRPr lang="en-US" sz="1100" dirty="0"/>
          </a:p>
        </p:txBody>
      </p:sp>
      <p:sp>
        <p:nvSpPr>
          <p:cNvPr id="13" name="Shape 11"/>
          <p:cNvSpPr/>
          <p:nvPr/>
        </p:nvSpPr>
        <p:spPr>
          <a:xfrm>
            <a:off x="6537960" y="2468880"/>
            <a:ext cx="4617720" cy="1463040"/>
          </a:xfrm>
          <a:prstGeom prst="rect">
            <a:avLst/>
          </a:prstGeom>
          <a:solidFill>
            <a:srgbClr val="18181B"/>
          </a:solidFill>
          <a:ln w="12700">
            <a:solidFill>
              <a:srgbClr val="EF4444"/>
            </a:solidFill>
            <a:prstDash val="solid"/>
          </a:ln>
        </p:spPr>
      </p:sp>
      <p:sp>
        <p:nvSpPr>
          <p:cNvPr id="14" name="Text 12"/>
          <p:cNvSpPr/>
          <p:nvPr/>
        </p:nvSpPr>
        <p:spPr>
          <a:xfrm>
            <a:off x="6720840" y="2606040"/>
            <a:ext cx="4251960" cy="228600"/>
          </a:xfrm>
          <a:prstGeom prst="rect">
            <a:avLst/>
          </a:prstGeom>
          <a:noFill/>
          <a:ln/>
        </p:spPr>
        <p:txBody>
          <a:bodyPr wrap="square" lIns="0" tIns="0" rIns="0" bIns="0" rtlCol="0" anchor="ctr"/>
          <a:lstStyle/>
          <a:p>
            <a:pPr indent="0" marL="0">
              <a:buNone/>
            </a:pPr>
            <a:r>
              <a:rPr lang="en-US" sz="1000" b="1" dirty="0">
                <a:solidFill>
                  <a:srgbClr val="EF4444"/>
                </a:solidFill>
                <a:latin typeface="Consolas" pitchFamily="34" charset="0"/>
                <a:ea typeface="Consolas" pitchFamily="34" charset="-122"/>
                <a:cs typeface="Consolas" pitchFamily="34" charset="-120"/>
              </a:rPr>
              <a:t>CONVENTIONAL SCANNER (MANIFEST LEVEL)</a:t>
            </a:r>
            <a:endParaRPr lang="en-US" sz="1000" dirty="0"/>
          </a:p>
        </p:txBody>
      </p:sp>
      <p:sp>
        <p:nvSpPr>
          <p:cNvPr id="15" name="Text 13"/>
          <p:cNvSpPr/>
          <p:nvPr/>
        </p:nvSpPr>
        <p:spPr>
          <a:xfrm>
            <a:off x="6720840" y="2880360"/>
            <a:ext cx="4251960" cy="822960"/>
          </a:xfrm>
          <a:prstGeom prst="rect">
            <a:avLst/>
          </a:prstGeom>
          <a:noFill/>
          <a:ln/>
        </p:spPr>
        <p:txBody>
          <a:bodyPr wrap="square" lIns="0" tIns="0" rIns="0" bIns="0" rtlCol="0" anchor="ctr"/>
          <a:lstStyle/>
          <a:p>
            <a:pPr indent="0" marL="0">
              <a:buNone/>
            </a:pPr>
            <a:r>
              <a:rPr lang="en-US" sz="1100" dirty="0">
                <a:solidFill>
                  <a:srgbClr val="A1A1AA"/>
                </a:solidFill>
                <a:latin typeface="Consolas" pitchFamily="34" charset="0"/>
                <a:ea typeface="Consolas" pitchFamily="34" charset="-122"/>
                <a:cs typeface="Consolas" pitchFamily="34" charset="-120"/>
              </a:rPr>
              <a:t>package.json imports 'lodash@4.17.15'</a:t>
            </a:r>
            <a:endParaRPr lang="en-US" sz="1100" dirty="0"/>
          </a:p>
          <a:p>
            <a:pPr indent="0" marL="0">
              <a:buNone/>
            </a:pPr>
            <a:r>
              <a:rPr lang="en-US" sz="1100" dirty="0">
                <a:solidFill>
                  <a:srgbClr val="A1A1AA"/>
                </a:solidFill>
                <a:latin typeface="Consolas" pitchFamily="34" charset="0"/>
                <a:ea typeface="Consolas" pitchFamily="34" charset="-122"/>
                <a:cs typeface="Consolas" pitchFamily="34" charset="-120"/>
              </a:rPr>
              <a:t>➔ 🚨 CRITICAL ALARM: CVE-2020-8203</a:t>
            </a:r>
            <a:endParaRPr lang="en-US" sz="1100" dirty="0"/>
          </a:p>
          <a:p>
            <a:pPr indent="0" marL="0">
              <a:buNone/>
            </a:pPr>
            <a:r>
              <a:rPr lang="en-US" sz="1100" dirty="0">
                <a:solidFill>
                  <a:srgbClr val="A1A1AA"/>
                </a:solidFill>
                <a:latin typeface="Consolas" pitchFamily="34" charset="0"/>
                <a:ea typeface="Consolas" pitchFamily="34" charset="-122"/>
                <a:cs typeface="Consolas" pitchFamily="34" charset="-120"/>
              </a:rPr>
              <a:t>➔ Status: Blinds developers with 36 alarms regardless of code.</a:t>
            </a:r>
            <a:endParaRPr lang="en-US" sz="1100" dirty="0"/>
          </a:p>
        </p:txBody>
      </p:sp>
      <p:sp>
        <p:nvSpPr>
          <p:cNvPr id="16" name="Shape 14"/>
          <p:cNvSpPr/>
          <p:nvPr/>
        </p:nvSpPr>
        <p:spPr>
          <a:xfrm>
            <a:off x="6537960" y="4206240"/>
            <a:ext cx="4617720" cy="1645920"/>
          </a:xfrm>
          <a:prstGeom prst="rect">
            <a:avLst/>
          </a:prstGeom>
          <a:solidFill>
            <a:srgbClr val="18181B"/>
          </a:solidFill>
          <a:ln w="12700">
            <a:solidFill>
              <a:srgbClr val="10B981"/>
            </a:solidFill>
            <a:prstDash val="solid"/>
          </a:ln>
        </p:spPr>
      </p:sp>
      <p:sp>
        <p:nvSpPr>
          <p:cNvPr id="17" name="Text 15"/>
          <p:cNvSpPr/>
          <p:nvPr/>
        </p:nvSpPr>
        <p:spPr>
          <a:xfrm>
            <a:off x="6720840" y="4343400"/>
            <a:ext cx="4251960" cy="228600"/>
          </a:xfrm>
          <a:prstGeom prst="rect">
            <a:avLst/>
          </a:prstGeom>
          <a:noFill/>
          <a:ln/>
        </p:spPr>
        <p:txBody>
          <a:bodyPr wrap="square" lIns="0" tIns="0" rIns="0" bIns="0"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VIBELENS REACHABLESEC (CALL-GRAPH AST LEVEL)</a:t>
            </a:r>
            <a:endParaRPr lang="en-US" sz="1000" dirty="0"/>
          </a:p>
        </p:txBody>
      </p:sp>
      <p:sp>
        <p:nvSpPr>
          <p:cNvPr id="18" name="Text 16"/>
          <p:cNvSpPr/>
          <p:nvPr/>
        </p:nvSpPr>
        <p:spPr>
          <a:xfrm>
            <a:off x="6720840" y="4617720"/>
            <a:ext cx="4251960" cy="1005840"/>
          </a:xfrm>
          <a:prstGeom prst="rect">
            <a:avLst/>
          </a:prstGeom>
          <a:noFill/>
          <a:ln/>
        </p:spPr>
        <p:txBody>
          <a:bodyPr wrap="square" lIns="0" tIns="0" rIns="0" bIns="0" rtlCol="0" anchor="ctr"/>
          <a:lstStyle/>
          <a:p>
            <a:pPr indent="0" marL="0">
              <a:buNone/>
            </a:pPr>
            <a:r>
              <a:rPr lang="en-US" sz="1100" dirty="0">
                <a:solidFill>
                  <a:srgbClr val="F4F4F5"/>
                </a:solidFill>
                <a:latin typeface="Consolas" pitchFamily="34" charset="0"/>
                <a:ea typeface="Consolas" pitchFamily="34" charset="-122"/>
                <a:cs typeface="Consolas" pitchFamily="34" charset="-120"/>
              </a:rPr>
              <a:t>Traverse AST: route.ts ➔ parseInput() ➔ lodash.pick()</a:t>
            </a:r>
            <a:endParaRPr lang="en-US" sz="1100" dirty="0"/>
          </a:p>
          <a:p>
            <a:pPr indent="0" marL="0">
              <a:buNone/>
            </a:pPr>
            <a:r>
              <a:rPr lang="en-US" sz="1100" dirty="0">
                <a:solidFill>
                  <a:srgbClr val="F4F4F5"/>
                </a:solidFill>
                <a:latin typeface="Consolas" pitchFamily="34" charset="0"/>
                <a:ea typeface="Consolas" pitchFamily="34" charset="-122"/>
                <a:cs typeface="Consolas" pitchFamily="34" charset="-120"/>
              </a:rPr>
              <a:t>➔ Sink check: lodash.merge() is NEVER invoked.</a:t>
            </a:r>
            <a:endParaRPr lang="en-US" sz="1100" dirty="0"/>
          </a:p>
          <a:p>
            <a:pPr indent="0" marL="0">
              <a:buNone/>
            </a:pPr>
            <a:r>
              <a:rPr lang="en-US" sz="1100" dirty="0">
                <a:solidFill>
                  <a:srgbClr val="F4F4F5"/>
                </a:solidFill>
                <a:latin typeface="Consolas" pitchFamily="34" charset="0"/>
                <a:ea typeface="Consolas" pitchFamily="34" charset="-122"/>
                <a:cs typeface="Consolas" pitchFamily="34" charset="-120"/>
              </a:rPr>
              <a:t>➔ 🛡️ PHANTOM ALARM SILENCED (88.6% noise reduction).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411480"/>
            <a:ext cx="1069848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[SYSTEM PIPELINE // 4-STEP FLOW]</a:t>
            </a:r>
            <a:pPr indent="0" marL="0">
              <a:buNone/>
            </a:pPr>
            <a:r>
              <a:rPr lang="en-US" sz="1000" dirty="0">
                <a:solidFill>
                  <a:srgbClr val="71717A"/>
                </a:solidFill>
                <a:latin typeface="Consolas" pitchFamily="34" charset="0"/>
                <a:ea typeface="Consolas" pitchFamily="34" charset="-122"/>
                <a:cs typeface="Consolas" pitchFamily="34" charset="-120"/>
              </a:rPr>
              <a:t> // PRASUNEX 2026 TELEMETRY</a:t>
            </a:r>
            <a:endParaRPr lang="en-US" sz="1000" dirty="0"/>
          </a:p>
        </p:txBody>
      </p:sp>
      <p:sp>
        <p:nvSpPr>
          <p:cNvPr id="3" name="Text 1"/>
          <p:cNvSpPr/>
          <p:nvPr/>
        </p:nvSpPr>
        <p:spPr>
          <a:xfrm>
            <a:off x="731520" y="731520"/>
            <a:ext cx="1069848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The 4-Step Deterministic Reachability Engine</a:t>
            </a:r>
            <a:endParaRPr lang="en-US" sz="2400" dirty="0"/>
          </a:p>
        </p:txBody>
      </p:sp>
      <p:sp>
        <p:nvSpPr>
          <p:cNvPr id="4" name="Text 2"/>
          <p:cNvSpPr/>
          <p:nvPr/>
        </p:nvSpPr>
        <p:spPr>
          <a:xfrm>
            <a:off x="731520" y="1298448"/>
            <a:ext cx="10698480" cy="32004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How VibeLens ingests repository code and scanner outputs to produce verified exploit paths in &lt;15ms.</a:t>
            </a:r>
            <a:endParaRPr lang="en-US" sz="1300" dirty="0"/>
          </a:p>
        </p:txBody>
      </p:sp>
      <p:sp>
        <p:nvSpPr>
          <p:cNvPr id="5" name="Text 3"/>
          <p:cNvSpPr/>
          <p:nvPr/>
        </p:nvSpPr>
        <p:spPr>
          <a:xfrm>
            <a:off x="731520" y="6400800"/>
            <a:ext cx="8686800" cy="27432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VIBELENS // INDUSTRIAL SECURITY TELEMETRY</a:t>
            </a:r>
            <a:pPr indent="0" marL="0">
              <a:buNone/>
            </a:pPr>
            <a:r>
              <a:rPr lang="en-US" sz="900" dirty="0">
                <a:solidFill>
                  <a:srgbClr val="71717A"/>
                </a:solidFill>
                <a:latin typeface="Consolas" pitchFamily="34" charset="0"/>
                <a:ea typeface="Consolas" pitchFamily="34" charset="-122"/>
                <a:cs typeface="Consolas" pitchFamily="34" charset="-120"/>
              </a:rPr>
              <a:t>   •   100% LOCAL PRIVACY   •   ZERO CLOUD CODE UPLOADS   •   PURE NATIVE EDITABLE TEXT</a:t>
            </a:r>
            <a:endParaRPr lang="en-US" sz="900" dirty="0"/>
          </a:p>
        </p:txBody>
      </p:sp>
      <p:sp>
        <p:nvSpPr>
          <p:cNvPr id="6" name="Text 4"/>
          <p:cNvSpPr/>
          <p:nvPr/>
        </p:nvSpPr>
        <p:spPr>
          <a:xfrm>
            <a:off x="9601200" y="6400800"/>
            <a:ext cx="1828800" cy="27432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SLIDE 04 / 12</a:t>
            </a:r>
            <a:endParaRPr lang="en-US" sz="900" dirty="0"/>
          </a:p>
        </p:txBody>
      </p:sp>
      <p:sp>
        <p:nvSpPr>
          <p:cNvPr id="7" name="Shape 5"/>
          <p:cNvSpPr/>
          <p:nvPr/>
        </p:nvSpPr>
        <p:spPr>
          <a:xfrm>
            <a:off x="731520" y="1874520"/>
            <a:ext cx="2560320" cy="2971800"/>
          </a:xfrm>
          <a:prstGeom prst="rect">
            <a:avLst/>
          </a:prstGeom>
          <a:solidFill>
            <a:srgbClr val="111115"/>
          </a:solidFill>
          <a:ln w="12700">
            <a:solidFill>
              <a:srgbClr val="27272A"/>
            </a:solidFill>
            <a:prstDash val="solid"/>
          </a:ln>
        </p:spPr>
      </p:sp>
      <p:sp>
        <p:nvSpPr>
          <p:cNvPr id="8" name="Text 6"/>
          <p:cNvSpPr/>
          <p:nvPr/>
        </p:nvSpPr>
        <p:spPr>
          <a:xfrm>
            <a:off x="960120" y="2057400"/>
            <a:ext cx="2103120" cy="22860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STEP 01</a:t>
            </a:r>
            <a:endParaRPr lang="en-US" sz="1000" dirty="0"/>
          </a:p>
        </p:txBody>
      </p:sp>
      <p:sp>
        <p:nvSpPr>
          <p:cNvPr id="9" name="Text 7"/>
          <p:cNvSpPr/>
          <p:nvPr/>
        </p:nvSpPr>
        <p:spPr>
          <a:xfrm>
            <a:off x="960120" y="2286000"/>
            <a:ext cx="2103120" cy="5029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SCAN REPO &amp; SARIF</a:t>
            </a:r>
            <a:endParaRPr lang="en-US" sz="1300" dirty="0"/>
          </a:p>
        </p:txBody>
      </p:sp>
      <p:sp>
        <p:nvSpPr>
          <p:cNvPr id="10" name="Text 8"/>
          <p:cNvSpPr/>
          <p:nvPr/>
        </p:nvSpPr>
        <p:spPr>
          <a:xfrm>
            <a:off x="960120" y="2834640"/>
            <a:ext cx="2103120" cy="132588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Ingests standard scanner output (npm audit JSON or SARIF) to extract target vulnerable symbol fingerprints.</a:t>
            </a:r>
            <a:endParaRPr lang="en-US" sz="1100" dirty="0"/>
          </a:p>
        </p:txBody>
      </p:sp>
      <p:sp>
        <p:nvSpPr>
          <p:cNvPr id="11" name="Text 9"/>
          <p:cNvSpPr/>
          <p:nvPr/>
        </p:nvSpPr>
        <p:spPr>
          <a:xfrm>
            <a:off x="960120" y="4434840"/>
            <a:ext cx="210312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Standard Inputs</a:t>
            </a:r>
            <a:endParaRPr lang="en-US" sz="1000" dirty="0"/>
          </a:p>
        </p:txBody>
      </p:sp>
      <p:sp>
        <p:nvSpPr>
          <p:cNvPr id="12" name="Shape 10"/>
          <p:cNvSpPr/>
          <p:nvPr/>
        </p:nvSpPr>
        <p:spPr>
          <a:xfrm>
            <a:off x="3474720" y="1874520"/>
            <a:ext cx="2560320" cy="2971800"/>
          </a:xfrm>
          <a:prstGeom prst="rect">
            <a:avLst/>
          </a:prstGeom>
          <a:solidFill>
            <a:srgbClr val="111115"/>
          </a:solidFill>
          <a:ln w="12700">
            <a:solidFill>
              <a:srgbClr val="27272A"/>
            </a:solidFill>
            <a:prstDash val="solid"/>
          </a:ln>
        </p:spPr>
      </p:sp>
      <p:sp>
        <p:nvSpPr>
          <p:cNvPr id="13" name="Text 11"/>
          <p:cNvSpPr/>
          <p:nvPr/>
        </p:nvSpPr>
        <p:spPr>
          <a:xfrm>
            <a:off x="3703320" y="2057400"/>
            <a:ext cx="2103120" cy="228600"/>
          </a:xfrm>
          <a:prstGeom prst="rect">
            <a:avLst/>
          </a:prstGeom>
          <a:noFill/>
          <a:ln/>
        </p:spPr>
        <p:txBody>
          <a:bodyPr wrap="square" lIns="0" tIns="0" rIns="0" bIns="0" rtlCol="0" anchor="ctr"/>
          <a:lstStyle/>
          <a:p>
            <a:pPr indent="0" marL="0">
              <a:buNone/>
            </a:pPr>
            <a:r>
              <a:rPr lang="en-US" sz="1000" b="1" dirty="0">
                <a:solidFill>
                  <a:srgbClr val="3B82F6"/>
                </a:solidFill>
                <a:latin typeface="Consolas" pitchFamily="34" charset="0"/>
                <a:ea typeface="Consolas" pitchFamily="34" charset="-122"/>
                <a:cs typeface="Consolas" pitchFamily="34" charset="-120"/>
              </a:rPr>
              <a:t>STEP 02</a:t>
            </a:r>
            <a:endParaRPr lang="en-US" sz="1000" dirty="0"/>
          </a:p>
        </p:txBody>
      </p:sp>
      <p:sp>
        <p:nvSpPr>
          <p:cNvPr id="14" name="Text 12"/>
          <p:cNvSpPr/>
          <p:nvPr/>
        </p:nvSpPr>
        <p:spPr>
          <a:xfrm>
            <a:off x="3703320" y="2286000"/>
            <a:ext cx="2103120" cy="5029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BUILD AST IMPORT GRAPH</a:t>
            </a:r>
            <a:endParaRPr lang="en-US" sz="1300" dirty="0"/>
          </a:p>
        </p:txBody>
      </p:sp>
      <p:sp>
        <p:nvSpPr>
          <p:cNvPr id="15" name="Text 13"/>
          <p:cNvSpPr/>
          <p:nvPr/>
        </p:nvSpPr>
        <p:spPr>
          <a:xfrm>
            <a:off x="3703320" y="2834640"/>
            <a:ext cx="2103120" cy="132588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Local Babel parser &amp; es-module-lexer parses local code on-device, mapping exact imports, exports, and call-sites.</a:t>
            </a:r>
            <a:endParaRPr lang="en-US" sz="1100" dirty="0"/>
          </a:p>
        </p:txBody>
      </p:sp>
      <p:sp>
        <p:nvSpPr>
          <p:cNvPr id="16" name="Text 14"/>
          <p:cNvSpPr/>
          <p:nvPr/>
        </p:nvSpPr>
        <p:spPr>
          <a:xfrm>
            <a:off x="3703320" y="4434840"/>
            <a:ext cx="2103120" cy="274320"/>
          </a:xfrm>
          <a:prstGeom prst="rect">
            <a:avLst/>
          </a:prstGeom>
          <a:noFill/>
          <a:ln/>
        </p:spPr>
        <p:txBody>
          <a:bodyPr wrap="square" lIns="0" tIns="0" rIns="0" bIns="0" rtlCol="0" anchor="ctr"/>
          <a:lstStyle/>
          <a:p>
            <a:pPr indent="0" marL="0">
              <a:buNone/>
            </a:pPr>
            <a:r>
              <a:rPr lang="en-US" sz="1000" b="1" dirty="0">
                <a:solidFill>
                  <a:srgbClr val="3B82F6"/>
                </a:solidFill>
                <a:latin typeface="Consolas" pitchFamily="34" charset="0"/>
                <a:ea typeface="Consolas" pitchFamily="34" charset="-122"/>
                <a:cs typeface="Consolas" pitchFamily="34" charset="-120"/>
              </a:rPr>
              <a:t>&lt;15ms Deterministic</a:t>
            </a:r>
            <a:endParaRPr lang="en-US" sz="1000" dirty="0"/>
          </a:p>
        </p:txBody>
      </p:sp>
      <p:sp>
        <p:nvSpPr>
          <p:cNvPr id="17" name="Shape 15"/>
          <p:cNvSpPr/>
          <p:nvPr/>
        </p:nvSpPr>
        <p:spPr>
          <a:xfrm>
            <a:off x="6217920" y="1874520"/>
            <a:ext cx="2560320" cy="2971800"/>
          </a:xfrm>
          <a:prstGeom prst="rect">
            <a:avLst/>
          </a:prstGeom>
          <a:solidFill>
            <a:srgbClr val="111115"/>
          </a:solidFill>
          <a:ln w="12700">
            <a:solidFill>
              <a:srgbClr val="27272A"/>
            </a:solidFill>
            <a:prstDash val="solid"/>
          </a:ln>
        </p:spPr>
      </p:sp>
      <p:sp>
        <p:nvSpPr>
          <p:cNvPr id="18" name="Text 16"/>
          <p:cNvSpPr/>
          <p:nvPr/>
        </p:nvSpPr>
        <p:spPr>
          <a:xfrm>
            <a:off x="6446520" y="2057400"/>
            <a:ext cx="2103120" cy="228600"/>
          </a:xfrm>
          <a:prstGeom prst="rect">
            <a:avLst/>
          </a:prstGeom>
          <a:noFill/>
          <a:ln/>
        </p:spPr>
        <p:txBody>
          <a:bodyPr wrap="square" lIns="0" tIns="0" rIns="0" bIns="0" rtlCol="0" anchor="ctr"/>
          <a:lstStyle/>
          <a:p>
            <a:pPr indent="0" marL="0">
              <a:buNone/>
            </a:pPr>
            <a:r>
              <a:rPr lang="en-US" sz="1000" b="1" dirty="0">
                <a:solidFill>
                  <a:srgbClr val="F97316"/>
                </a:solidFill>
                <a:latin typeface="Consolas" pitchFamily="34" charset="0"/>
                <a:ea typeface="Consolas" pitchFamily="34" charset="-122"/>
                <a:cs typeface="Consolas" pitchFamily="34" charset="-120"/>
              </a:rPr>
              <a:t>STEP 03</a:t>
            </a:r>
            <a:endParaRPr lang="en-US" sz="1000" dirty="0"/>
          </a:p>
        </p:txBody>
      </p:sp>
      <p:sp>
        <p:nvSpPr>
          <p:cNvPr id="19" name="Text 17"/>
          <p:cNvSpPr/>
          <p:nvPr/>
        </p:nvSpPr>
        <p:spPr>
          <a:xfrm>
            <a:off x="6446520" y="2286000"/>
            <a:ext cx="2103120" cy="5029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TRACE ENTRY POINTS</a:t>
            </a:r>
            <a:endParaRPr lang="en-US" sz="1300" dirty="0"/>
          </a:p>
        </p:txBody>
      </p:sp>
      <p:sp>
        <p:nvSpPr>
          <p:cNvPr id="20" name="Text 18"/>
          <p:cNvSpPr/>
          <p:nvPr/>
        </p:nvSpPr>
        <p:spPr>
          <a:xfrm>
            <a:off x="6446520" y="2834640"/>
            <a:ext cx="2103120" cy="132588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Depth-First Search (DFS) traces paths originating from public entry points (routes, controllers, server actions).</a:t>
            </a:r>
            <a:endParaRPr lang="en-US" sz="1100" dirty="0"/>
          </a:p>
        </p:txBody>
      </p:sp>
      <p:sp>
        <p:nvSpPr>
          <p:cNvPr id="21" name="Text 19"/>
          <p:cNvSpPr/>
          <p:nvPr/>
        </p:nvSpPr>
        <p:spPr>
          <a:xfrm>
            <a:off x="6446520" y="4434840"/>
            <a:ext cx="2103120" cy="274320"/>
          </a:xfrm>
          <a:prstGeom prst="rect">
            <a:avLst/>
          </a:prstGeom>
          <a:noFill/>
          <a:ln/>
        </p:spPr>
        <p:txBody>
          <a:bodyPr wrap="square" lIns="0" tIns="0" rIns="0" bIns="0" rtlCol="0" anchor="ctr"/>
          <a:lstStyle/>
          <a:p>
            <a:pPr indent="0" marL="0">
              <a:buNone/>
            </a:pPr>
            <a:r>
              <a:rPr lang="en-US" sz="1000" b="1" dirty="0">
                <a:solidFill>
                  <a:srgbClr val="F97316"/>
                </a:solidFill>
                <a:latin typeface="Consolas" pitchFamily="34" charset="0"/>
                <a:ea typeface="Consolas" pitchFamily="34" charset="-122"/>
                <a:cs typeface="Consolas" pitchFamily="34" charset="-120"/>
              </a:rPr>
              <a:t>DFS Call-Graph</a:t>
            </a:r>
            <a:endParaRPr lang="en-US" sz="1000" dirty="0"/>
          </a:p>
        </p:txBody>
      </p:sp>
      <p:sp>
        <p:nvSpPr>
          <p:cNvPr id="22" name="Shape 20"/>
          <p:cNvSpPr/>
          <p:nvPr/>
        </p:nvSpPr>
        <p:spPr>
          <a:xfrm>
            <a:off x="8961120" y="1874520"/>
            <a:ext cx="2560320" cy="2971800"/>
          </a:xfrm>
          <a:prstGeom prst="rect">
            <a:avLst/>
          </a:prstGeom>
          <a:solidFill>
            <a:srgbClr val="111115"/>
          </a:solidFill>
          <a:ln w="12700">
            <a:solidFill>
              <a:srgbClr val="27272A"/>
            </a:solidFill>
            <a:prstDash val="solid"/>
          </a:ln>
        </p:spPr>
      </p:sp>
      <p:sp>
        <p:nvSpPr>
          <p:cNvPr id="23" name="Text 21"/>
          <p:cNvSpPr/>
          <p:nvPr/>
        </p:nvSpPr>
        <p:spPr>
          <a:xfrm>
            <a:off x="9189720" y="2057400"/>
            <a:ext cx="2103120" cy="228600"/>
          </a:xfrm>
          <a:prstGeom prst="rect">
            <a:avLst/>
          </a:prstGeom>
          <a:noFill/>
          <a:ln/>
        </p:spPr>
        <p:txBody>
          <a:bodyPr wrap="square" lIns="0" tIns="0" rIns="0" bIns="0"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STEP 04</a:t>
            </a:r>
            <a:endParaRPr lang="en-US" sz="1000" dirty="0"/>
          </a:p>
        </p:txBody>
      </p:sp>
      <p:sp>
        <p:nvSpPr>
          <p:cNvPr id="24" name="Text 22"/>
          <p:cNvSpPr/>
          <p:nvPr/>
        </p:nvSpPr>
        <p:spPr>
          <a:xfrm>
            <a:off x="9189720" y="2286000"/>
            <a:ext cx="2103120" cy="5029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LABEL &amp; PRIORITIZE</a:t>
            </a:r>
            <a:endParaRPr lang="en-US" sz="1300" dirty="0"/>
          </a:p>
        </p:txBody>
      </p:sp>
      <p:sp>
        <p:nvSpPr>
          <p:cNvPr id="25" name="Text 23"/>
          <p:cNvSpPr/>
          <p:nvPr/>
        </p:nvSpPr>
        <p:spPr>
          <a:xfrm>
            <a:off x="9189720" y="2834640"/>
            <a:ext cx="2103120" cy="132588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Classifies each CVE into Reachable (red), Unknown/Dynamic (yellow), or Silenced Phantom (green shield).</a:t>
            </a:r>
            <a:endParaRPr lang="en-US" sz="1100" dirty="0"/>
          </a:p>
        </p:txBody>
      </p:sp>
      <p:sp>
        <p:nvSpPr>
          <p:cNvPr id="26" name="Text 24"/>
          <p:cNvSpPr/>
          <p:nvPr/>
        </p:nvSpPr>
        <p:spPr>
          <a:xfrm>
            <a:off x="9189720" y="4434840"/>
            <a:ext cx="2103120" cy="274320"/>
          </a:xfrm>
          <a:prstGeom prst="rect">
            <a:avLst/>
          </a:prstGeom>
          <a:noFill/>
          <a:ln/>
        </p:spPr>
        <p:txBody>
          <a:bodyPr wrap="square" lIns="0" tIns="0" rIns="0" bIns="0"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88.6% Filtered</a:t>
            </a:r>
            <a:endParaRPr lang="en-US" sz="1000" dirty="0"/>
          </a:p>
        </p:txBody>
      </p:sp>
      <p:sp>
        <p:nvSpPr>
          <p:cNvPr id="27" name="Shape 25"/>
          <p:cNvSpPr/>
          <p:nvPr/>
        </p:nvSpPr>
        <p:spPr>
          <a:xfrm>
            <a:off x="731520" y="5029200"/>
            <a:ext cx="10698480" cy="1143000"/>
          </a:xfrm>
          <a:prstGeom prst="rect">
            <a:avLst/>
          </a:prstGeom>
          <a:solidFill>
            <a:srgbClr val="111115"/>
          </a:solidFill>
          <a:ln w="12700">
            <a:solidFill>
              <a:srgbClr val="06B6D4"/>
            </a:solidFill>
            <a:prstDash val="solid"/>
          </a:ln>
        </p:spPr>
      </p:sp>
      <p:sp>
        <p:nvSpPr>
          <p:cNvPr id="28" name="Text 26"/>
          <p:cNvSpPr/>
          <p:nvPr/>
        </p:nvSpPr>
        <p:spPr>
          <a:xfrm>
            <a:off x="1005840" y="5166360"/>
            <a:ext cx="10058400" cy="18288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INPUT / OUTPUT CONTRACT // 100% OFFLINE EXECUTION</a:t>
            </a:r>
            <a:endParaRPr lang="en-US" sz="1000" dirty="0"/>
          </a:p>
        </p:txBody>
      </p:sp>
      <p:sp>
        <p:nvSpPr>
          <p:cNvPr id="29" name="Text 27"/>
          <p:cNvSpPr/>
          <p:nvPr/>
        </p:nvSpPr>
        <p:spPr>
          <a:xfrm>
            <a:off x="1005840" y="5440680"/>
            <a:ext cx="10058400" cy="594360"/>
          </a:xfrm>
          <a:prstGeom prst="rect">
            <a:avLst/>
          </a:prstGeom>
          <a:noFill/>
          <a:ln/>
        </p:spPr>
        <p:txBody>
          <a:bodyPr wrap="square" lIns="0" tIns="0" rIns="0" bIns="0" rtlCol="0" anchor="ctr"/>
          <a:lstStyle/>
          <a:p>
            <a:pPr indent="0" marL="0">
              <a:buNone/>
            </a:pPr>
            <a:r>
              <a:rPr lang="en-US" sz="1200" dirty="0">
                <a:solidFill>
                  <a:srgbClr val="F4F4F5"/>
                </a:solidFill>
                <a:latin typeface="Consolas" pitchFamily="34" charset="0"/>
                <a:ea typeface="Consolas" pitchFamily="34" charset="-122"/>
                <a:cs typeface="Consolas" pitchFamily="34" charset="-120"/>
              </a:rPr>
              <a:t>INPUTS:  Local Git working tree + standard npm audit / SARIF vulnerability reports.</a:t>
            </a:r>
            <a:endParaRPr lang="en-US" sz="1200" dirty="0"/>
          </a:p>
          <a:p>
            <a:pPr indent="0" marL="0">
              <a:buNone/>
            </a:pPr>
            <a:r>
              <a:rPr lang="en-US" sz="1200" dirty="0">
                <a:solidFill>
                  <a:srgbClr val="F4F4F5"/>
                </a:solidFill>
                <a:latin typeface="Consolas" pitchFamily="34" charset="0"/>
                <a:ea typeface="Consolas" pitchFamily="34" charset="-122"/>
                <a:cs typeface="Consolas" pitchFamily="34" charset="-120"/>
              </a:rPr>
              <a:t>OUTPUTS: Prioritized actionable queue of truly reachable CVEs + illuminated 3D WebGL laser graph + automated zero-slop PR patches.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411480"/>
            <a:ext cx="1069848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[LIVE VERIFICATION // REAL-WORLD CASE STUDY]</a:t>
            </a:r>
            <a:pPr indent="0" marL="0">
              <a:buNone/>
            </a:pPr>
            <a:r>
              <a:rPr lang="en-US" sz="1000" dirty="0">
                <a:solidFill>
                  <a:srgbClr val="71717A"/>
                </a:solidFill>
                <a:latin typeface="Consolas" pitchFamily="34" charset="0"/>
                <a:ea typeface="Consolas" pitchFamily="34" charset="-122"/>
                <a:cs typeface="Consolas" pitchFamily="34" charset="-120"/>
              </a:rPr>
              <a:t> // PRASUNEX 2026 TELEMETRY</a:t>
            </a:r>
            <a:endParaRPr lang="en-US" sz="1000" dirty="0"/>
          </a:p>
        </p:txBody>
      </p:sp>
      <p:sp>
        <p:nvSpPr>
          <p:cNvPr id="3" name="Text 1"/>
          <p:cNvSpPr/>
          <p:nvPr/>
        </p:nvSpPr>
        <p:spPr>
          <a:xfrm>
            <a:off x="731520" y="731520"/>
            <a:ext cx="1069848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Real Vulnerability Traced: Prototype Pollution in 12ms</a:t>
            </a:r>
            <a:endParaRPr lang="en-US" sz="2400" dirty="0"/>
          </a:p>
        </p:txBody>
      </p:sp>
      <p:sp>
        <p:nvSpPr>
          <p:cNvPr id="4" name="Text 2"/>
          <p:cNvSpPr/>
          <p:nvPr/>
        </p:nvSpPr>
        <p:spPr>
          <a:xfrm>
            <a:off x="731520" y="1298448"/>
            <a:ext cx="10698480" cy="32004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How VibeLens proves an actual exploit path and distinguishes it from dormant packages.</a:t>
            </a:r>
            <a:endParaRPr lang="en-US" sz="1300" dirty="0"/>
          </a:p>
        </p:txBody>
      </p:sp>
      <p:sp>
        <p:nvSpPr>
          <p:cNvPr id="5" name="Text 3"/>
          <p:cNvSpPr/>
          <p:nvPr/>
        </p:nvSpPr>
        <p:spPr>
          <a:xfrm>
            <a:off x="731520" y="6400800"/>
            <a:ext cx="8686800" cy="27432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VIBELENS // INDUSTRIAL SECURITY TELEMETRY</a:t>
            </a:r>
            <a:pPr indent="0" marL="0">
              <a:buNone/>
            </a:pPr>
            <a:r>
              <a:rPr lang="en-US" sz="900" dirty="0">
                <a:solidFill>
                  <a:srgbClr val="71717A"/>
                </a:solidFill>
                <a:latin typeface="Consolas" pitchFamily="34" charset="0"/>
                <a:ea typeface="Consolas" pitchFamily="34" charset="-122"/>
                <a:cs typeface="Consolas" pitchFamily="34" charset="-120"/>
              </a:rPr>
              <a:t>   •   100% LOCAL PRIVACY   •   ZERO CLOUD CODE UPLOADS   •   PURE NATIVE EDITABLE TEXT</a:t>
            </a:r>
            <a:endParaRPr lang="en-US" sz="900" dirty="0"/>
          </a:p>
        </p:txBody>
      </p:sp>
      <p:sp>
        <p:nvSpPr>
          <p:cNvPr id="6" name="Text 4"/>
          <p:cNvSpPr/>
          <p:nvPr/>
        </p:nvSpPr>
        <p:spPr>
          <a:xfrm>
            <a:off x="9601200" y="6400800"/>
            <a:ext cx="1828800" cy="27432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SLIDE 05 / 12</a:t>
            </a:r>
            <a:endParaRPr lang="en-US" sz="900" dirty="0"/>
          </a:p>
        </p:txBody>
      </p:sp>
      <p:sp>
        <p:nvSpPr>
          <p:cNvPr id="7" name="Shape 5"/>
          <p:cNvSpPr/>
          <p:nvPr/>
        </p:nvSpPr>
        <p:spPr>
          <a:xfrm>
            <a:off x="731520" y="1874520"/>
            <a:ext cx="5212080" cy="4251960"/>
          </a:xfrm>
          <a:prstGeom prst="rect">
            <a:avLst/>
          </a:prstGeom>
          <a:solidFill>
            <a:srgbClr val="111115"/>
          </a:solidFill>
          <a:ln w="12700">
            <a:solidFill>
              <a:srgbClr val="EF4444"/>
            </a:solidFill>
            <a:prstDash val="solid"/>
          </a:ln>
        </p:spPr>
      </p:sp>
      <p:sp>
        <p:nvSpPr>
          <p:cNvPr id="8" name="Text 6"/>
          <p:cNvSpPr/>
          <p:nvPr/>
        </p:nvSpPr>
        <p:spPr>
          <a:xfrm>
            <a:off x="1005840" y="2103120"/>
            <a:ext cx="4663440" cy="228600"/>
          </a:xfrm>
          <a:prstGeom prst="rect">
            <a:avLst/>
          </a:prstGeom>
          <a:noFill/>
          <a:ln/>
        </p:spPr>
        <p:txBody>
          <a:bodyPr wrap="square" lIns="0" tIns="0" rIns="0" bIns="0" rtlCol="0" anchor="ctr"/>
          <a:lstStyle/>
          <a:p>
            <a:pPr indent="0" marL="0">
              <a:buNone/>
            </a:pPr>
            <a:r>
              <a:rPr lang="en-US" sz="1100" b="1" dirty="0">
                <a:solidFill>
                  <a:srgbClr val="EF4444"/>
                </a:solidFill>
                <a:latin typeface="Consolas" pitchFamily="34" charset="0"/>
                <a:ea typeface="Consolas" pitchFamily="34" charset="-122"/>
                <a:cs typeface="Consolas" pitchFamily="34" charset="-120"/>
              </a:rPr>
              <a:t>VERIFIED EXPLOIT PATH [CVE-2020-8203]</a:t>
            </a:r>
            <a:endParaRPr lang="en-US" sz="1100" dirty="0"/>
          </a:p>
        </p:txBody>
      </p:sp>
      <p:sp>
        <p:nvSpPr>
          <p:cNvPr id="9" name="Text 7"/>
          <p:cNvSpPr/>
          <p:nvPr/>
        </p:nvSpPr>
        <p:spPr>
          <a:xfrm>
            <a:off x="1005840" y="2468880"/>
            <a:ext cx="4663440" cy="22860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[PUBLIC ENTRY POINT]  app/api/checkout/route.ts:L14</a:t>
            </a:r>
            <a:endParaRPr lang="en-US" sz="1100" dirty="0"/>
          </a:p>
        </p:txBody>
      </p:sp>
      <p:sp>
        <p:nvSpPr>
          <p:cNvPr id="10" name="Text 8"/>
          <p:cNvSpPr/>
          <p:nvPr/>
        </p:nvSpPr>
        <p:spPr>
          <a:xfrm>
            <a:off x="1005840" y="2697480"/>
            <a:ext cx="4663440" cy="32004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HTTP POST /api/checkout accepts untrusted JSON payload</a:t>
            </a:r>
            <a:endParaRPr lang="en-US" sz="1000" dirty="0"/>
          </a:p>
        </p:txBody>
      </p:sp>
      <p:sp>
        <p:nvSpPr>
          <p:cNvPr id="11" name="Text 9"/>
          <p:cNvSpPr/>
          <p:nvPr/>
        </p:nvSpPr>
        <p:spPr>
          <a:xfrm>
            <a:off x="1005840" y="3035808"/>
            <a:ext cx="457200" cy="228600"/>
          </a:xfrm>
          <a:prstGeom prst="rect">
            <a:avLst/>
          </a:prstGeom>
          <a:noFill/>
          <a:ln/>
        </p:spPr>
        <p:txBody>
          <a:bodyPr wrap="square" lIns="0" tIns="0" rIns="0" bIns="0" rtlCol="0" anchor="ctr"/>
          <a:lstStyle/>
          <a:p>
            <a:pPr indent="0" marL="0">
              <a:buNone/>
            </a:pPr>
            <a:r>
              <a:rPr lang="en-US" sz="1200" b="1" dirty="0">
                <a:solidFill>
                  <a:srgbClr val="EF4444"/>
                </a:solidFill>
                <a:latin typeface="Consolas" pitchFamily="34" charset="0"/>
                <a:ea typeface="Consolas" pitchFamily="34" charset="-122"/>
                <a:cs typeface="Consolas" pitchFamily="34" charset="-120"/>
              </a:rPr>
              <a:t>↓</a:t>
            </a:r>
            <a:endParaRPr lang="en-US" sz="1200" dirty="0"/>
          </a:p>
        </p:txBody>
      </p:sp>
      <p:sp>
        <p:nvSpPr>
          <p:cNvPr id="12" name="Text 10"/>
          <p:cNvSpPr/>
          <p:nvPr/>
        </p:nvSpPr>
        <p:spPr>
          <a:xfrm>
            <a:off x="1005840" y="3337560"/>
            <a:ext cx="4663440" cy="228600"/>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[APPLICATION CALLER]  src/lib/order/processor.ts:L38</a:t>
            </a:r>
            <a:endParaRPr lang="en-US" sz="1100" dirty="0"/>
          </a:p>
        </p:txBody>
      </p:sp>
      <p:sp>
        <p:nvSpPr>
          <p:cNvPr id="13" name="Text 11"/>
          <p:cNvSpPr/>
          <p:nvPr/>
        </p:nvSpPr>
        <p:spPr>
          <a:xfrm>
            <a:off x="1005840" y="3566160"/>
            <a:ext cx="4663440" cy="32004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processOrder() forwards user payload to deep helper</a:t>
            </a:r>
            <a:endParaRPr lang="en-US" sz="1000" dirty="0"/>
          </a:p>
        </p:txBody>
      </p:sp>
      <p:sp>
        <p:nvSpPr>
          <p:cNvPr id="14" name="Text 12"/>
          <p:cNvSpPr/>
          <p:nvPr/>
        </p:nvSpPr>
        <p:spPr>
          <a:xfrm>
            <a:off x="1005840" y="3904488"/>
            <a:ext cx="457200" cy="228600"/>
          </a:xfrm>
          <a:prstGeom prst="rect">
            <a:avLst/>
          </a:prstGeom>
          <a:noFill/>
          <a:ln/>
        </p:spPr>
        <p:txBody>
          <a:bodyPr wrap="square" lIns="0" tIns="0" rIns="0" bIns="0" rtlCol="0" anchor="ctr"/>
          <a:lstStyle/>
          <a:p>
            <a:pPr indent="0" marL="0">
              <a:buNone/>
            </a:pPr>
            <a:r>
              <a:rPr lang="en-US" sz="1200" b="1" dirty="0">
                <a:solidFill>
                  <a:srgbClr val="EF4444"/>
                </a:solidFill>
                <a:latin typeface="Consolas" pitchFamily="34" charset="0"/>
                <a:ea typeface="Consolas" pitchFamily="34" charset="-122"/>
                <a:cs typeface="Consolas" pitchFamily="34" charset="-120"/>
              </a:rPr>
              <a:t>↓</a:t>
            </a:r>
            <a:endParaRPr lang="en-US" sz="1200" dirty="0"/>
          </a:p>
        </p:txBody>
      </p:sp>
      <p:sp>
        <p:nvSpPr>
          <p:cNvPr id="15" name="Text 13"/>
          <p:cNvSpPr/>
          <p:nvPr/>
        </p:nvSpPr>
        <p:spPr>
          <a:xfrm>
            <a:off x="1005840" y="4206240"/>
            <a:ext cx="4663440" cy="228600"/>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[INTERNAL HELPER]  src/utils/sanitize-merge.ts:L12</a:t>
            </a:r>
            <a:endParaRPr lang="en-US" sz="1100" dirty="0"/>
          </a:p>
        </p:txBody>
      </p:sp>
      <p:sp>
        <p:nvSpPr>
          <p:cNvPr id="16" name="Text 14"/>
          <p:cNvSpPr/>
          <p:nvPr/>
        </p:nvSpPr>
        <p:spPr>
          <a:xfrm>
            <a:off x="1005840" y="4434840"/>
            <a:ext cx="4663440" cy="32004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Invokes lodash.merge() to combine user settings</a:t>
            </a:r>
            <a:endParaRPr lang="en-US" sz="1000" dirty="0"/>
          </a:p>
        </p:txBody>
      </p:sp>
      <p:sp>
        <p:nvSpPr>
          <p:cNvPr id="17" name="Text 15"/>
          <p:cNvSpPr/>
          <p:nvPr/>
        </p:nvSpPr>
        <p:spPr>
          <a:xfrm>
            <a:off x="1005840" y="4773168"/>
            <a:ext cx="457200" cy="228600"/>
          </a:xfrm>
          <a:prstGeom prst="rect">
            <a:avLst/>
          </a:prstGeom>
          <a:noFill/>
          <a:ln/>
        </p:spPr>
        <p:txBody>
          <a:bodyPr wrap="square" lIns="0" tIns="0" rIns="0" bIns="0" rtlCol="0" anchor="ctr"/>
          <a:lstStyle/>
          <a:p>
            <a:pPr indent="0" marL="0">
              <a:buNone/>
            </a:pPr>
            <a:r>
              <a:rPr lang="en-US" sz="1200" b="1" dirty="0">
                <a:solidFill>
                  <a:srgbClr val="EF4444"/>
                </a:solidFill>
                <a:latin typeface="Consolas" pitchFamily="34" charset="0"/>
                <a:ea typeface="Consolas" pitchFamily="34" charset="-122"/>
                <a:cs typeface="Consolas" pitchFamily="34" charset="-120"/>
              </a:rPr>
              <a:t>↓</a:t>
            </a:r>
            <a:endParaRPr lang="en-US" sz="1200" dirty="0"/>
          </a:p>
        </p:txBody>
      </p:sp>
      <p:sp>
        <p:nvSpPr>
          <p:cNvPr id="18" name="Text 16"/>
          <p:cNvSpPr/>
          <p:nvPr/>
        </p:nvSpPr>
        <p:spPr>
          <a:xfrm>
            <a:off x="1005840" y="5074920"/>
            <a:ext cx="4663440" cy="228600"/>
          </a:xfrm>
          <a:prstGeom prst="rect">
            <a:avLst/>
          </a:prstGeom>
          <a:noFill/>
          <a:ln/>
        </p:spPr>
        <p:txBody>
          <a:bodyPr wrap="square" lIns="0" tIns="0" rIns="0" bIns="0" rtlCol="0" anchor="ctr"/>
          <a:lstStyle/>
          <a:p>
            <a:pPr indent="0" marL="0">
              <a:buNone/>
            </a:pPr>
            <a:r>
              <a:rPr lang="en-US" sz="1100" b="1" dirty="0">
                <a:solidFill>
                  <a:srgbClr val="EF4444"/>
                </a:solidFill>
                <a:latin typeface="Consolas" pitchFamily="34" charset="0"/>
                <a:ea typeface="Consolas" pitchFamily="34" charset="-122"/>
                <a:cs typeface="Consolas" pitchFamily="34" charset="-120"/>
              </a:rPr>
              <a:t>[VULNERABLE SINK]  node_modules/lodash/merge.js</a:t>
            </a:r>
            <a:endParaRPr lang="en-US" sz="1100" dirty="0"/>
          </a:p>
        </p:txBody>
      </p:sp>
      <p:sp>
        <p:nvSpPr>
          <p:cNvPr id="19" name="Text 17"/>
          <p:cNvSpPr/>
          <p:nvPr/>
        </p:nvSpPr>
        <p:spPr>
          <a:xfrm>
            <a:off x="1005840" y="5303520"/>
            <a:ext cx="4663440" cy="32004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 CVE-2020-8203: Object Prototype Pollution Exploitable</a:t>
            </a:r>
            <a:endParaRPr lang="en-US" sz="1000" dirty="0"/>
          </a:p>
        </p:txBody>
      </p:sp>
      <p:sp>
        <p:nvSpPr>
          <p:cNvPr id="20" name="Shape 18"/>
          <p:cNvSpPr/>
          <p:nvPr/>
        </p:nvSpPr>
        <p:spPr>
          <a:xfrm>
            <a:off x="6217920" y="1874520"/>
            <a:ext cx="5212080" cy="4251960"/>
          </a:xfrm>
          <a:prstGeom prst="rect">
            <a:avLst/>
          </a:prstGeom>
          <a:solidFill>
            <a:srgbClr val="111115"/>
          </a:solidFill>
          <a:ln w="12700">
            <a:solidFill>
              <a:srgbClr val="27272A"/>
            </a:solidFill>
            <a:prstDash val="solid"/>
          </a:ln>
        </p:spPr>
      </p:sp>
      <p:sp>
        <p:nvSpPr>
          <p:cNvPr id="21" name="Text 19"/>
          <p:cNvSpPr/>
          <p:nvPr/>
        </p:nvSpPr>
        <p:spPr>
          <a:xfrm>
            <a:off x="6492240" y="2103120"/>
            <a:ext cx="4663440" cy="228600"/>
          </a:xfrm>
          <a:prstGeom prst="rect">
            <a:avLst/>
          </a:prstGeom>
          <a:noFill/>
          <a:ln/>
        </p:spPr>
        <p:txBody>
          <a:bodyPr wrap="square" lIns="0" tIns="0" rIns="0" bIns="0" rtlCol="0" anchor="ctr"/>
          <a:lstStyle/>
          <a:p>
            <a:pPr indent="0" marL="0">
              <a:buNone/>
            </a:pPr>
            <a:r>
              <a:rPr lang="en-US" sz="1100" b="1" dirty="0">
                <a:solidFill>
                  <a:srgbClr val="F97316"/>
                </a:solidFill>
                <a:latin typeface="Consolas" pitchFamily="34" charset="0"/>
                <a:ea typeface="Consolas" pitchFamily="34" charset="-122"/>
                <a:cs typeface="Consolas" pitchFamily="34" charset="-120"/>
              </a:rPr>
              <a:t>BLAST RADIUS &amp; SAFE REMEDIATION</a:t>
            </a:r>
            <a:endParaRPr lang="en-US" sz="1100" dirty="0"/>
          </a:p>
        </p:txBody>
      </p:sp>
      <p:sp>
        <p:nvSpPr>
          <p:cNvPr id="22" name="Text 20"/>
          <p:cNvSpPr/>
          <p:nvPr/>
        </p:nvSpPr>
        <p:spPr>
          <a:xfrm>
            <a:off x="6492240" y="2377440"/>
            <a:ext cx="46634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Downstream Impact Analysis</a:t>
            </a:r>
            <a:endParaRPr lang="en-US" sz="1600" dirty="0"/>
          </a:p>
        </p:txBody>
      </p:sp>
      <p:sp>
        <p:nvSpPr>
          <p:cNvPr id="23" name="Text 21"/>
          <p:cNvSpPr/>
          <p:nvPr/>
        </p:nvSpPr>
        <p:spPr>
          <a:xfrm>
            <a:off x="6492240" y="2743200"/>
            <a:ext cx="4663440" cy="54864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Fixing or updating a vulnerable dependency often breaks callers.</a:t>
            </a:r>
            <a:endParaRPr lang="en-US" sz="1200" dirty="0"/>
          </a:p>
          <a:p>
            <a:pPr indent="0" marL="0">
              <a:buNone/>
            </a:pPr>
            <a:r>
              <a:rPr lang="en-US" sz="1200" dirty="0">
                <a:solidFill>
                  <a:srgbClr val="A1A1AA"/>
                </a:solidFill>
                <a:latin typeface="Calibri" pitchFamily="34" charset="0"/>
                <a:ea typeface="Calibri" pitchFamily="34" charset="-122"/>
                <a:cs typeface="Calibri" pitchFamily="34" charset="-120"/>
              </a:rPr>
              <a:t>VibeLens computes the exact Blast Radius before you touch code:</a:t>
            </a:r>
            <a:endParaRPr lang="en-US" sz="1200" dirty="0"/>
          </a:p>
        </p:txBody>
      </p:sp>
      <p:sp>
        <p:nvSpPr>
          <p:cNvPr id="24" name="Shape 22"/>
          <p:cNvSpPr/>
          <p:nvPr/>
        </p:nvSpPr>
        <p:spPr>
          <a:xfrm>
            <a:off x="6492240" y="3383280"/>
            <a:ext cx="2240280" cy="731520"/>
          </a:xfrm>
          <a:prstGeom prst="rect">
            <a:avLst/>
          </a:prstGeom>
          <a:solidFill>
            <a:srgbClr val="18181B"/>
          </a:solidFill>
          <a:ln w="12700">
            <a:solidFill>
              <a:srgbClr val="27272A"/>
            </a:solidFill>
            <a:prstDash val="solid"/>
          </a:ln>
        </p:spPr>
      </p:sp>
      <p:sp>
        <p:nvSpPr>
          <p:cNvPr id="25" name="Text 23"/>
          <p:cNvSpPr/>
          <p:nvPr/>
        </p:nvSpPr>
        <p:spPr>
          <a:xfrm>
            <a:off x="6629400" y="3474720"/>
            <a:ext cx="1965960" cy="18288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DIRECT CALLERS</a:t>
            </a:r>
            <a:endParaRPr lang="en-US" sz="900" dirty="0"/>
          </a:p>
        </p:txBody>
      </p:sp>
      <p:sp>
        <p:nvSpPr>
          <p:cNvPr id="26" name="Text 24"/>
          <p:cNvSpPr/>
          <p:nvPr/>
        </p:nvSpPr>
        <p:spPr>
          <a:xfrm>
            <a:off x="6629400" y="3703320"/>
            <a:ext cx="1965960" cy="320040"/>
          </a:xfrm>
          <a:prstGeom prst="rect">
            <a:avLst/>
          </a:prstGeom>
          <a:noFill/>
          <a:ln/>
        </p:spPr>
        <p:txBody>
          <a:bodyPr wrap="square" lIns="0" tIns="0" rIns="0" bIns="0" rtlCol="0" anchor="ctr"/>
          <a:lstStyle/>
          <a:p>
            <a:pPr indent="0" marL="0">
              <a:buNone/>
            </a:pPr>
            <a:r>
              <a:rPr lang="en-US" sz="1400" b="1" dirty="0">
                <a:solidFill>
                  <a:srgbClr val="F97316"/>
                </a:solidFill>
                <a:latin typeface="Consolas" pitchFamily="34" charset="0"/>
                <a:ea typeface="Consolas" pitchFamily="34" charset="-122"/>
                <a:cs typeface="Consolas" pitchFamily="34" charset="-120"/>
              </a:rPr>
              <a:t>3 Files</a:t>
            </a:r>
            <a:endParaRPr lang="en-US" sz="1400" dirty="0"/>
          </a:p>
        </p:txBody>
      </p:sp>
      <p:sp>
        <p:nvSpPr>
          <p:cNvPr id="27" name="Shape 25"/>
          <p:cNvSpPr/>
          <p:nvPr/>
        </p:nvSpPr>
        <p:spPr>
          <a:xfrm>
            <a:off x="8869680" y="3383280"/>
            <a:ext cx="2240280" cy="731520"/>
          </a:xfrm>
          <a:prstGeom prst="rect">
            <a:avLst/>
          </a:prstGeom>
          <a:solidFill>
            <a:srgbClr val="18181B"/>
          </a:solidFill>
          <a:ln w="12700">
            <a:solidFill>
              <a:srgbClr val="27272A"/>
            </a:solidFill>
            <a:prstDash val="solid"/>
          </a:ln>
        </p:spPr>
      </p:sp>
      <p:sp>
        <p:nvSpPr>
          <p:cNvPr id="28" name="Text 26"/>
          <p:cNvSpPr/>
          <p:nvPr/>
        </p:nvSpPr>
        <p:spPr>
          <a:xfrm>
            <a:off x="9006840" y="3474720"/>
            <a:ext cx="1965960" cy="18288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TRANSITIVE NODES</a:t>
            </a:r>
            <a:endParaRPr lang="en-US" sz="900" dirty="0"/>
          </a:p>
        </p:txBody>
      </p:sp>
      <p:sp>
        <p:nvSpPr>
          <p:cNvPr id="29" name="Text 27"/>
          <p:cNvSpPr/>
          <p:nvPr/>
        </p:nvSpPr>
        <p:spPr>
          <a:xfrm>
            <a:off x="9006840" y="3703320"/>
            <a:ext cx="1965960" cy="32004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7 Files</a:t>
            </a:r>
            <a:endParaRPr lang="en-US" sz="1400" dirty="0"/>
          </a:p>
        </p:txBody>
      </p:sp>
      <p:sp>
        <p:nvSpPr>
          <p:cNvPr id="30" name="Shape 28"/>
          <p:cNvSpPr/>
          <p:nvPr/>
        </p:nvSpPr>
        <p:spPr>
          <a:xfrm>
            <a:off x="6492240" y="4251960"/>
            <a:ext cx="2240280" cy="731520"/>
          </a:xfrm>
          <a:prstGeom prst="rect">
            <a:avLst/>
          </a:prstGeom>
          <a:solidFill>
            <a:srgbClr val="18181B"/>
          </a:solidFill>
          <a:ln w="12700">
            <a:solidFill>
              <a:srgbClr val="27272A"/>
            </a:solidFill>
            <a:prstDash val="solid"/>
          </a:ln>
        </p:spPr>
      </p:sp>
      <p:sp>
        <p:nvSpPr>
          <p:cNvPr id="31" name="Text 29"/>
          <p:cNvSpPr/>
          <p:nvPr/>
        </p:nvSpPr>
        <p:spPr>
          <a:xfrm>
            <a:off x="6629400" y="4343400"/>
            <a:ext cx="1965960" cy="18288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BREAKING RISK</a:t>
            </a:r>
            <a:endParaRPr lang="en-US" sz="900" dirty="0"/>
          </a:p>
        </p:txBody>
      </p:sp>
      <p:sp>
        <p:nvSpPr>
          <p:cNvPr id="32" name="Text 30"/>
          <p:cNvSpPr/>
          <p:nvPr/>
        </p:nvSpPr>
        <p:spPr>
          <a:xfrm>
            <a:off x="6629400" y="4572000"/>
            <a:ext cx="1965960" cy="320040"/>
          </a:xfrm>
          <a:prstGeom prst="rect">
            <a:avLst/>
          </a:prstGeom>
          <a:noFill/>
          <a:ln/>
        </p:spPr>
        <p:txBody>
          <a:bodyPr wrap="square" lIns="0" tIns="0" rIns="0" bIns="0"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MODERATE</a:t>
            </a:r>
            <a:endParaRPr lang="en-US" sz="1400" dirty="0"/>
          </a:p>
        </p:txBody>
      </p:sp>
      <p:sp>
        <p:nvSpPr>
          <p:cNvPr id="33" name="Shape 31"/>
          <p:cNvSpPr/>
          <p:nvPr/>
        </p:nvSpPr>
        <p:spPr>
          <a:xfrm>
            <a:off x="8869680" y="4251960"/>
            <a:ext cx="2240280" cy="731520"/>
          </a:xfrm>
          <a:prstGeom prst="rect">
            <a:avLst/>
          </a:prstGeom>
          <a:solidFill>
            <a:srgbClr val="18181B"/>
          </a:solidFill>
          <a:ln w="12700">
            <a:solidFill>
              <a:srgbClr val="27272A"/>
            </a:solidFill>
            <a:prstDash val="solid"/>
          </a:ln>
        </p:spPr>
      </p:sp>
      <p:sp>
        <p:nvSpPr>
          <p:cNvPr id="34" name="Text 32"/>
          <p:cNvSpPr/>
          <p:nvPr/>
        </p:nvSpPr>
        <p:spPr>
          <a:xfrm>
            <a:off x="9006840" y="4343400"/>
            <a:ext cx="1965960" cy="18288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LOCAL TEST GATE</a:t>
            </a:r>
            <a:endParaRPr lang="en-US" sz="900" dirty="0"/>
          </a:p>
        </p:txBody>
      </p:sp>
      <p:sp>
        <p:nvSpPr>
          <p:cNvPr id="35" name="Text 33"/>
          <p:cNvSpPr/>
          <p:nvPr/>
        </p:nvSpPr>
        <p:spPr>
          <a:xfrm>
            <a:off x="9006840" y="4572000"/>
            <a:ext cx="1965960" cy="320040"/>
          </a:xfrm>
          <a:prstGeom prst="rect">
            <a:avLst/>
          </a:prstGeom>
          <a:noFill/>
          <a:ln/>
        </p:spPr>
        <p:txBody>
          <a:bodyPr wrap="square" lIns="0" tIns="0" rIns="0" bIns="0" rtlCol="0" anchor="ctr"/>
          <a:lstStyle/>
          <a:p>
            <a:pPr indent="0" marL="0">
              <a:buNone/>
            </a:pPr>
            <a:r>
              <a:rPr lang="en-US" sz="1400" b="1" dirty="0">
                <a:solidFill>
                  <a:srgbClr val="10B981"/>
                </a:solidFill>
                <a:latin typeface="Consolas" pitchFamily="34" charset="0"/>
                <a:ea typeface="Consolas" pitchFamily="34" charset="-122"/>
                <a:cs typeface="Consolas" pitchFamily="34" charset="-120"/>
              </a:rPr>
              <a:t>18/18 PASS</a:t>
            </a:r>
            <a:endParaRPr lang="en-US" sz="1400" dirty="0"/>
          </a:p>
        </p:txBody>
      </p:sp>
      <p:sp>
        <p:nvSpPr>
          <p:cNvPr id="36" name="Shape 34"/>
          <p:cNvSpPr/>
          <p:nvPr/>
        </p:nvSpPr>
        <p:spPr>
          <a:xfrm>
            <a:off x="6492240" y="5303520"/>
            <a:ext cx="4663440" cy="685800"/>
          </a:xfrm>
          <a:prstGeom prst="rect">
            <a:avLst/>
          </a:prstGeom>
          <a:solidFill>
            <a:srgbClr val="111115"/>
          </a:solidFill>
          <a:ln w="12700">
            <a:solidFill>
              <a:srgbClr val="10B981"/>
            </a:solidFill>
            <a:prstDash val="solid"/>
          </a:ln>
        </p:spPr>
      </p:sp>
      <p:sp>
        <p:nvSpPr>
          <p:cNvPr id="37" name="Text 35"/>
          <p:cNvSpPr/>
          <p:nvPr/>
        </p:nvSpPr>
        <p:spPr>
          <a:xfrm>
            <a:off x="6629400" y="5394960"/>
            <a:ext cx="4389120" cy="182880"/>
          </a:xfrm>
          <a:prstGeom prst="rect">
            <a:avLst/>
          </a:prstGeom>
          <a:noFill/>
          <a:ln/>
        </p:spPr>
        <p:txBody>
          <a:bodyPr wrap="square" lIns="0" tIns="0" rIns="0" bIns="0"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1-CLICK AUTOMATED FIX: Replace lodash.merge with structuredClone()</a:t>
            </a:r>
            <a:endParaRPr lang="en-US" sz="1000" dirty="0"/>
          </a:p>
        </p:txBody>
      </p:sp>
      <p:sp>
        <p:nvSpPr>
          <p:cNvPr id="38" name="Text 36"/>
          <p:cNvSpPr/>
          <p:nvPr/>
        </p:nvSpPr>
        <p:spPr>
          <a:xfrm>
            <a:off x="6629400" y="5623560"/>
            <a:ext cx="4389120" cy="27432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Removes vulnerable package entirely with 0 breaking API changes.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411480"/>
            <a:ext cx="1069848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[SPATIAL TELEMETRY // 3D COCKPIT]</a:t>
            </a:r>
            <a:pPr indent="0" marL="0">
              <a:buNone/>
            </a:pPr>
            <a:r>
              <a:rPr lang="en-US" sz="1000" dirty="0">
                <a:solidFill>
                  <a:srgbClr val="71717A"/>
                </a:solidFill>
                <a:latin typeface="Consolas" pitchFamily="34" charset="0"/>
                <a:ea typeface="Consolas" pitchFamily="34" charset="-122"/>
                <a:cs typeface="Consolas" pitchFamily="34" charset="-120"/>
              </a:rPr>
              <a:t> // PRASUNEX 2026 TELEMETRY</a:t>
            </a:r>
            <a:endParaRPr lang="en-US" sz="1000" dirty="0"/>
          </a:p>
        </p:txBody>
      </p:sp>
      <p:sp>
        <p:nvSpPr>
          <p:cNvPr id="3" name="Text 1"/>
          <p:cNvSpPr/>
          <p:nvPr/>
        </p:nvSpPr>
        <p:spPr>
          <a:xfrm>
            <a:off x="731520" y="731520"/>
            <a:ext cx="1069848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The 3D Codebase X-Ray: Spatial Architecture at 120 FPS</a:t>
            </a:r>
            <a:endParaRPr lang="en-US" sz="2400" dirty="0"/>
          </a:p>
        </p:txBody>
      </p:sp>
      <p:sp>
        <p:nvSpPr>
          <p:cNvPr id="4" name="Text 2"/>
          <p:cNvSpPr/>
          <p:nvPr/>
        </p:nvSpPr>
        <p:spPr>
          <a:xfrm>
            <a:off x="731520" y="1298448"/>
            <a:ext cx="10698480" cy="32004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Replacing dead tabular spreadsheets with a living, interactive WebGL software city.</a:t>
            </a:r>
            <a:endParaRPr lang="en-US" sz="1300" dirty="0"/>
          </a:p>
        </p:txBody>
      </p:sp>
      <p:sp>
        <p:nvSpPr>
          <p:cNvPr id="5" name="Text 3"/>
          <p:cNvSpPr/>
          <p:nvPr/>
        </p:nvSpPr>
        <p:spPr>
          <a:xfrm>
            <a:off x="731520" y="6400800"/>
            <a:ext cx="8686800" cy="27432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VIBELENS // INDUSTRIAL SECURITY TELEMETRY</a:t>
            </a:r>
            <a:pPr indent="0" marL="0">
              <a:buNone/>
            </a:pPr>
            <a:r>
              <a:rPr lang="en-US" sz="900" dirty="0">
                <a:solidFill>
                  <a:srgbClr val="71717A"/>
                </a:solidFill>
                <a:latin typeface="Consolas" pitchFamily="34" charset="0"/>
                <a:ea typeface="Consolas" pitchFamily="34" charset="-122"/>
                <a:cs typeface="Consolas" pitchFamily="34" charset="-120"/>
              </a:rPr>
              <a:t>   •   100% LOCAL PRIVACY   •   ZERO CLOUD CODE UPLOADS   •   PURE NATIVE EDITABLE TEXT</a:t>
            </a:r>
            <a:endParaRPr lang="en-US" sz="900" dirty="0"/>
          </a:p>
        </p:txBody>
      </p:sp>
      <p:sp>
        <p:nvSpPr>
          <p:cNvPr id="6" name="Text 4"/>
          <p:cNvSpPr/>
          <p:nvPr/>
        </p:nvSpPr>
        <p:spPr>
          <a:xfrm>
            <a:off x="9601200" y="6400800"/>
            <a:ext cx="1828800" cy="27432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SLIDE 06 / 12</a:t>
            </a:r>
            <a:endParaRPr lang="en-US" sz="900" dirty="0"/>
          </a:p>
        </p:txBody>
      </p:sp>
      <p:sp>
        <p:nvSpPr>
          <p:cNvPr id="7" name="Shape 5"/>
          <p:cNvSpPr/>
          <p:nvPr/>
        </p:nvSpPr>
        <p:spPr>
          <a:xfrm>
            <a:off x="731520" y="1874520"/>
            <a:ext cx="6217920" cy="4251960"/>
          </a:xfrm>
          <a:prstGeom prst="rect">
            <a:avLst/>
          </a:prstGeom>
          <a:solidFill>
            <a:srgbClr val="060608"/>
          </a:solidFill>
          <a:ln w="12700">
            <a:solidFill>
              <a:srgbClr val="27272A"/>
            </a:solidFill>
            <a:prstDash val="solid"/>
          </a:ln>
        </p:spPr>
      </p:sp>
      <p:sp>
        <p:nvSpPr>
          <p:cNvPr id="8" name="Text 6"/>
          <p:cNvSpPr/>
          <p:nvPr/>
        </p:nvSpPr>
        <p:spPr>
          <a:xfrm>
            <a:off x="914400" y="2011680"/>
            <a:ext cx="4114800" cy="18288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[+000, +000] // SECTOR-00 // 3D WEBGL GRAPH HUD</a:t>
            </a:r>
            <a:endParaRPr lang="en-US" sz="900" dirty="0"/>
          </a:p>
        </p:txBody>
      </p:sp>
      <p:sp>
        <p:nvSpPr>
          <p:cNvPr id="9" name="Text 7"/>
          <p:cNvSpPr/>
          <p:nvPr/>
        </p:nvSpPr>
        <p:spPr>
          <a:xfrm>
            <a:off x="4206240" y="2011680"/>
            <a:ext cx="2560320" cy="18288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[GRID: BLR // 12.9716° N, 77.5946° E]</a:t>
            </a:r>
            <a:endParaRPr lang="en-US" sz="900" dirty="0"/>
          </a:p>
        </p:txBody>
      </p:sp>
      <p:sp>
        <p:nvSpPr>
          <p:cNvPr id="10" name="Shape 8"/>
          <p:cNvSpPr/>
          <p:nvPr/>
        </p:nvSpPr>
        <p:spPr>
          <a:xfrm>
            <a:off x="1097280" y="2468880"/>
            <a:ext cx="2377440" cy="777240"/>
          </a:xfrm>
          <a:prstGeom prst="rect">
            <a:avLst/>
          </a:prstGeom>
          <a:solidFill>
            <a:srgbClr val="111115"/>
          </a:solidFill>
          <a:ln w="19050">
            <a:solidFill>
              <a:srgbClr val="06B6D4"/>
            </a:solidFill>
            <a:prstDash val="solid"/>
          </a:ln>
        </p:spPr>
      </p:sp>
      <p:sp>
        <p:nvSpPr>
          <p:cNvPr id="11" name="Text 9"/>
          <p:cNvSpPr/>
          <p:nvPr/>
        </p:nvSpPr>
        <p:spPr>
          <a:xfrm>
            <a:off x="1234440" y="2542032"/>
            <a:ext cx="2103120" cy="164592"/>
          </a:xfrm>
          <a:prstGeom prst="rect">
            <a:avLst/>
          </a:prstGeom>
          <a:noFill/>
          <a:ln/>
        </p:spPr>
        <p:txBody>
          <a:bodyPr wrap="square" lIns="0" tIns="0" rIns="0" bIns="0" rtlCol="0" anchor="ctr"/>
          <a:lstStyle/>
          <a:p>
            <a:pPr indent="0" marL="0">
              <a:buNone/>
            </a:pPr>
            <a:r>
              <a:rPr lang="en-US" sz="800" b="1" dirty="0">
                <a:solidFill>
                  <a:srgbClr val="06B6D4"/>
                </a:solidFill>
                <a:latin typeface="Consolas" pitchFamily="34" charset="0"/>
                <a:ea typeface="Consolas" pitchFamily="34" charset="-122"/>
                <a:cs typeface="Consolas" pitchFamily="34" charset="-120"/>
              </a:rPr>
              <a:t>ENTRY ROUTE</a:t>
            </a:r>
            <a:endParaRPr lang="en-US" sz="800" dirty="0"/>
          </a:p>
        </p:txBody>
      </p:sp>
      <p:sp>
        <p:nvSpPr>
          <p:cNvPr id="12" name="Text 10"/>
          <p:cNvSpPr/>
          <p:nvPr/>
        </p:nvSpPr>
        <p:spPr>
          <a:xfrm>
            <a:off x="1234440" y="2724912"/>
            <a:ext cx="2103120" cy="256032"/>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app/api/checkout/route.ts</a:t>
            </a:r>
            <a:endParaRPr lang="en-US" sz="1000" dirty="0"/>
          </a:p>
        </p:txBody>
      </p:sp>
      <p:sp>
        <p:nvSpPr>
          <p:cNvPr id="13" name="Text 11"/>
          <p:cNvSpPr/>
          <p:nvPr/>
        </p:nvSpPr>
        <p:spPr>
          <a:xfrm>
            <a:off x="1234440" y="2980944"/>
            <a:ext cx="2103120" cy="182880"/>
          </a:xfrm>
          <a:prstGeom prst="rect">
            <a:avLst/>
          </a:prstGeom>
          <a:noFill/>
          <a:ln/>
        </p:spPr>
        <p:txBody>
          <a:bodyPr wrap="square" lIns="0" tIns="0" rIns="0" bIns="0" rtlCol="0" anchor="ctr"/>
          <a:lstStyle/>
          <a:p>
            <a:pPr indent="0" marL="0">
              <a:buNone/>
            </a:pPr>
            <a:r>
              <a:rPr lang="en-US" sz="800" dirty="0">
                <a:solidFill>
                  <a:srgbClr val="A1A1AA"/>
                </a:solidFill>
                <a:latin typeface="Consolas" pitchFamily="34" charset="0"/>
                <a:ea typeface="Consolas" pitchFamily="34" charset="-122"/>
                <a:cs typeface="Consolas" pitchFamily="34" charset="-120"/>
              </a:rPr>
              <a:t>LOC: 142 • STATUS: REACHABLE SINK</a:t>
            </a:r>
            <a:endParaRPr lang="en-US" sz="800" dirty="0"/>
          </a:p>
        </p:txBody>
      </p:sp>
      <p:sp>
        <p:nvSpPr>
          <p:cNvPr id="14" name="Shape 12"/>
          <p:cNvSpPr/>
          <p:nvPr/>
        </p:nvSpPr>
        <p:spPr>
          <a:xfrm>
            <a:off x="4023360" y="2468880"/>
            <a:ext cx="2560320" cy="777240"/>
          </a:xfrm>
          <a:prstGeom prst="rect">
            <a:avLst/>
          </a:prstGeom>
          <a:solidFill>
            <a:srgbClr val="111115"/>
          </a:solidFill>
          <a:ln w="19050">
            <a:solidFill>
              <a:srgbClr val="F97316"/>
            </a:solidFill>
            <a:prstDash val="solid"/>
          </a:ln>
        </p:spPr>
      </p:sp>
      <p:sp>
        <p:nvSpPr>
          <p:cNvPr id="15" name="Text 13"/>
          <p:cNvSpPr/>
          <p:nvPr/>
        </p:nvSpPr>
        <p:spPr>
          <a:xfrm>
            <a:off x="4160520" y="2542032"/>
            <a:ext cx="2286000" cy="164592"/>
          </a:xfrm>
          <a:prstGeom prst="rect">
            <a:avLst/>
          </a:prstGeom>
          <a:noFill/>
          <a:ln/>
        </p:spPr>
        <p:txBody>
          <a:bodyPr wrap="square" lIns="0" tIns="0" rIns="0" bIns="0" rtlCol="0" anchor="ctr"/>
          <a:lstStyle/>
          <a:p>
            <a:pPr indent="0" marL="0">
              <a:buNone/>
            </a:pPr>
            <a:r>
              <a:rPr lang="en-US" sz="800" b="1" dirty="0">
                <a:solidFill>
                  <a:srgbClr val="F97316"/>
                </a:solidFill>
                <a:latin typeface="Consolas" pitchFamily="34" charset="0"/>
                <a:ea typeface="Consolas" pitchFamily="34" charset="-122"/>
                <a:cs typeface="Consolas" pitchFamily="34" charset="-120"/>
              </a:rPr>
              <a:t>CALLER HELPER</a:t>
            </a:r>
            <a:endParaRPr lang="en-US" sz="800" dirty="0"/>
          </a:p>
        </p:txBody>
      </p:sp>
      <p:sp>
        <p:nvSpPr>
          <p:cNvPr id="16" name="Text 14"/>
          <p:cNvSpPr/>
          <p:nvPr/>
        </p:nvSpPr>
        <p:spPr>
          <a:xfrm>
            <a:off x="4160520" y="2724912"/>
            <a:ext cx="2286000" cy="256032"/>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src/lib/order/processor.ts</a:t>
            </a:r>
            <a:endParaRPr lang="en-US" sz="1000" dirty="0"/>
          </a:p>
        </p:txBody>
      </p:sp>
      <p:sp>
        <p:nvSpPr>
          <p:cNvPr id="17" name="Text 15"/>
          <p:cNvSpPr/>
          <p:nvPr/>
        </p:nvSpPr>
        <p:spPr>
          <a:xfrm>
            <a:off x="4160520" y="2980944"/>
            <a:ext cx="2286000" cy="182880"/>
          </a:xfrm>
          <a:prstGeom prst="rect">
            <a:avLst/>
          </a:prstGeom>
          <a:noFill/>
          <a:ln/>
        </p:spPr>
        <p:txBody>
          <a:bodyPr wrap="square" lIns="0" tIns="0" rIns="0" bIns="0" rtlCol="0" anchor="ctr"/>
          <a:lstStyle/>
          <a:p>
            <a:pPr indent="0" marL="0">
              <a:buNone/>
            </a:pPr>
            <a:r>
              <a:rPr lang="en-US" sz="800" dirty="0">
                <a:solidFill>
                  <a:srgbClr val="A1A1AA"/>
                </a:solidFill>
                <a:latin typeface="Consolas" pitchFamily="34" charset="0"/>
                <a:ea typeface="Consolas" pitchFamily="34" charset="-122"/>
                <a:cs typeface="Consolas" pitchFamily="34" charset="-120"/>
              </a:rPr>
              <a:t>LOC: 88 • CALLERS: 3 DIRECT</a:t>
            </a:r>
            <a:endParaRPr lang="en-US" sz="800" dirty="0"/>
          </a:p>
        </p:txBody>
      </p:sp>
      <p:sp>
        <p:nvSpPr>
          <p:cNvPr id="18" name="Shape 16"/>
          <p:cNvSpPr/>
          <p:nvPr/>
        </p:nvSpPr>
        <p:spPr>
          <a:xfrm>
            <a:off x="4023360" y="3657600"/>
            <a:ext cx="2560320" cy="777240"/>
          </a:xfrm>
          <a:prstGeom prst="rect">
            <a:avLst/>
          </a:prstGeom>
          <a:solidFill>
            <a:srgbClr val="1F1215"/>
          </a:solidFill>
          <a:ln w="19050">
            <a:solidFill>
              <a:srgbClr val="EF4444"/>
            </a:solidFill>
            <a:prstDash val="solid"/>
          </a:ln>
        </p:spPr>
      </p:sp>
      <p:sp>
        <p:nvSpPr>
          <p:cNvPr id="19" name="Text 17"/>
          <p:cNvSpPr/>
          <p:nvPr/>
        </p:nvSpPr>
        <p:spPr>
          <a:xfrm>
            <a:off x="4160520" y="3730752"/>
            <a:ext cx="2286000" cy="164592"/>
          </a:xfrm>
          <a:prstGeom prst="rect">
            <a:avLst/>
          </a:prstGeom>
          <a:noFill/>
          <a:ln/>
        </p:spPr>
        <p:txBody>
          <a:bodyPr wrap="square" lIns="0" tIns="0" rIns="0" bIns="0" rtlCol="0" anchor="ctr"/>
          <a:lstStyle/>
          <a:p>
            <a:pPr indent="0" marL="0">
              <a:buNone/>
            </a:pPr>
            <a:r>
              <a:rPr lang="en-US" sz="800" b="1" dirty="0">
                <a:solidFill>
                  <a:srgbClr val="EF4444"/>
                </a:solidFill>
                <a:latin typeface="Consolas" pitchFamily="34" charset="0"/>
                <a:ea typeface="Consolas" pitchFamily="34" charset="-122"/>
                <a:cs typeface="Consolas" pitchFamily="34" charset="-120"/>
              </a:rPr>
              <a:t>TARGET SINK (REACHABLE)</a:t>
            </a:r>
            <a:endParaRPr lang="en-US" sz="800" dirty="0"/>
          </a:p>
        </p:txBody>
      </p:sp>
      <p:sp>
        <p:nvSpPr>
          <p:cNvPr id="20" name="Text 18"/>
          <p:cNvSpPr/>
          <p:nvPr/>
        </p:nvSpPr>
        <p:spPr>
          <a:xfrm>
            <a:off x="4160520" y="3913632"/>
            <a:ext cx="2286000" cy="256032"/>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lodash.merge [CVE-2020-8203]</a:t>
            </a:r>
            <a:endParaRPr lang="en-US" sz="1000" dirty="0"/>
          </a:p>
        </p:txBody>
      </p:sp>
      <p:sp>
        <p:nvSpPr>
          <p:cNvPr id="21" name="Text 19"/>
          <p:cNvSpPr/>
          <p:nvPr/>
        </p:nvSpPr>
        <p:spPr>
          <a:xfrm>
            <a:off x="4160520" y="4169664"/>
            <a:ext cx="2286000" cy="182880"/>
          </a:xfrm>
          <a:prstGeom prst="rect">
            <a:avLst/>
          </a:prstGeom>
          <a:noFill/>
          <a:ln/>
        </p:spPr>
        <p:txBody>
          <a:bodyPr wrap="square" lIns="0" tIns="0" rIns="0" bIns="0" rtlCol="0" anchor="ctr"/>
          <a:lstStyle/>
          <a:p>
            <a:pPr indent="0" marL="0">
              <a:buNone/>
            </a:pPr>
            <a:r>
              <a:rPr lang="en-US" sz="800" dirty="0">
                <a:solidFill>
                  <a:srgbClr val="A1A1AA"/>
                </a:solidFill>
                <a:latin typeface="Consolas" pitchFamily="34" charset="0"/>
                <a:ea typeface="Consolas" pitchFamily="34" charset="-122"/>
                <a:cs typeface="Consolas" pitchFamily="34" charset="-120"/>
              </a:rPr>
              <a:t>🚨 EXPLOIT PATH CONFIRMED</a:t>
            </a:r>
            <a:endParaRPr lang="en-US" sz="800" dirty="0"/>
          </a:p>
        </p:txBody>
      </p:sp>
      <p:sp>
        <p:nvSpPr>
          <p:cNvPr id="22" name="Shape 20"/>
          <p:cNvSpPr/>
          <p:nvPr/>
        </p:nvSpPr>
        <p:spPr>
          <a:xfrm>
            <a:off x="1097280" y="3657600"/>
            <a:ext cx="2377440" cy="777240"/>
          </a:xfrm>
          <a:prstGeom prst="rect">
            <a:avLst/>
          </a:prstGeom>
          <a:solidFill>
            <a:srgbClr val="0F1914"/>
          </a:solidFill>
          <a:ln w="19050">
            <a:solidFill>
              <a:srgbClr val="10B981"/>
            </a:solidFill>
            <a:prstDash val="solid"/>
          </a:ln>
        </p:spPr>
      </p:sp>
      <p:sp>
        <p:nvSpPr>
          <p:cNvPr id="23" name="Text 21"/>
          <p:cNvSpPr/>
          <p:nvPr/>
        </p:nvSpPr>
        <p:spPr>
          <a:xfrm>
            <a:off x="1234440" y="3730752"/>
            <a:ext cx="2103120" cy="164592"/>
          </a:xfrm>
          <a:prstGeom prst="rect">
            <a:avLst/>
          </a:prstGeom>
          <a:noFill/>
          <a:ln/>
        </p:spPr>
        <p:txBody>
          <a:bodyPr wrap="square" lIns="0" tIns="0" rIns="0" bIns="0" rtlCol="0" anchor="ctr"/>
          <a:lstStyle/>
          <a:p>
            <a:pPr indent="0" marL="0">
              <a:buNone/>
            </a:pPr>
            <a:r>
              <a:rPr lang="en-US" sz="800" b="1" dirty="0">
                <a:solidFill>
                  <a:srgbClr val="10B981"/>
                </a:solidFill>
                <a:latin typeface="Consolas" pitchFamily="34" charset="0"/>
                <a:ea typeface="Consolas" pitchFamily="34" charset="-122"/>
                <a:cs typeface="Consolas" pitchFamily="34" charset="-120"/>
              </a:rPr>
              <a:t>PHANTOM SHIELD</a:t>
            </a:r>
            <a:endParaRPr lang="en-US" sz="800" dirty="0"/>
          </a:p>
        </p:txBody>
      </p:sp>
      <p:sp>
        <p:nvSpPr>
          <p:cNvPr id="24" name="Text 22"/>
          <p:cNvSpPr/>
          <p:nvPr/>
        </p:nvSpPr>
        <p:spPr>
          <a:xfrm>
            <a:off x="1234440" y="3913632"/>
            <a:ext cx="2103120" cy="256032"/>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node_modules/jsonwebtoken</a:t>
            </a:r>
            <a:endParaRPr lang="en-US" sz="1000" dirty="0"/>
          </a:p>
        </p:txBody>
      </p:sp>
      <p:sp>
        <p:nvSpPr>
          <p:cNvPr id="25" name="Text 23"/>
          <p:cNvSpPr/>
          <p:nvPr/>
        </p:nvSpPr>
        <p:spPr>
          <a:xfrm>
            <a:off x="1234440" y="4169664"/>
            <a:ext cx="2103120" cy="182880"/>
          </a:xfrm>
          <a:prstGeom prst="rect">
            <a:avLst/>
          </a:prstGeom>
          <a:noFill/>
          <a:ln/>
        </p:spPr>
        <p:txBody>
          <a:bodyPr wrap="square" lIns="0" tIns="0" rIns="0" bIns="0" rtlCol="0" anchor="ctr"/>
          <a:lstStyle/>
          <a:p>
            <a:pPr indent="0" marL="0">
              <a:buNone/>
            </a:pPr>
            <a:r>
              <a:rPr lang="en-US" sz="800" dirty="0">
                <a:solidFill>
                  <a:srgbClr val="A1A1AA"/>
                </a:solidFill>
                <a:latin typeface="Consolas" pitchFamily="34" charset="0"/>
                <a:ea typeface="Consolas" pitchFamily="34" charset="-122"/>
                <a:cs typeface="Consolas" pitchFamily="34" charset="-120"/>
              </a:rPr>
              <a:t>🛡️ UNCALLED // 88.6% SILENCED</a:t>
            </a:r>
            <a:endParaRPr lang="en-US" sz="800" dirty="0"/>
          </a:p>
        </p:txBody>
      </p:sp>
      <p:sp>
        <p:nvSpPr>
          <p:cNvPr id="26" name="Shape 24"/>
          <p:cNvSpPr/>
          <p:nvPr/>
        </p:nvSpPr>
        <p:spPr>
          <a:xfrm>
            <a:off x="1097280" y="4846320"/>
            <a:ext cx="2377440" cy="777240"/>
          </a:xfrm>
          <a:prstGeom prst="rect">
            <a:avLst/>
          </a:prstGeom>
          <a:solidFill>
            <a:srgbClr val="1C170E"/>
          </a:solidFill>
          <a:ln w="19050">
            <a:solidFill>
              <a:srgbClr val="F59E0B"/>
            </a:solidFill>
            <a:prstDash val="solid"/>
          </a:ln>
        </p:spPr>
      </p:sp>
      <p:sp>
        <p:nvSpPr>
          <p:cNvPr id="27" name="Text 25"/>
          <p:cNvSpPr/>
          <p:nvPr/>
        </p:nvSpPr>
        <p:spPr>
          <a:xfrm>
            <a:off x="1234440" y="4919472"/>
            <a:ext cx="2103120" cy="164592"/>
          </a:xfrm>
          <a:prstGeom prst="rect">
            <a:avLst/>
          </a:prstGeom>
          <a:noFill/>
          <a:ln/>
        </p:spPr>
        <p:txBody>
          <a:bodyPr wrap="square" lIns="0" tIns="0" rIns="0" bIns="0" rtlCol="0" anchor="ctr"/>
          <a:lstStyle/>
          <a:p>
            <a:pPr indent="0" marL="0">
              <a:buNone/>
            </a:pPr>
            <a:r>
              <a:rPr lang="en-US" sz="800" b="1" dirty="0">
                <a:solidFill>
                  <a:srgbClr val="F59E0B"/>
                </a:solidFill>
                <a:latin typeface="Consolas" pitchFamily="34" charset="0"/>
                <a:ea typeface="Consolas" pitchFamily="34" charset="-122"/>
                <a:cs typeface="Consolas" pitchFamily="34" charset="-120"/>
              </a:rPr>
              <a:t>DYNAMIC REFLECTION</a:t>
            </a:r>
            <a:endParaRPr lang="en-US" sz="800" dirty="0"/>
          </a:p>
        </p:txBody>
      </p:sp>
      <p:sp>
        <p:nvSpPr>
          <p:cNvPr id="28" name="Text 26"/>
          <p:cNvSpPr/>
          <p:nvPr/>
        </p:nvSpPr>
        <p:spPr>
          <a:xfrm>
            <a:off x="1234440" y="5102352"/>
            <a:ext cx="2103120" cy="256032"/>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src/lib/dynamic-loader.ts</a:t>
            </a:r>
            <a:endParaRPr lang="en-US" sz="1000" dirty="0"/>
          </a:p>
        </p:txBody>
      </p:sp>
      <p:sp>
        <p:nvSpPr>
          <p:cNvPr id="29" name="Text 27"/>
          <p:cNvSpPr/>
          <p:nvPr/>
        </p:nvSpPr>
        <p:spPr>
          <a:xfrm>
            <a:off x="1234440" y="5358384"/>
            <a:ext cx="2103120" cy="182880"/>
          </a:xfrm>
          <a:prstGeom prst="rect">
            <a:avLst/>
          </a:prstGeom>
          <a:noFill/>
          <a:ln/>
        </p:spPr>
        <p:txBody>
          <a:bodyPr wrap="square" lIns="0" tIns="0" rIns="0" bIns="0" rtlCol="0" anchor="ctr"/>
          <a:lstStyle/>
          <a:p>
            <a:pPr indent="0" marL="0">
              <a:buNone/>
            </a:pPr>
            <a:r>
              <a:rPr lang="en-US" sz="800" dirty="0">
                <a:solidFill>
                  <a:srgbClr val="A1A1AA"/>
                </a:solidFill>
                <a:latin typeface="Consolas" pitchFamily="34" charset="0"/>
                <a:ea typeface="Consolas" pitchFamily="34" charset="-122"/>
                <a:cs typeface="Consolas" pitchFamily="34" charset="-120"/>
              </a:rPr>
              <a:t>require(variable) ➔ UNKNOWN</a:t>
            </a:r>
            <a:endParaRPr lang="en-US" sz="800" dirty="0"/>
          </a:p>
        </p:txBody>
      </p:sp>
      <p:sp>
        <p:nvSpPr>
          <p:cNvPr id="30" name="Shape 28"/>
          <p:cNvSpPr/>
          <p:nvPr/>
        </p:nvSpPr>
        <p:spPr>
          <a:xfrm>
            <a:off x="4023360" y="4846320"/>
            <a:ext cx="2560320" cy="777240"/>
          </a:xfrm>
          <a:prstGeom prst="rect">
            <a:avLst/>
          </a:prstGeom>
          <a:solidFill>
            <a:srgbClr val="0F1914"/>
          </a:solidFill>
          <a:ln w="19050">
            <a:solidFill>
              <a:srgbClr val="10B981"/>
            </a:solidFill>
            <a:prstDash val="solid"/>
          </a:ln>
        </p:spPr>
      </p:sp>
      <p:sp>
        <p:nvSpPr>
          <p:cNvPr id="31" name="Text 29"/>
          <p:cNvSpPr/>
          <p:nvPr/>
        </p:nvSpPr>
        <p:spPr>
          <a:xfrm>
            <a:off x="4160520" y="4919472"/>
            <a:ext cx="2286000" cy="164592"/>
          </a:xfrm>
          <a:prstGeom prst="rect">
            <a:avLst/>
          </a:prstGeom>
          <a:noFill/>
          <a:ln/>
        </p:spPr>
        <p:txBody>
          <a:bodyPr wrap="square" lIns="0" tIns="0" rIns="0" bIns="0" rtlCol="0" anchor="ctr"/>
          <a:lstStyle/>
          <a:p>
            <a:pPr indent="0" marL="0">
              <a:buNone/>
            </a:pPr>
            <a:r>
              <a:rPr lang="en-US" sz="800" b="1" dirty="0">
                <a:solidFill>
                  <a:srgbClr val="10B981"/>
                </a:solidFill>
                <a:latin typeface="Consolas" pitchFamily="34" charset="0"/>
                <a:ea typeface="Consolas" pitchFamily="34" charset="-122"/>
                <a:cs typeface="Consolas" pitchFamily="34" charset="-120"/>
              </a:rPr>
              <a:t>CLEAN PASSED SPEC</a:t>
            </a:r>
            <a:endParaRPr lang="en-US" sz="800" dirty="0"/>
          </a:p>
        </p:txBody>
      </p:sp>
      <p:sp>
        <p:nvSpPr>
          <p:cNvPr id="32" name="Text 30"/>
          <p:cNvSpPr/>
          <p:nvPr/>
        </p:nvSpPr>
        <p:spPr>
          <a:xfrm>
            <a:off x="4160520" y="5102352"/>
            <a:ext cx="2286000" cy="256032"/>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tests/reachability.test.ts</a:t>
            </a:r>
            <a:endParaRPr lang="en-US" sz="1000" dirty="0"/>
          </a:p>
        </p:txBody>
      </p:sp>
      <p:sp>
        <p:nvSpPr>
          <p:cNvPr id="33" name="Text 31"/>
          <p:cNvSpPr/>
          <p:nvPr/>
        </p:nvSpPr>
        <p:spPr>
          <a:xfrm>
            <a:off x="4160520" y="5358384"/>
            <a:ext cx="2286000" cy="182880"/>
          </a:xfrm>
          <a:prstGeom prst="rect">
            <a:avLst/>
          </a:prstGeom>
          <a:noFill/>
          <a:ln/>
        </p:spPr>
        <p:txBody>
          <a:bodyPr wrap="square" lIns="0" tIns="0" rIns="0" bIns="0" rtlCol="0" anchor="ctr"/>
          <a:lstStyle/>
          <a:p>
            <a:pPr indent="0" marL="0">
              <a:buNone/>
            </a:pPr>
            <a:r>
              <a:rPr lang="en-US" sz="800" dirty="0">
                <a:solidFill>
                  <a:srgbClr val="A1A1AA"/>
                </a:solidFill>
                <a:latin typeface="Consolas" pitchFamily="34" charset="0"/>
                <a:ea typeface="Consolas" pitchFamily="34" charset="-122"/>
                <a:cs typeface="Consolas" pitchFamily="34" charset="-120"/>
              </a:rPr>
              <a:t>✓ 18/18 TESTS GREEN (0 ERR)</a:t>
            </a:r>
            <a:endParaRPr lang="en-US" sz="800" dirty="0"/>
          </a:p>
        </p:txBody>
      </p:sp>
      <p:sp>
        <p:nvSpPr>
          <p:cNvPr id="34" name="Text 32"/>
          <p:cNvSpPr/>
          <p:nvPr/>
        </p:nvSpPr>
        <p:spPr>
          <a:xfrm>
            <a:off x="1097280" y="3337560"/>
            <a:ext cx="5486400" cy="228600"/>
          </a:xfrm>
          <a:prstGeom prst="rect">
            <a:avLst/>
          </a:prstGeom>
          <a:noFill/>
          <a:ln/>
        </p:spPr>
        <p:txBody>
          <a:bodyPr wrap="square" lIns="0" tIns="0" rIns="0" bIns="0" rtlCol="0" anchor="ctr"/>
          <a:lstStyle/>
          <a:p>
            <a:pPr algn="ctr" indent="0" marL="0">
              <a:buNone/>
            </a:pPr>
            <a:r>
              <a:rPr lang="en-US" sz="900" b="1" dirty="0">
                <a:solidFill>
                  <a:srgbClr val="EF4444"/>
                </a:solidFill>
                <a:latin typeface="Consolas" pitchFamily="34" charset="0"/>
                <a:ea typeface="Consolas" pitchFamily="34" charset="-122"/>
                <a:cs typeface="Consolas" pitchFamily="34" charset="-120"/>
              </a:rPr>
              <a:t>➔ ➔ ON-DEMAND RED LASER ARC (CALL CHAIN ACTIVE) ➔ ➔</a:t>
            </a:r>
            <a:endParaRPr lang="en-US" sz="900" dirty="0"/>
          </a:p>
        </p:txBody>
      </p:sp>
      <p:sp>
        <p:nvSpPr>
          <p:cNvPr id="35" name="Text 33"/>
          <p:cNvSpPr/>
          <p:nvPr/>
        </p:nvSpPr>
        <p:spPr>
          <a:xfrm>
            <a:off x="914400" y="5852160"/>
            <a:ext cx="5852160" cy="182880"/>
          </a:xfrm>
          <a:prstGeom prst="rect">
            <a:avLst/>
          </a:prstGeom>
          <a:noFill/>
          <a:ln/>
        </p:spPr>
        <p:txBody>
          <a:bodyPr wrap="square" lIns="0" tIns="0" rIns="0" bIns="0" rtlCol="0" anchor="ctr"/>
          <a:lstStyle/>
          <a:p>
            <a:pPr indent="0" marL="0">
              <a:buNone/>
            </a:pPr>
            <a:r>
              <a:rPr lang="en-US" sz="800" dirty="0">
                <a:solidFill>
                  <a:srgbClr val="71717A"/>
                </a:solidFill>
                <a:latin typeface="Consolas" pitchFamily="34" charset="0"/>
                <a:ea typeface="Consolas" pitchFamily="34" charset="-122"/>
                <a:cs typeface="Consolas" pitchFamily="34" charset="-120"/>
              </a:rPr>
              <a:t>● 0 LASER ARCS BY DEFAULT (ZERO CLUTTER)  •  LIGHTS UP ONLY ON INFECTED NODE SELECTION</a:t>
            </a:r>
            <a:endParaRPr lang="en-US" sz="800" dirty="0"/>
          </a:p>
        </p:txBody>
      </p:sp>
      <p:sp>
        <p:nvSpPr>
          <p:cNvPr id="36" name="Shape 34"/>
          <p:cNvSpPr/>
          <p:nvPr/>
        </p:nvSpPr>
        <p:spPr>
          <a:xfrm>
            <a:off x="7132320" y="1874520"/>
            <a:ext cx="4297680" cy="4251960"/>
          </a:xfrm>
          <a:prstGeom prst="rect">
            <a:avLst/>
          </a:prstGeom>
          <a:solidFill>
            <a:srgbClr val="111115"/>
          </a:solidFill>
          <a:ln w="12700">
            <a:solidFill>
              <a:srgbClr val="27272A"/>
            </a:solidFill>
            <a:prstDash val="solid"/>
          </a:ln>
        </p:spPr>
      </p:sp>
      <p:sp>
        <p:nvSpPr>
          <p:cNvPr id="37" name="Text 35"/>
          <p:cNvSpPr/>
          <p:nvPr/>
        </p:nvSpPr>
        <p:spPr>
          <a:xfrm>
            <a:off x="7406640" y="2103120"/>
            <a:ext cx="3749040" cy="22860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TACTILE SPATIAL CONTROLS</a:t>
            </a:r>
            <a:endParaRPr lang="en-US" sz="1100" dirty="0"/>
          </a:p>
        </p:txBody>
      </p:sp>
      <p:sp>
        <p:nvSpPr>
          <p:cNvPr id="38" name="Text 36"/>
          <p:cNvSpPr/>
          <p:nvPr/>
        </p:nvSpPr>
        <p:spPr>
          <a:xfrm>
            <a:off x="7406640" y="2377440"/>
            <a:ext cx="3749040" cy="6400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"Click a finding to light up its path through the codebase."</a:t>
            </a:r>
            <a:endParaRPr lang="en-US" sz="1600" dirty="0"/>
          </a:p>
        </p:txBody>
      </p:sp>
      <p:sp>
        <p:nvSpPr>
          <p:cNvPr id="39" name="Text 37"/>
          <p:cNvSpPr/>
          <p:nvPr/>
        </p:nvSpPr>
        <p:spPr>
          <a:xfrm>
            <a:off x="7406640" y="3108960"/>
            <a:ext cx="3749040" cy="228600"/>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  City View Treemap</a:t>
            </a:r>
            <a:endParaRPr lang="en-US" sz="1100" dirty="0"/>
          </a:p>
        </p:txBody>
      </p:sp>
      <p:sp>
        <p:nvSpPr>
          <p:cNvPr id="40" name="Text 38"/>
          <p:cNvSpPr/>
          <p:nvPr/>
        </p:nvSpPr>
        <p:spPr>
          <a:xfrm>
            <a:off x="7589520" y="3310128"/>
            <a:ext cx="3566160" cy="45720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Deterministic squarified treemap. Building heights derive from Lines of Code (LOC) clamped via sqrt scaling.</a:t>
            </a:r>
            <a:endParaRPr lang="en-US" sz="1000" dirty="0"/>
          </a:p>
        </p:txBody>
      </p:sp>
      <p:sp>
        <p:nvSpPr>
          <p:cNvPr id="41" name="Text 39"/>
          <p:cNvSpPr/>
          <p:nvPr/>
        </p:nvSpPr>
        <p:spPr>
          <a:xfrm>
            <a:off x="7406640" y="3803904"/>
            <a:ext cx="3749040" cy="228600"/>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  On-Demand Laser Arcs</a:t>
            </a:r>
            <a:endParaRPr lang="en-US" sz="1100" dirty="0"/>
          </a:p>
        </p:txBody>
      </p:sp>
      <p:sp>
        <p:nvSpPr>
          <p:cNvPr id="42" name="Text 40"/>
          <p:cNvSpPr/>
          <p:nvPr/>
        </p:nvSpPr>
        <p:spPr>
          <a:xfrm>
            <a:off x="7589520" y="4005072"/>
            <a:ext cx="3566160" cy="45720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Zero laser clutter by default. Clicking an infected node ignites a red laser beam tracing back to entry points.</a:t>
            </a:r>
            <a:endParaRPr lang="en-US" sz="1000" dirty="0"/>
          </a:p>
        </p:txBody>
      </p:sp>
      <p:sp>
        <p:nvSpPr>
          <p:cNvPr id="43" name="Text 41"/>
          <p:cNvSpPr/>
          <p:nvPr/>
        </p:nvSpPr>
        <p:spPr>
          <a:xfrm>
            <a:off x="7406640" y="4498848"/>
            <a:ext cx="3749040" cy="228600"/>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  Metropolitan Grid Calibration</a:t>
            </a:r>
            <a:endParaRPr lang="en-US" sz="1100" dirty="0"/>
          </a:p>
        </p:txBody>
      </p:sp>
      <p:sp>
        <p:nvSpPr>
          <p:cNvPr id="44" name="Text 42"/>
          <p:cNvSpPr/>
          <p:nvPr/>
        </p:nvSpPr>
        <p:spPr>
          <a:xfrm>
            <a:off x="7589520" y="4700016"/>
            <a:ext cx="3566160" cy="45720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Calibrates district topology and telemetry to the developer's home city (BLR, SFO, NYC, LHR) at onboarding.</a:t>
            </a:r>
            <a:endParaRPr lang="en-US" sz="1000" dirty="0"/>
          </a:p>
        </p:txBody>
      </p:sp>
      <p:sp>
        <p:nvSpPr>
          <p:cNvPr id="45" name="Text 43"/>
          <p:cNvSpPr/>
          <p:nvPr/>
        </p:nvSpPr>
        <p:spPr>
          <a:xfrm>
            <a:off x="7406640" y="5193792"/>
            <a:ext cx="3749040" cy="228600"/>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  Orbital Wiring Graph</a:t>
            </a:r>
            <a:endParaRPr lang="en-US" sz="1100" dirty="0"/>
          </a:p>
        </p:txBody>
      </p:sp>
      <p:sp>
        <p:nvSpPr>
          <p:cNvPr id="46" name="Text 44"/>
          <p:cNvSpPr/>
          <p:nvPr/>
        </p:nvSpPr>
        <p:spPr>
          <a:xfrm>
            <a:off x="7589520" y="5394960"/>
            <a:ext cx="3566160" cy="45720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Toggle between folder treemap and 3D force-directed dependency graph sharing identical node selection state.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411480"/>
            <a:ext cx="1069848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[TECHNICAL CREDIBILITY // INVARIANT #1]</a:t>
            </a:r>
            <a:pPr indent="0" marL="0">
              <a:buNone/>
            </a:pPr>
            <a:r>
              <a:rPr lang="en-US" sz="1000" dirty="0">
                <a:solidFill>
                  <a:srgbClr val="71717A"/>
                </a:solidFill>
                <a:latin typeface="Consolas" pitchFamily="34" charset="0"/>
                <a:ea typeface="Consolas" pitchFamily="34" charset="-122"/>
                <a:cs typeface="Consolas" pitchFamily="34" charset="-120"/>
              </a:rPr>
              <a:t> // PRASUNEX 2026 TELEMETRY</a:t>
            </a:r>
            <a:endParaRPr lang="en-US" sz="1000" dirty="0"/>
          </a:p>
        </p:txBody>
      </p:sp>
      <p:sp>
        <p:nvSpPr>
          <p:cNvPr id="3" name="Text 1"/>
          <p:cNvSpPr/>
          <p:nvPr/>
        </p:nvSpPr>
        <p:spPr>
          <a:xfrm>
            <a:off x="731520" y="731520"/>
            <a:ext cx="1069848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Honest Reachability: Why VibeLens Never Says "Safe"</a:t>
            </a:r>
            <a:endParaRPr lang="en-US" sz="2400" dirty="0"/>
          </a:p>
        </p:txBody>
      </p:sp>
      <p:sp>
        <p:nvSpPr>
          <p:cNvPr id="4" name="Text 2"/>
          <p:cNvSpPr/>
          <p:nvPr/>
        </p:nvSpPr>
        <p:spPr>
          <a:xfrm>
            <a:off x="731520" y="1298448"/>
            <a:ext cx="10698480" cy="32004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Rigorous compiler honesty signals deep technical credibility to security engineers.</a:t>
            </a:r>
            <a:endParaRPr lang="en-US" sz="1300" dirty="0"/>
          </a:p>
        </p:txBody>
      </p:sp>
      <p:sp>
        <p:nvSpPr>
          <p:cNvPr id="5" name="Text 3"/>
          <p:cNvSpPr/>
          <p:nvPr/>
        </p:nvSpPr>
        <p:spPr>
          <a:xfrm>
            <a:off x="731520" y="6400800"/>
            <a:ext cx="8686800" cy="27432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VIBELENS // INDUSTRIAL SECURITY TELEMETRY</a:t>
            </a:r>
            <a:pPr indent="0" marL="0">
              <a:buNone/>
            </a:pPr>
            <a:r>
              <a:rPr lang="en-US" sz="900" dirty="0">
                <a:solidFill>
                  <a:srgbClr val="71717A"/>
                </a:solidFill>
                <a:latin typeface="Consolas" pitchFamily="34" charset="0"/>
                <a:ea typeface="Consolas" pitchFamily="34" charset="-122"/>
                <a:cs typeface="Consolas" pitchFamily="34" charset="-120"/>
              </a:rPr>
              <a:t>   •   100% LOCAL PRIVACY   •   ZERO CLOUD CODE UPLOADS   •   PURE NATIVE EDITABLE TEXT</a:t>
            </a:r>
            <a:endParaRPr lang="en-US" sz="900" dirty="0"/>
          </a:p>
        </p:txBody>
      </p:sp>
      <p:sp>
        <p:nvSpPr>
          <p:cNvPr id="6" name="Text 4"/>
          <p:cNvSpPr/>
          <p:nvPr/>
        </p:nvSpPr>
        <p:spPr>
          <a:xfrm>
            <a:off x="9601200" y="6400800"/>
            <a:ext cx="1828800" cy="27432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SLIDE 07 / 12</a:t>
            </a:r>
            <a:endParaRPr lang="en-US" sz="900" dirty="0"/>
          </a:p>
        </p:txBody>
      </p:sp>
      <p:sp>
        <p:nvSpPr>
          <p:cNvPr id="7" name="Shape 5"/>
          <p:cNvSpPr/>
          <p:nvPr/>
        </p:nvSpPr>
        <p:spPr>
          <a:xfrm>
            <a:off x="731520" y="1874520"/>
            <a:ext cx="3429000" cy="3246120"/>
          </a:xfrm>
          <a:prstGeom prst="rect">
            <a:avLst/>
          </a:prstGeom>
          <a:solidFill>
            <a:srgbClr val="111115"/>
          </a:solidFill>
          <a:ln w="12700">
            <a:solidFill>
              <a:srgbClr val="EF4444"/>
            </a:solidFill>
            <a:prstDash val="solid"/>
          </a:ln>
        </p:spPr>
      </p:sp>
      <p:sp>
        <p:nvSpPr>
          <p:cNvPr id="8" name="Text 6"/>
          <p:cNvSpPr/>
          <p:nvPr/>
        </p:nvSpPr>
        <p:spPr>
          <a:xfrm>
            <a:off x="1005840" y="2103120"/>
            <a:ext cx="2880360" cy="274320"/>
          </a:xfrm>
          <a:prstGeom prst="rect">
            <a:avLst/>
          </a:prstGeom>
          <a:noFill/>
          <a:ln/>
        </p:spPr>
        <p:txBody>
          <a:bodyPr wrap="square" lIns="0" tIns="0" rIns="0" bIns="0" rtlCol="0" anchor="ctr"/>
          <a:lstStyle/>
          <a:p>
            <a:pPr indent="0" marL="0">
              <a:buNone/>
            </a:pPr>
            <a:r>
              <a:rPr lang="en-US" sz="1400" b="1" dirty="0">
                <a:solidFill>
                  <a:srgbClr val="EF4444"/>
                </a:solidFill>
                <a:latin typeface="Consolas" pitchFamily="34" charset="0"/>
                <a:ea typeface="Consolas" pitchFamily="34" charset="-122"/>
                <a:cs typeface="Consolas" pitchFamily="34" charset="-120"/>
              </a:rPr>
              <a:t>TIER 01 // REACHABLE</a:t>
            </a:r>
            <a:endParaRPr lang="en-US" sz="1400" dirty="0"/>
          </a:p>
        </p:txBody>
      </p:sp>
      <p:sp>
        <p:nvSpPr>
          <p:cNvPr id="9" name="Text 7"/>
          <p:cNvSpPr/>
          <p:nvPr/>
        </p:nvSpPr>
        <p:spPr>
          <a:xfrm>
            <a:off x="1005840" y="2377440"/>
            <a:ext cx="2880360" cy="228600"/>
          </a:xfrm>
          <a:prstGeom prst="rect">
            <a:avLst/>
          </a:prstGeom>
          <a:noFill/>
          <a:ln/>
        </p:spPr>
        <p:txBody>
          <a:bodyPr wrap="square" lIns="0" tIns="0" rIns="0" bIns="0" rtlCol="0" anchor="ctr"/>
          <a:lstStyle/>
          <a:p>
            <a:pPr indent="0" marL="0">
              <a:buNone/>
            </a:pPr>
            <a:r>
              <a:rPr lang="en-US" sz="900" b="1" dirty="0">
                <a:solidFill>
                  <a:srgbClr val="71717A"/>
                </a:solidFill>
                <a:latin typeface="Consolas" pitchFamily="34" charset="0"/>
                <a:ea typeface="Consolas" pitchFamily="34" charset="-122"/>
                <a:cs typeface="Consolas" pitchFamily="34" charset="-120"/>
              </a:rPr>
              <a:t>VERIFIED ZERO-DAY EXPLOIT PATH</a:t>
            </a:r>
            <a:endParaRPr lang="en-US" sz="900" dirty="0"/>
          </a:p>
        </p:txBody>
      </p:sp>
      <p:sp>
        <p:nvSpPr>
          <p:cNvPr id="10" name="Text 8"/>
          <p:cNvSpPr/>
          <p:nvPr/>
        </p:nvSpPr>
        <p:spPr>
          <a:xfrm>
            <a:off x="1005840" y="2743200"/>
            <a:ext cx="2880360" cy="137160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A deterministic static execution path exists from a public route or main entry point directly to the vulnerable function sink.</a:t>
            </a:r>
            <a:endParaRPr lang="en-US" sz="1200" dirty="0"/>
          </a:p>
        </p:txBody>
      </p:sp>
      <p:sp>
        <p:nvSpPr>
          <p:cNvPr id="11" name="Text 9"/>
          <p:cNvSpPr/>
          <p:nvPr/>
        </p:nvSpPr>
        <p:spPr>
          <a:xfrm>
            <a:off x="1005840" y="4251960"/>
            <a:ext cx="2880360" cy="548640"/>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ACTION: Fix immediately via 1-click test-gated pull request.</a:t>
            </a:r>
            <a:endParaRPr lang="en-US" sz="1000" dirty="0"/>
          </a:p>
        </p:txBody>
      </p:sp>
      <p:sp>
        <p:nvSpPr>
          <p:cNvPr id="12" name="Shape 10"/>
          <p:cNvSpPr/>
          <p:nvPr/>
        </p:nvSpPr>
        <p:spPr>
          <a:xfrm>
            <a:off x="4389120" y="1874520"/>
            <a:ext cx="3429000" cy="3246120"/>
          </a:xfrm>
          <a:prstGeom prst="rect">
            <a:avLst/>
          </a:prstGeom>
          <a:solidFill>
            <a:srgbClr val="111115"/>
          </a:solidFill>
          <a:ln w="12700">
            <a:solidFill>
              <a:srgbClr val="F59E0B"/>
            </a:solidFill>
            <a:prstDash val="solid"/>
          </a:ln>
        </p:spPr>
      </p:sp>
      <p:sp>
        <p:nvSpPr>
          <p:cNvPr id="13" name="Text 11"/>
          <p:cNvSpPr/>
          <p:nvPr/>
        </p:nvSpPr>
        <p:spPr>
          <a:xfrm>
            <a:off x="4663440" y="2103120"/>
            <a:ext cx="2880360" cy="274320"/>
          </a:xfrm>
          <a:prstGeom prst="rect">
            <a:avLst/>
          </a:prstGeom>
          <a:noFill/>
          <a:ln/>
        </p:spPr>
        <p:txBody>
          <a:bodyPr wrap="square" lIns="0" tIns="0" rIns="0" bIns="0" rtlCol="0" anchor="ctr"/>
          <a:lstStyle/>
          <a:p>
            <a:pPr indent="0" marL="0">
              <a:buNone/>
            </a:pPr>
            <a:r>
              <a:rPr lang="en-US" sz="1400" b="1" dirty="0">
                <a:solidFill>
                  <a:srgbClr val="F59E0B"/>
                </a:solidFill>
                <a:latin typeface="Consolas" pitchFamily="34" charset="0"/>
                <a:ea typeface="Consolas" pitchFamily="34" charset="-122"/>
                <a:cs typeface="Consolas" pitchFamily="34" charset="-120"/>
              </a:rPr>
              <a:t>TIER 02 // UNKNOWN / DYNAMIC</a:t>
            </a:r>
            <a:endParaRPr lang="en-US" sz="1400" dirty="0"/>
          </a:p>
        </p:txBody>
      </p:sp>
      <p:sp>
        <p:nvSpPr>
          <p:cNvPr id="14" name="Text 12"/>
          <p:cNvSpPr/>
          <p:nvPr/>
        </p:nvSpPr>
        <p:spPr>
          <a:xfrm>
            <a:off x="4663440" y="2377440"/>
            <a:ext cx="2880360" cy="228600"/>
          </a:xfrm>
          <a:prstGeom prst="rect">
            <a:avLst/>
          </a:prstGeom>
          <a:noFill/>
          <a:ln/>
        </p:spPr>
        <p:txBody>
          <a:bodyPr wrap="square" lIns="0" tIns="0" rIns="0" bIns="0" rtlCol="0" anchor="ctr"/>
          <a:lstStyle/>
          <a:p>
            <a:pPr indent="0" marL="0">
              <a:buNone/>
            </a:pPr>
            <a:r>
              <a:rPr lang="en-US" sz="900" b="1" dirty="0">
                <a:solidFill>
                  <a:srgbClr val="71717A"/>
                </a:solidFill>
                <a:latin typeface="Consolas" pitchFamily="34" charset="0"/>
                <a:ea typeface="Consolas" pitchFamily="34" charset="-122"/>
                <a:cs typeface="Consolas" pitchFamily="34" charset="-120"/>
              </a:rPr>
              <a:t>DYNAMIC CODE DETECTED</a:t>
            </a:r>
            <a:endParaRPr lang="en-US" sz="900" dirty="0"/>
          </a:p>
        </p:txBody>
      </p:sp>
      <p:sp>
        <p:nvSpPr>
          <p:cNvPr id="15" name="Text 13"/>
          <p:cNvSpPr/>
          <p:nvPr/>
        </p:nvSpPr>
        <p:spPr>
          <a:xfrm>
            <a:off x="4663440" y="2743200"/>
            <a:ext cx="2880360" cy="137160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Dynamic require(variable), eval(), or runtime reflection detected in the call chain. Static analysis cannot mathematically guarantee safety.</a:t>
            </a:r>
            <a:endParaRPr lang="en-US" sz="1200" dirty="0"/>
          </a:p>
        </p:txBody>
      </p:sp>
      <p:sp>
        <p:nvSpPr>
          <p:cNvPr id="16" name="Text 14"/>
          <p:cNvSpPr/>
          <p:nvPr/>
        </p:nvSpPr>
        <p:spPr>
          <a:xfrm>
            <a:off x="4663440" y="4251960"/>
            <a:ext cx="2880360" cy="548640"/>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ACTION: Flagged honestly for manual review. Never falsely claimed safe.</a:t>
            </a:r>
            <a:endParaRPr lang="en-US" sz="1000" dirty="0"/>
          </a:p>
        </p:txBody>
      </p:sp>
      <p:sp>
        <p:nvSpPr>
          <p:cNvPr id="17" name="Shape 15"/>
          <p:cNvSpPr/>
          <p:nvPr/>
        </p:nvSpPr>
        <p:spPr>
          <a:xfrm>
            <a:off x="8046720" y="1874520"/>
            <a:ext cx="3429000" cy="3246120"/>
          </a:xfrm>
          <a:prstGeom prst="rect">
            <a:avLst/>
          </a:prstGeom>
          <a:solidFill>
            <a:srgbClr val="111115"/>
          </a:solidFill>
          <a:ln w="12700">
            <a:solidFill>
              <a:srgbClr val="10B981"/>
            </a:solidFill>
            <a:prstDash val="solid"/>
          </a:ln>
        </p:spPr>
      </p:sp>
      <p:sp>
        <p:nvSpPr>
          <p:cNvPr id="18" name="Text 16"/>
          <p:cNvSpPr/>
          <p:nvPr/>
        </p:nvSpPr>
        <p:spPr>
          <a:xfrm>
            <a:off x="8321040" y="2103120"/>
            <a:ext cx="2880360" cy="274320"/>
          </a:xfrm>
          <a:prstGeom prst="rect">
            <a:avLst/>
          </a:prstGeom>
          <a:noFill/>
          <a:ln/>
        </p:spPr>
        <p:txBody>
          <a:bodyPr wrap="square" lIns="0" tIns="0" rIns="0" bIns="0" rtlCol="0" anchor="ctr"/>
          <a:lstStyle/>
          <a:p>
            <a:pPr indent="0" marL="0">
              <a:buNone/>
            </a:pPr>
            <a:r>
              <a:rPr lang="en-US" sz="1400" b="1" dirty="0">
                <a:solidFill>
                  <a:srgbClr val="10B981"/>
                </a:solidFill>
                <a:latin typeface="Consolas" pitchFamily="34" charset="0"/>
                <a:ea typeface="Consolas" pitchFamily="34" charset="-122"/>
                <a:cs typeface="Consolas" pitchFamily="34" charset="-120"/>
              </a:rPr>
              <a:t>TIER 03 // NOT FOUND (SILENCED)</a:t>
            </a:r>
            <a:endParaRPr lang="en-US" sz="1400" dirty="0"/>
          </a:p>
        </p:txBody>
      </p:sp>
      <p:sp>
        <p:nvSpPr>
          <p:cNvPr id="19" name="Text 17"/>
          <p:cNvSpPr/>
          <p:nvPr/>
        </p:nvSpPr>
        <p:spPr>
          <a:xfrm>
            <a:off x="8321040" y="2377440"/>
            <a:ext cx="2880360" cy="228600"/>
          </a:xfrm>
          <a:prstGeom prst="rect">
            <a:avLst/>
          </a:prstGeom>
          <a:noFill/>
          <a:ln/>
        </p:spPr>
        <p:txBody>
          <a:bodyPr wrap="square" lIns="0" tIns="0" rIns="0" bIns="0" rtlCol="0" anchor="ctr"/>
          <a:lstStyle/>
          <a:p>
            <a:pPr indent="0" marL="0">
              <a:buNone/>
            </a:pPr>
            <a:r>
              <a:rPr lang="en-US" sz="900" b="1" dirty="0">
                <a:solidFill>
                  <a:srgbClr val="71717A"/>
                </a:solidFill>
                <a:latin typeface="Consolas" pitchFamily="34" charset="0"/>
                <a:ea typeface="Consolas" pitchFamily="34" charset="-122"/>
                <a:cs typeface="Consolas" pitchFamily="34" charset="-120"/>
              </a:rPr>
              <a:t>NO STATIC PATH FOUND</a:t>
            </a:r>
            <a:endParaRPr lang="en-US" sz="900" dirty="0"/>
          </a:p>
        </p:txBody>
      </p:sp>
      <p:sp>
        <p:nvSpPr>
          <p:cNvPr id="20" name="Text 18"/>
          <p:cNvSpPr/>
          <p:nvPr/>
        </p:nvSpPr>
        <p:spPr>
          <a:xfrm>
            <a:off x="8321040" y="2743200"/>
            <a:ext cx="2880360" cy="137160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No static execution path leads from any public entry point to this vulnerability. Filtered from triage backlog to preserve developer focus.</a:t>
            </a:r>
            <a:endParaRPr lang="en-US" sz="1200" dirty="0"/>
          </a:p>
        </p:txBody>
      </p:sp>
      <p:sp>
        <p:nvSpPr>
          <p:cNvPr id="21" name="Text 19"/>
          <p:cNvSpPr/>
          <p:nvPr/>
        </p:nvSpPr>
        <p:spPr>
          <a:xfrm>
            <a:off x="8321040" y="4251960"/>
            <a:ext cx="2880360" cy="548640"/>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ACTION: Phantom shield enabled; silenced from noise queue.</a:t>
            </a:r>
            <a:endParaRPr lang="en-US" sz="1000" dirty="0"/>
          </a:p>
        </p:txBody>
      </p:sp>
      <p:sp>
        <p:nvSpPr>
          <p:cNvPr id="22" name="Shape 20"/>
          <p:cNvSpPr/>
          <p:nvPr/>
        </p:nvSpPr>
        <p:spPr>
          <a:xfrm>
            <a:off x="731520" y="5303520"/>
            <a:ext cx="10698480" cy="868680"/>
          </a:xfrm>
          <a:prstGeom prst="rect">
            <a:avLst/>
          </a:prstGeom>
          <a:solidFill>
            <a:srgbClr val="111115"/>
          </a:solidFill>
          <a:ln w="12700">
            <a:solidFill>
              <a:srgbClr val="27272A"/>
            </a:solidFill>
            <a:prstDash val="solid"/>
          </a:ln>
        </p:spPr>
      </p:sp>
      <p:sp>
        <p:nvSpPr>
          <p:cNvPr id="23" name="Text 21"/>
          <p:cNvSpPr/>
          <p:nvPr/>
        </p:nvSpPr>
        <p:spPr>
          <a:xfrm>
            <a:off x="1005840" y="5440680"/>
            <a:ext cx="10058400" cy="18288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THE SCIENTIFIC HONESTY PACT</a:t>
            </a:r>
            <a:endParaRPr lang="en-US" sz="1000" dirty="0"/>
          </a:p>
        </p:txBody>
      </p:sp>
      <p:sp>
        <p:nvSpPr>
          <p:cNvPr id="24" name="Text 22"/>
          <p:cNvSpPr/>
          <p:nvPr/>
        </p:nvSpPr>
        <p:spPr>
          <a:xfrm>
            <a:off x="1005840" y="5669280"/>
            <a:ext cx="10058400" cy="411480"/>
          </a:xfrm>
          <a:prstGeom prst="rect">
            <a:avLst/>
          </a:prstGeom>
          <a:noFill/>
          <a:ln/>
        </p:spPr>
        <p:txBody>
          <a:bodyPr wrap="square" lIns="0" tIns="0" rIns="0" bIns="0" rtlCol="0" anchor="ctr"/>
          <a:lstStyle/>
          <a:p>
            <a:pPr indent="0" marL="0">
              <a:buNone/>
            </a:pPr>
            <a:r>
              <a:rPr lang="en-US" sz="1200" dirty="0">
                <a:solidFill>
                  <a:srgbClr val="F4F4F5"/>
                </a:solidFill>
                <a:latin typeface="Calibri" pitchFamily="34" charset="0"/>
                <a:ea typeface="Calibri" pitchFamily="34" charset="-122"/>
                <a:cs typeface="Calibri" pitchFamily="34" charset="-120"/>
              </a:rPr>
              <a:t>Any security tool that claims 100% safety on dynamic JavaScript is misleading you. VibeLens maintains strict compiler credibility: deterministic static paths are proven; dynamic code is honestly classified as 'Unknown'.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411480"/>
            <a:ext cx="1069848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[EMPIRICAL RESULTS // BENCHMARK VERIFICATION]</a:t>
            </a:r>
            <a:pPr indent="0" marL="0">
              <a:buNone/>
            </a:pPr>
            <a:r>
              <a:rPr lang="en-US" sz="1000" dirty="0">
                <a:solidFill>
                  <a:srgbClr val="71717A"/>
                </a:solidFill>
                <a:latin typeface="Consolas" pitchFamily="34" charset="0"/>
                <a:ea typeface="Consolas" pitchFamily="34" charset="-122"/>
                <a:cs typeface="Consolas" pitchFamily="34" charset="-120"/>
              </a:rPr>
              <a:t> // PRASUNEX 2026 TELEMETRY</a:t>
            </a:r>
            <a:endParaRPr lang="en-US" sz="1000" dirty="0"/>
          </a:p>
        </p:txBody>
      </p:sp>
      <p:sp>
        <p:nvSpPr>
          <p:cNvPr id="3" name="Text 1"/>
          <p:cNvSpPr/>
          <p:nvPr/>
        </p:nvSpPr>
        <p:spPr>
          <a:xfrm>
            <a:off x="731520" y="731520"/>
            <a:ext cx="1069848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Benchmark: 88.6% - 94.4% Alert Noise Silenced</a:t>
            </a:r>
            <a:endParaRPr lang="en-US" sz="2400" dirty="0"/>
          </a:p>
        </p:txBody>
      </p:sp>
      <p:sp>
        <p:nvSpPr>
          <p:cNvPr id="4" name="Text 2"/>
          <p:cNvSpPr/>
          <p:nvPr/>
        </p:nvSpPr>
        <p:spPr>
          <a:xfrm>
            <a:off x="731520" y="1298448"/>
            <a:ext cx="10698480" cy="32004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Tested on real-world open-source repositories and deliberately vulnerable testbeds.</a:t>
            </a:r>
            <a:endParaRPr lang="en-US" sz="1300" dirty="0"/>
          </a:p>
        </p:txBody>
      </p:sp>
      <p:sp>
        <p:nvSpPr>
          <p:cNvPr id="5" name="Text 3"/>
          <p:cNvSpPr/>
          <p:nvPr/>
        </p:nvSpPr>
        <p:spPr>
          <a:xfrm>
            <a:off x="731520" y="6400800"/>
            <a:ext cx="8686800" cy="27432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VIBELENS // INDUSTRIAL SECURITY TELEMETRY</a:t>
            </a:r>
            <a:pPr indent="0" marL="0">
              <a:buNone/>
            </a:pPr>
            <a:r>
              <a:rPr lang="en-US" sz="900" dirty="0">
                <a:solidFill>
                  <a:srgbClr val="71717A"/>
                </a:solidFill>
                <a:latin typeface="Consolas" pitchFamily="34" charset="0"/>
                <a:ea typeface="Consolas" pitchFamily="34" charset="-122"/>
                <a:cs typeface="Consolas" pitchFamily="34" charset="-120"/>
              </a:rPr>
              <a:t>   •   100% LOCAL PRIVACY   •   ZERO CLOUD CODE UPLOADS   •   PURE NATIVE EDITABLE TEXT</a:t>
            </a:r>
            <a:endParaRPr lang="en-US" sz="900" dirty="0"/>
          </a:p>
        </p:txBody>
      </p:sp>
      <p:sp>
        <p:nvSpPr>
          <p:cNvPr id="6" name="Text 4"/>
          <p:cNvSpPr/>
          <p:nvPr/>
        </p:nvSpPr>
        <p:spPr>
          <a:xfrm>
            <a:off x="9601200" y="6400800"/>
            <a:ext cx="1828800" cy="27432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SLIDE 08 / 12</a:t>
            </a:r>
            <a:endParaRPr lang="en-US" sz="900" dirty="0"/>
          </a:p>
        </p:txBody>
      </p:sp>
      <p:sp>
        <p:nvSpPr>
          <p:cNvPr id="7" name="Shape 5"/>
          <p:cNvSpPr/>
          <p:nvPr/>
        </p:nvSpPr>
        <p:spPr>
          <a:xfrm>
            <a:off x="731520" y="1874520"/>
            <a:ext cx="2560320" cy="1463040"/>
          </a:xfrm>
          <a:prstGeom prst="rect">
            <a:avLst/>
          </a:prstGeom>
          <a:solidFill>
            <a:srgbClr val="111115"/>
          </a:solidFill>
          <a:ln w="12700">
            <a:solidFill>
              <a:srgbClr val="27272A"/>
            </a:solidFill>
            <a:prstDash val="solid"/>
          </a:ln>
        </p:spPr>
      </p:sp>
      <p:sp>
        <p:nvSpPr>
          <p:cNvPr id="8" name="Text 6"/>
          <p:cNvSpPr/>
          <p:nvPr/>
        </p:nvSpPr>
        <p:spPr>
          <a:xfrm>
            <a:off x="914400" y="2011680"/>
            <a:ext cx="2194560" cy="594360"/>
          </a:xfrm>
          <a:prstGeom prst="rect">
            <a:avLst/>
          </a:prstGeom>
          <a:noFill/>
          <a:ln/>
        </p:spPr>
        <p:txBody>
          <a:bodyPr wrap="square" lIns="0" tIns="0" rIns="0" bIns="0" rtlCol="0" anchor="ctr"/>
          <a:lstStyle/>
          <a:p>
            <a:pPr indent="0" marL="0">
              <a:buNone/>
            </a:pPr>
            <a:r>
              <a:rPr lang="en-US" sz="3400" b="1" dirty="0">
                <a:solidFill>
                  <a:srgbClr val="10B981"/>
                </a:solidFill>
                <a:latin typeface="Arial" pitchFamily="34" charset="0"/>
                <a:ea typeface="Arial" pitchFamily="34" charset="-122"/>
                <a:cs typeface="Arial" pitchFamily="34" charset="-120"/>
              </a:rPr>
              <a:t>88.6%</a:t>
            </a:r>
            <a:endParaRPr lang="en-US" sz="3400" dirty="0"/>
          </a:p>
        </p:txBody>
      </p:sp>
      <p:sp>
        <p:nvSpPr>
          <p:cNvPr id="9" name="Text 7"/>
          <p:cNvSpPr/>
          <p:nvPr/>
        </p:nvSpPr>
        <p:spPr>
          <a:xfrm>
            <a:off x="914400" y="2651760"/>
            <a:ext cx="2194560" cy="228600"/>
          </a:xfrm>
          <a:prstGeom prst="rect">
            <a:avLst/>
          </a:prstGeom>
          <a:noFill/>
          <a:ln/>
        </p:spPr>
        <p:txBody>
          <a:bodyPr wrap="square" lIns="0" tIns="0" rIns="0" bIns="0" rtlCol="0" anchor="ctr"/>
          <a:lstStyle/>
          <a:p>
            <a:pPr indent="0" marL="0">
              <a:buNone/>
            </a:pPr>
            <a:r>
              <a:rPr lang="en-US" sz="1000" b="1" dirty="0">
                <a:solidFill>
                  <a:srgbClr val="F4F4F5"/>
                </a:solidFill>
                <a:latin typeface="Consolas" pitchFamily="34" charset="0"/>
                <a:ea typeface="Consolas" pitchFamily="34" charset="-122"/>
                <a:cs typeface="Consolas" pitchFamily="34" charset="-120"/>
              </a:rPr>
              <a:t>NOISE REDUCTION</a:t>
            </a:r>
            <a:endParaRPr lang="en-US" sz="1000" dirty="0"/>
          </a:p>
        </p:txBody>
      </p:sp>
      <p:sp>
        <p:nvSpPr>
          <p:cNvPr id="10" name="Text 8"/>
          <p:cNvSpPr/>
          <p:nvPr/>
        </p:nvSpPr>
        <p:spPr>
          <a:xfrm>
            <a:off x="914400" y="2880360"/>
            <a:ext cx="2194560" cy="320040"/>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31 of 35 alerts silenced</a:t>
            </a:r>
            <a:endParaRPr lang="en-US" sz="900" dirty="0"/>
          </a:p>
        </p:txBody>
      </p:sp>
      <p:sp>
        <p:nvSpPr>
          <p:cNvPr id="11" name="Shape 9"/>
          <p:cNvSpPr/>
          <p:nvPr/>
        </p:nvSpPr>
        <p:spPr>
          <a:xfrm>
            <a:off x="3474720" y="1874520"/>
            <a:ext cx="2560320" cy="1463040"/>
          </a:xfrm>
          <a:prstGeom prst="rect">
            <a:avLst/>
          </a:prstGeom>
          <a:solidFill>
            <a:srgbClr val="111115"/>
          </a:solidFill>
          <a:ln w="12700">
            <a:solidFill>
              <a:srgbClr val="27272A"/>
            </a:solidFill>
            <a:prstDash val="solid"/>
          </a:ln>
        </p:spPr>
      </p:sp>
      <p:sp>
        <p:nvSpPr>
          <p:cNvPr id="12" name="Text 10"/>
          <p:cNvSpPr/>
          <p:nvPr/>
        </p:nvSpPr>
        <p:spPr>
          <a:xfrm>
            <a:off x="3657600" y="2011680"/>
            <a:ext cx="2194560" cy="594360"/>
          </a:xfrm>
          <a:prstGeom prst="rect">
            <a:avLst/>
          </a:prstGeom>
          <a:noFill/>
          <a:ln/>
        </p:spPr>
        <p:txBody>
          <a:bodyPr wrap="square" lIns="0" tIns="0" rIns="0" bIns="0" rtlCol="0" anchor="ctr"/>
          <a:lstStyle/>
          <a:p>
            <a:pPr indent="0" marL="0">
              <a:buNone/>
            </a:pPr>
            <a:r>
              <a:rPr lang="en-US" sz="3400" b="1" dirty="0">
                <a:solidFill>
                  <a:srgbClr val="06B6D4"/>
                </a:solidFill>
                <a:latin typeface="Arial" pitchFamily="34" charset="0"/>
                <a:ea typeface="Arial" pitchFamily="34" charset="-122"/>
                <a:cs typeface="Arial" pitchFamily="34" charset="-120"/>
              </a:rPr>
              <a:t>0</a:t>
            </a:r>
            <a:endParaRPr lang="en-US" sz="3400" dirty="0"/>
          </a:p>
        </p:txBody>
      </p:sp>
      <p:sp>
        <p:nvSpPr>
          <p:cNvPr id="13" name="Text 11"/>
          <p:cNvSpPr/>
          <p:nvPr/>
        </p:nvSpPr>
        <p:spPr>
          <a:xfrm>
            <a:off x="3657600" y="2651760"/>
            <a:ext cx="2194560" cy="228600"/>
          </a:xfrm>
          <a:prstGeom prst="rect">
            <a:avLst/>
          </a:prstGeom>
          <a:noFill/>
          <a:ln/>
        </p:spPr>
        <p:txBody>
          <a:bodyPr wrap="square" lIns="0" tIns="0" rIns="0" bIns="0" rtlCol="0" anchor="ctr"/>
          <a:lstStyle/>
          <a:p>
            <a:pPr indent="0" marL="0">
              <a:buNone/>
            </a:pPr>
            <a:r>
              <a:rPr lang="en-US" sz="1000" b="1" dirty="0">
                <a:solidFill>
                  <a:srgbClr val="F4F4F5"/>
                </a:solidFill>
                <a:latin typeface="Consolas" pitchFamily="34" charset="0"/>
                <a:ea typeface="Consolas" pitchFamily="34" charset="-122"/>
                <a:cs typeface="Consolas" pitchFamily="34" charset="-120"/>
              </a:rPr>
              <a:t>FALSE NEGATIVES</a:t>
            </a:r>
            <a:endParaRPr lang="en-US" sz="1000" dirty="0"/>
          </a:p>
        </p:txBody>
      </p:sp>
      <p:sp>
        <p:nvSpPr>
          <p:cNvPr id="14" name="Text 12"/>
          <p:cNvSpPr/>
          <p:nvPr/>
        </p:nvSpPr>
        <p:spPr>
          <a:xfrm>
            <a:off x="3657600" y="2880360"/>
            <a:ext cx="2194560" cy="320040"/>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On static execution paths</a:t>
            </a:r>
            <a:endParaRPr lang="en-US" sz="900" dirty="0"/>
          </a:p>
        </p:txBody>
      </p:sp>
      <p:sp>
        <p:nvSpPr>
          <p:cNvPr id="15" name="Shape 13"/>
          <p:cNvSpPr/>
          <p:nvPr/>
        </p:nvSpPr>
        <p:spPr>
          <a:xfrm>
            <a:off x="6217920" y="1874520"/>
            <a:ext cx="2560320" cy="1463040"/>
          </a:xfrm>
          <a:prstGeom prst="rect">
            <a:avLst/>
          </a:prstGeom>
          <a:solidFill>
            <a:srgbClr val="111115"/>
          </a:solidFill>
          <a:ln w="12700">
            <a:solidFill>
              <a:srgbClr val="27272A"/>
            </a:solidFill>
            <a:prstDash val="solid"/>
          </a:ln>
        </p:spPr>
      </p:sp>
      <p:sp>
        <p:nvSpPr>
          <p:cNvPr id="16" name="Text 14"/>
          <p:cNvSpPr/>
          <p:nvPr/>
        </p:nvSpPr>
        <p:spPr>
          <a:xfrm>
            <a:off x="6400800" y="2011680"/>
            <a:ext cx="2194560" cy="5943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12ms</a:t>
            </a:r>
            <a:endParaRPr lang="en-US" sz="3400" dirty="0"/>
          </a:p>
        </p:txBody>
      </p:sp>
      <p:sp>
        <p:nvSpPr>
          <p:cNvPr id="17" name="Text 15"/>
          <p:cNvSpPr/>
          <p:nvPr/>
        </p:nvSpPr>
        <p:spPr>
          <a:xfrm>
            <a:off x="6400800" y="2651760"/>
            <a:ext cx="2194560" cy="228600"/>
          </a:xfrm>
          <a:prstGeom prst="rect">
            <a:avLst/>
          </a:prstGeom>
          <a:noFill/>
          <a:ln/>
        </p:spPr>
        <p:txBody>
          <a:bodyPr wrap="square" lIns="0" tIns="0" rIns="0" bIns="0" rtlCol="0" anchor="ctr"/>
          <a:lstStyle/>
          <a:p>
            <a:pPr indent="0" marL="0">
              <a:buNone/>
            </a:pPr>
            <a:r>
              <a:rPr lang="en-US" sz="1000" b="1" dirty="0">
                <a:solidFill>
                  <a:srgbClr val="F4F4F5"/>
                </a:solidFill>
                <a:latin typeface="Consolas" pitchFamily="34" charset="0"/>
                <a:ea typeface="Consolas" pitchFamily="34" charset="-122"/>
                <a:cs typeface="Consolas" pitchFamily="34" charset="-120"/>
              </a:rPr>
              <a:t>ANALYSIS LATENCY</a:t>
            </a:r>
            <a:endParaRPr lang="en-US" sz="1000" dirty="0"/>
          </a:p>
        </p:txBody>
      </p:sp>
      <p:sp>
        <p:nvSpPr>
          <p:cNvPr id="18" name="Text 16"/>
          <p:cNvSpPr/>
          <p:nvPr/>
        </p:nvSpPr>
        <p:spPr>
          <a:xfrm>
            <a:off x="6400800" y="2880360"/>
            <a:ext cx="2194560" cy="320040"/>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AST traversal on-device</a:t>
            </a:r>
            <a:endParaRPr lang="en-US" sz="900" dirty="0"/>
          </a:p>
        </p:txBody>
      </p:sp>
      <p:sp>
        <p:nvSpPr>
          <p:cNvPr id="19" name="Shape 17"/>
          <p:cNvSpPr/>
          <p:nvPr/>
        </p:nvSpPr>
        <p:spPr>
          <a:xfrm>
            <a:off x="8961120" y="1874520"/>
            <a:ext cx="2560320" cy="1463040"/>
          </a:xfrm>
          <a:prstGeom prst="rect">
            <a:avLst/>
          </a:prstGeom>
          <a:solidFill>
            <a:srgbClr val="111115"/>
          </a:solidFill>
          <a:ln w="12700">
            <a:solidFill>
              <a:srgbClr val="27272A"/>
            </a:solidFill>
            <a:prstDash val="solid"/>
          </a:ln>
        </p:spPr>
      </p:sp>
      <p:sp>
        <p:nvSpPr>
          <p:cNvPr id="20" name="Text 18"/>
          <p:cNvSpPr/>
          <p:nvPr/>
        </p:nvSpPr>
        <p:spPr>
          <a:xfrm>
            <a:off x="9144000" y="2011680"/>
            <a:ext cx="2194560" cy="594360"/>
          </a:xfrm>
          <a:prstGeom prst="rect">
            <a:avLst/>
          </a:prstGeom>
          <a:noFill/>
          <a:ln/>
        </p:spPr>
        <p:txBody>
          <a:bodyPr wrap="square" lIns="0" tIns="0" rIns="0" bIns="0" rtlCol="0" anchor="ctr"/>
          <a:lstStyle/>
          <a:p>
            <a:pPr indent="0" marL="0">
              <a:buNone/>
            </a:pPr>
            <a:r>
              <a:rPr lang="en-US" sz="3400" b="1" dirty="0">
                <a:solidFill>
                  <a:srgbClr val="10B981"/>
                </a:solidFill>
                <a:latin typeface="Arial" pitchFamily="34" charset="0"/>
                <a:ea typeface="Arial" pitchFamily="34" charset="-122"/>
                <a:cs typeface="Arial" pitchFamily="34" charset="-120"/>
              </a:rPr>
              <a:t>100%</a:t>
            </a:r>
            <a:endParaRPr lang="en-US" sz="3400" dirty="0"/>
          </a:p>
        </p:txBody>
      </p:sp>
      <p:sp>
        <p:nvSpPr>
          <p:cNvPr id="21" name="Text 19"/>
          <p:cNvSpPr/>
          <p:nvPr/>
        </p:nvSpPr>
        <p:spPr>
          <a:xfrm>
            <a:off x="9144000" y="2651760"/>
            <a:ext cx="2194560" cy="228600"/>
          </a:xfrm>
          <a:prstGeom prst="rect">
            <a:avLst/>
          </a:prstGeom>
          <a:noFill/>
          <a:ln/>
        </p:spPr>
        <p:txBody>
          <a:bodyPr wrap="square" lIns="0" tIns="0" rIns="0" bIns="0" rtlCol="0" anchor="ctr"/>
          <a:lstStyle/>
          <a:p>
            <a:pPr indent="0" marL="0">
              <a:buNone/>
            </a:pPr>
            <a:r>
              <a:rPr lang="en-US" sz="1000" b="1" dirty="0">
                <a:solidFill>
                  <a:srgbClr val="F4F4F5"/>
                </a:solidFill>
                <a:latin typeface="Consolas" pitchFamily="34" charset="0"/>
                <a:ea typeface="Consolas" pitchFamily="34" charset="-122"/>
                <a:cs typeface="Consolas" pitchFamily="34" charset="-120"/>
              </a:rPr>
              <a:t>LOCAL PRIVACY</a:t>
            </a:r>
            <a:endParaRPr lang="en-US" sz="1000" dirty="0"/>
          </a:p>
        </p:txBody>
      </p:sp>
      <p:sp>
        <p:nvSpPr>
          <p:cNvPr id="22" name="Text 20"/>
          <p:cNvSpPr/>
          <p:nvPr/>
        </p:nvSpPr>
        <p:spPr>
          <a:xfrm>
            <a:off x="9144000" y="2880360"/>
            <a:ext cx="2194560" cy="320040"/>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0 source code bytes uploaded</a:t>
            </a:r>
            <a:endParaRPr lang="en-US" sz="900" dirty="0"/>
          </a:p>
        </p:txBody>
      </p:sp>
      <p:sp>
        <p:nvSpPr>
          <p:cNvPr id="23" name="Shape 21"/>
          <p:cNvSpPr/>
          <p:nvPr/>
        </p:nvSpPr>
        <p:spPr>
          <a:xfrm>
            <a:off x="731520" y="3520440"/>
            <a:ext cx="10698480" cy="2606040"/>
          </a:xfrm>
          <a:prstGeom prst="rect">
            <a:avLst/>
          </a:prstGeom>
          <a:solidFill>
            <a:srgbClr val="111115"/>
          </a:solidFill>
          <a:ln w="12700">
            <a:solidFill>
              <a:srgbClr val="27272A"/>
            </a:solidFill>
            <a:prstDash val="solid"/>
          </a:ln>
        </p:spPr>
      </p:sp>
      <p:sp>
        <p:nvSpPr>
          <p:cNvPr id="24" name="Text 22"/>
          <p:cNvSpPr/>
          <p:nvPr/>
        </p:nvSpPr>
        <p:spPr>
          <a:xfrm>
            <a:off x="1005840" y="3703320"/>
            <a:ext cx="10058400" cy="22860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CONTROLLED BENCHMARK COMPARISON</a:t>
            </a:r>
            <a:endParaRPr lang="en-US" sz="1100" dirty="0"/>
          </a:p>
        </p:txBody>
      </p:sp>
      <p:sp>
        <p:nvSpPr>
          <p:cNvPr id="25" name="Text 23"/>
          <p:cNvSpPr/>
          <p:nvPr/>
        </p:nvSpPr>
        <p:spPr>
          <a:xfrm>
            <a:off x="1005840" y="4023360"/>
            <a:ext cx="2377440" cy="228600"/>
          </a:xfrm>
          <a:prstGeom prst="rect">
            <a:avLst/>
          </a:prstGeom>
          <a:noFill/>
          <a:ln/>
        </p:spPr>
        <p:txBody>
          <a:bodyPr wrap="square" lIns="0" tIns="0" rIns="0" bIns="0" rtlCol="0" anchor="ctr"/>
          <a:lstStyle/>
          <a:p>
            <a:pPr indent="0" marL="0">
              <a:buNone/>
            </a:pPr>
            <a:r>
              <a:rPr lang="en-US" sz="900" b="1" dirty="0">
                <a:solidFill>
                  <a:srgbClr val="71717A"/>
                </a:solidFill>
                <a:latin typeface="Consolas" pitchFamily="34" charset="0"/>
                <a:ea typeface="Consolas" pitchFamily="34" charset="-122"/>
                <a:cs typeface="Consolas" pitchFamily="34" charset="-120"/>
              </a:rPr>
              <a:t>BENCHMARK DIMENSION</a:t>
            </a:r>
            <a:endParaRPr lang="en-US" sz="900" dirty="0"/>
          </a:p>
        </p:txBody>
      </p:sp>
      <p:sp>
        <p:nvSpPr>
          <p:cNvPr id="26" name="Text 24"/>
          <p:cNvSpPr/>
          <p:nvPr/>
        </p:nvSpPr>
        <p:spPr>
          <a:xfrm>
            <a:off x="3566160" y="4023360"/>
            <a:ext cx="2377440" cy="228600"/>
          </a:xfrm>
          <a:prstGeom prst="rect">
            <a:avLst/>
          </a:prstGeom>
          <a:noFill/>
          <a:ln/>
        </p:spPr>
        <p:txBody>
          <a:bodyPr wrap="square" lIns="0" tIns="0" rIns="0" bIns="0" rtlCol="0" anchor="ctr"/>
          <a:lstStyle/>
          <a:p>
            <a:pPr indent="0" marL="0">
              <a:buNone/>
            </a:pPr>
            <a:r>
              <a:rPr lang="en-US" sz="900" b="1" dirty="0">
                <a:solidFill>
                  <a:srgbClr val="71717A"/>
                </a:solidFill>
                <a:latin typeface="Consolas" pitchFamily="34" charset="0"/>
                <a:ea typeface="Consolas" pitchFamily="34" charset="-122"/>
                <a:cs typeface="Consolas" pitchFamily="34" charset="-120"/>
              </a:rPr>
              <a:t>STANDARD NPM AUDIT</a:t>
            </a:r>
            <a:endParaRPr lang="en-US" sz="900" dirty="0"/>
          </a:p>
        </p:txBody>
      </p:sp>
      <p:sp>
        <p:nvSpPr>
          <p:cNvPr id="27" name="Text 25"/>
          <p:cNvSpPr/>
          <p:nvPr/>
        </p:nvSpPr>
        <p:spPr>
          <a:xfrm>
            <a:off x="6126480" y="4023360"/>
            <a:ext cx="2377440" cy="228600"/>
          </a:xfrm>
          <a:prstGeom prst="rect">
            <a:avLst/>
          </a:prstGeom>
          <a:noFill/>
          <a:ln/>
        </p:spPr>
        <p:txBody>
          <a:bodyPr wrap="square" lIns="0" tIns="0" rIns="0" bIns="0" rtlCol="0" anchor="ctr"/>
          <a:lstStyle/>
          <a:p>
            <a:pPr indent="0" marL="0">
              <a:buNone/>
            </a:pPr>
            <a:r>
              <a:rPr lang="en-US" sz="900" b="1" dirty="0">
                <a:solidFill>
                  <a:srgbClr val="71717A"/>
                </a:solidFill>
                <a:latin typeface="Consolas" pitchFamily="34" charset="0"/>
                <a:ea typeface="Consolas" pitchFamily="34" charset="-122"/>
                <a:cs typeface="Consolas" pitchFamily="34" charset="-120"/>
              </a:rPr>
              <a:t>VIBELENS REACHABLESEC</a:t>
            </a:r>
            <a:endParaRPr lang="en-US" sz="900" dirty="0"/>
          </a:p>
        </p:txBody>
      </p:sp>
      <p:sp>
        <p:nvSpPr>
          <p:cNvPr id="28" name="Text 26"/>
          <p:cNvSpPr/>
          <p:nvPr/>
        </p:nvSpPr>
        <p:spPr>
          <a:xfrm>
            <a:off x="8686800" y="4023360"/>
            <a:ext cx="2377440" cy="228600"/>
          </a:xfrm>
          <a:prstGeom prst="rect">
            <a:avLst/>
          </a:prstGeom>
          <a:noFill/>
          <a:ln/>
        </p:spPr>
        <p:txBody>
          <a:bodyPr wrap="square" lIns="0" tIns="0" rIns="0" bIns="0" rtlCol="0" anchor="ctr"/>
          <a:lstStyle/>
          <a:p>
            <a:pPr indent="0" marL="0">
              <a:buNone/>
            </a:pPr>
            <a:r>
              <a:rPr lang="en-US" sz="900" b="1" dirty="0">
                <a:solidFill>
                  <a:srgbClr val="71717A"/>
                </a:solidFill>
                <a:latin typeface="Consolas" pitchFamily="34" charset="0"/>
                <a:ea typeface="Consolas" pitchFamily="34" charset="-122"/>
                <a:cs typeface="Consolas" pitchFamily="34" charset="-120"/>
              </a:rPr>
              <a:t>DEVELOPER IMPACT</a:t>
            </a:r>
            <a:endParaRPr lang="en-US" sz="900" dirty="0"/>
          </a:p>
        </p:txBody>
      </p:sp>
      <p:sp>
        <p:nvSpPr>
          <p:cNvPr id="29" name="Text 27"/>
          <p:cNvSpPr/>
          <p:nvPr/>
        </p:nvSpPr>
        <p:spPr>
          <a:xfrm>
            <a:off x="1005840" y="4343400"/>
            <a:ext cx="2377440" cy="320040"/>
          </a:xfrm>
          <a:prstGeom prst="rect">
            <a:avLst/>
          </a:prstGeom>
          <a:noFill/>
          <a:ln/>
        </p:spPr>
        <p:txBody>
          <a:bodyPr wrap="square" lIns="0" tIns="0" rIns="0" bIns="0" rtlCol="0" anchor="ctr"/>
          <a:lstStyle/>
          <a:p>
            <a:pPr indent="0" marL="0">
              <a:buNone/>
            </a:pPr>
            <a:r>
              <a:rPr lang="en-US" sz="1100" dirty="0">
                <a:solidFill>
                  <a:srgbClr val="F4F4F5"/>
                </a:solidFill>
                <a:latin typeface="Calibri" pitchFamily="34" charset="0"/>
                <a:ea typeface="Calibri" pitchFamily="34" charset="-122"/>
                <a:cs typeface="Calibri" pitchFamily="34" charset="-120"/>
              </a:rPr>
              <a:t>Reported CVE Count</a:t>
            </a:r>
            <a:endParaRPr lang="en-US" sz="1100" dirty="0"/>
          </a:p>
        </p:txBody>
      </p:sp>
      <p:sp>
        <p:nvSpPr>
          <p:cNvPr id="30" name="Text 28"/>
          <p:cNvSpPr/>
          <p:nvPr/>
        </p:nvSpPr>
        <p:spPr>
          <a:xfrm>
            <a:off x="3566160" y="4343400"/>
            <a:ext cx="2377440" cy="320040"/>
          </a:xfrm>
          <a:prstGeom prst="rect">
            <a:avLst/>
          </a:prstGeom>
          <a:noFill/>
          <a:ln/>
        </p:spPr>
        <p:txBody>
          <a:bodyPr wrap="square" lIns="0" tIns="0" rIns="0" bIns="0" rtlCol="0" anchor="ctr"/>
          <a:lstStyle/>
          <a:p>
            <a:pPr indent="0" marL="0">
              <a:buNone/>
            </a:pPr>
            <a:r>
              <a:rPr lang="en-US" sz="1100" dirty="0">
                <a:solidFill>
                  <a:srgbClr val="EF4444"/>
                </a:solidFill>
                <a:latin typeface="Consolas" pitchFamily="34" charset="0"/>
                <a:ea typeface="Consolas" pitchFamily="34" charset="-122"/>
                <a:cs typeface="Consolas" pitchFamily="34" charset="-120"/>
              </a:rPr>
              <a:t>36 Security Alerts</a:t>
            </a:r>
            <a:endParaRPr lang="en-US" sz="1100" dirty="0"/>
          </a:p>
        </p:txBody>
      </p:sp>
      <p:sp>
        <p:nvSpPr>
          <p:cNvPr id="31" name="Text 29"/>
          <p:cNvSpPr/>
          <p:nvPr/>
        </p:nvSpPr>
        <p:spPr>
          <a:xfrm>
            <a:off x="6126480" y="4343400"/>
            <a:ext cx="2377440" cy="320040"/>
          </a:xfrm>
          <a:prstGeom prst="rect">
            <a:avLst/>
          </a:prstGeom>
          <a:noFill/>
          <a:ln/>
        </p:spPr>
        <p:txBody>
          <a:bodyPr wrap="square" lIns="0" tIns="0" rIns="0" bIns="0" rtlCol="0" anchor="ctr"/>
          <a:lstStyle/>
          <a:p>
            <a:pPr indent="0" marL="0">
              <a:buNone/>
            </a:pPr>
            <a:r>
              <a:rPr lang="en-US" sz="1100" b="1" dirty="0">
                <a:solidFill>
                  <a:srgbClr val="10B981"/>
                </a:solidFill>
                <a:latin typeface="Consolas" pitchFamily="34" charset="0"/>
                <a:ea typeface="Consolas" pitchFamily="34" charset="-122"/>
                <a:cs typeface="Consolas" pitchFamily="34" charset="-120"/>
              </a:rPr>
              <a:t>2 Reachable Exploits</a:t>
            </a:r>
            <a:endParaRPr lang="en-US" sz="1100" dirty="0"/>
          </a:p>
        </p:txBody>
      </p:sp>
      <p:sp>
        <p:nvSpPr>
          <p:cNvPr id="32" name="Text 30"/>
          <p:cNvSpPr/>
          <p:nvPr/>
        </p:nvSpPr>
        <p:spPr>
          <a:xfrm>
            <a:off x="8686800" y="4343400"/>
            <a:ext cx="2377440" cy="32004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94.4% Triage Drop</a:t>
            </a:r>
            <a:endParaRPr lang="en-US" sz="1100" dirty="0"/>
          </a:p>
        </p:txBody>
      </p:sp>
      <p:sp>
        <p:nvSpPr>
          <p:cNvPr id="33" name="Text 31"/>
          <p:cNvSpPr/>
          <p:nvPr/>
        </p:nvSpPr>
        <p:spPr>
          <a:xfrm>
            <a:off x="1005840" y="4754880"/>
            <a:ext cx="2377440" cy="320040"/>
          </a:xfrm>
          <a:prstGeom prst="rect">
            <a:avLst/>
          </a:prstGeom>
          <a:noFill/>
          <a:ln/>
        </p:spPr>
        <p:txBody>
          <a:bodyPr wrap="square" lIns="0" tIns="0" rIns="0" bIns="0" rtlCol="0" anchor="ctr"/>
          <a:lstStyle/>
          <a:p>
            <a:pPr indent="0" marL="0">
              <a:buNone/>
            </a:pPr>
            <a:r>
              <a:rPr lang="en-US" sz="1100" dirty="0">
                <a:solidFill>
                  <a:srgbClr val="F4F4F5"/>
                </a:solidFill>
                <a:latin typeface="Calibri" pitchFamily="34" charset="0"/>
                <a:ea typeface="Calibri" pitchFamily="34" charset="-122"/>
                <a:cs typeface="Calibri" pitchFamily="34" charset="-120"/>
              </a:rPr>
              <a:t>Triage Investigation Time</a:t>
            </a:r>
            <a:endParaRPr lang="en-US" sz="1100" dirty="0"/>
          </a:p>
        </p:txBody>
      </p:sp>
      <p:sp>
        <p:nvSpPr>
          <p:cNvPr id="34" name="Text 32"/>
          <p:cNvSpPr/>
          <p:nvPr/>
        </p:nvSpPr>
        <p:spPr>
          <a:xfrm>
            <a:off x="3566160" y="4754880"/>
            <a:ext cx="2377440" cy="320040"/>
          </a:xfrm>
          <a:prstGeom prst="rect">
            <a:avLst/>
          </a:prstGeom>
          <a:noFill/>
          <a:ln/>
        </p:spPr>
        <p:txBody>
          <a:bodyPr wrap="square" lIns="0" tIns="0" rIns="0" bIns="0" rtlCol="0" anchor="ctr"/>
          <a:lstStyle/>
          <a:p>
            <a:pPr indent="0" marL="0">
              <a:buNone/>
            </a:pPr>
            <a:r>
              <a:rPr lang="en-US" sz="1100" dirty="0">
                <a:solidFill>
                  <a:srgbClr val="EF4444"/>
                </a:solidFill>
                <a:latin typeface="Consolas" pitchFamily="34" charset="0"/>
                <a:ea typeface="Consolas" pitchFamily="34" charset="-122"/>
                <a:cs typeface="Consolas" pitchFamily="34" charset="-120"/>
              </a:rPr>
              <a:t>~140 Minutes Manual</a:t>
            </a:r>
            <a:endParaRPr lang="en-US" sz="1100" dirty="0"/>
          </a:p>
        </p:txBody>
      </p:sp>
      <p:sp>
        <p:nvSpPr>
          <p:cNvPr id="35" name="Text 33"/>
          <p:cNvSpPr/>
          <p:nvPr/>
        </p:nvSpPr>
        <p:spPr>
          <a:xfrm>
            <a:off x="6126480" y="4754880"/>
            <a:ext cx="2377440" cy="320040"/>
          </a:xfrm>
          <a:prstGeom prst="rect">
            <a:avLst/>
          </a:prstGeom>
          <a:noFill/>
          <a:ln/>
        </p:spPr>
        <p:txBody>
          <a:bodyPr wrap="square" lIns="0" tIns="0" rIns="0" bIns="0" rtlCol="0" anchor="ctr"/>
          <a:lstStyle/>
          <a:p>
            <a:pPr indent="0" marL="0">
              <a:buNone/>
            </a:pPr>
            <a:r>
              <a:rPr lang="en-US" sz="1100" b="1" dirty="0">
                <a:solidFill>
                  <a:srgbClr val="10B981"/>
                </a:solidFill>
                <a:latin typeface="Consolas" pitchFamily="34" charset="0"/>
                <a:ea typeface="Consolas" pitchFamily="34" charset="-122"/>
                <a:cs typeface="Consolas" pitchFamily="34" charset="-120"/>
              </a:rPr>
              <a:t>&lt; 2 Minutes Automated</a:t>
            </a:r>
            <a:endParaRPr lang="en-US" sz="1100" dirty="0"/>
          </a:p>
        </p:txBody>
      </p:sp>
      <p:sp>
        <p:nvSpPr>
          <p:cNvPr id="36" name="Text 34"/>
          <p:cNvSpPr/>
          <p:nvPr/>
        </p:nvSpPr>
        <p:spPr>
          <a:xfrm>
            <a:off x="8686800" y="4754880"/>
            <a:ext cx="2377440" cy="32004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70x Faster Resolution</a:t>
            </a:r>
            <a:endParaRPr lang="en-US" sz="1100" dirty="0"/>
          </a:p>
        </p:txBody>
      </p:sp>
      <p:sp>
        <p:nvSpPr>
          <p:cNvPr id="37" name="Text 35"/>
          <p:cNvSpPr/>
          <p:nvPr/>
        </p:nvSpPr>
        <p:spPr>
          <a:xfrm>
            <a:off x="1005840" y="5166360"/>
            <a:ext cx="2377440" cy="320040"/>
          </a:xfrm>
          <a:prstGeom prst="rect">
            <a:avLst/>
          </a:prstGeom>
          <a:noFill/>
          <a:ln/>
        </p:spPr>
        <p:txBody>
          <a:bodyPr wrap="square" lIns="0" tIns="0" rIns="0" bIns="0" rtlCol="0" anchor="ctr"/>
          <a:lstStyle/>
          <a:p>
            <a:pPr indent="0" marL="0">
              <a:buNone/>
            </a:pPr>
            <a:r>
              <a:rPr lang="en-US" sz="1100" dirty="0">
                <a:solidFill>
                  <a:srgbClr val="F4F4F5"/>
                </a:solidFill>
                <a:latin typeface="Calibri" pitchFamily="34" charset="0"/>
                <a:ea typeface="Calibri" pitchFamily="34" charset="-122"/>
                <a:cs typeface="Calibri" pitchFamily="34" charset="-120"/>
              </a:rPr>
              <a:t>Developer Behavior</a:t>
            </a:r>
            <a:endParaRPr lang="en-US" sz="1100" dirty="0"/>
          </a:p>
        </p:txBody>
      </p:sp>
      <p:sp>
        <p:nvSpPr>
          <p:cNvPr id="38" name="Text 36"/>
          <p:cNvSpPr/>
          <p:nvPr/>
        </p:nvSpPr>
        <p:spPr>
          <a:xfrm>
            <a:off x="3566160" y="5166360"/>
            <a:ext cx="2377440" cy="320040"/>
          </a:xfrm>
          <a:prstGeom prst="rect">
            <a:avLst/>
          </a:prstGeom>
          <a:noFill/>
          <a:ln/>
        </p:spPr>
        <p:txBody>
          <a:bodyPr wrap="square" lIns="0" tIns="0" rIns="0" bIns="0" rtlCol="0" anchor="ctr"/>
          <a:lstStyle/>
          <a:p>
            <a:pPr indent="0" marL="0">
              <a:buNone/>
            </a:pPr>
            <a:r>
              <a:rPr lang="en-US" sz="1100" dirty="0">
                <a:solidFill>
                  <a:srgbClr val="EF4444"/>
                </a:solidFill>
                <a:latin typeface="Consolas" pitchFamily="34" charset="0"/>
                <a:ea typeface="Consolas" pitchFamily="34" charset="-122"/>
                <a:cs typeface="Consolas" pitchFamily="34" charset="-120"/>
              </a:rPr>
              <a:t>Ignored / audit --audit-level</a:t>
            </a:r>
            <a:endParaRPr lang="en-US" sz="1100" dirty="0"/>
          </a:p>
        </p:txBody>
      </p:sp>
      <p:sp>
        <p:nvSpPr>
          <p:cNvPr id="39" name="Text 37"/>
          <p:cNvSpPr/>
          <p:nvPr/>
        </p:nvSpPr>
        <p:spPr>
          <a:xfrm>
            <a:off x="6126480" y="5166360"/>
            <a:ext cx="2377440" cy="320040"/>
          </a:xfrm>
          <a:prstGeom prst="rect">
            <a:avLst/>
          </a:prstGeom>
          <a:noFill/>
          <a:ln/>
        </p:spPr>
        <p:txBody>
          <a:bodyPr wrap="square" lIns="0" tIns="0" rIns="0" bIns="0" rtlCol="0" anchor="ctr"/>
          <a:lstStyle/>
          <a:p>
            <a:pPr indent="0" marL="0">
              <a:buNone/>
            </a:pPr>
            <a:r>
              <a:rPr lang="en-US" sz="1100" b="1" dirty="0">
                <a:solidFill>
                  <a:srgbClr val="10B981"/>
                </a:solidFill>
                <a:latin typeface="Consolas" pitchFamily="34" charset="0"/>
                <a:ea typeface="Consolas" pitchFamily="34" charset="-122"/>
                <a:cs typeface="Consolas" pitchFamily="34" charset="-120"/>
              </a:rPr>
              <a:t>1-Click PR Remediation</a:t>
            </a:r>
            <a:endParaRPr lang="en-US" sz="1100" dirty="0"/>
          </a:p>
        </p:txBody>
      </p:sp>
      <p:sp>
        <p:nvSpPr>
          <p:cNvPr id="40" name="Text 38"/>
          <p:cNvSpPr/>
          <p:nvPr/>
        </p:nvSpPr>
        <p:spPr>
          <a:xfrm>
            <a:off x="8686800" y="5166360"/>
            <a:ext cx="2377440" cy="32004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True Security Hygiene</a:t>
            </a:r>
            <a:endParaRPr lang="en-US" sz="1100" dirty="0"/>
          </a:p>
        </p:txBody>
      </p:sp>
      <p:sp>
        <p:nvSpPr>
          <p:cNvPr id="41" name="Text 39"/>
          <p:cNvSpPr/>
          <p:nvPr/>
        </p:nvSpPr>
        <p:spPr>
          <a:xfrm>
            <a:off x="1005840" y="5577840"/>
            <a:ext cx="2377440" cy="320040"/>
          </a:xfrm>
          <a:prstGeom prst="rect">
            <a:avLst/>
          </a:prstGeom>
          <a:noFill/>
          <a:ln/>
        </p:spPr>
        <p:txBody>
          <a:bodyPr wrap="square" lIns="0" tIns="0" rIns="0" bIns="0" rtlCol="0" anchor="ctr"/>
          <a:lstStyle/>
          <a:p>
            <a:pPr indent="0" marL="0">
              <a:buNone/>
            </a:pPr>
            <a:r>
              <a:rPr lang="en-US" sz="1100" dirty="0">
                <a:solidFill>
                  <a:srgbClr val="F4F4F5"/>
                </a:solidFill>
                <a:latin typeface="Calibri" pitchFamily="34" charset="0"/>
                <a:ea typeface="Calibri" pitchFamily="34" charset="-122"/>
                <a:cs typeface="Calibri" pitchFamily="34" charset="-120"/>
              </a:rPr>
              <a:t>Local Test Verification Gate</a:t>
            </a:r>
            <a:endParaRPr lang="en-US" sz="1100" dirty="0"/>
          </a:p>
        </p:txBody>
      </p:sp>
      <p:sp>
        <p:nvSpPr>
          <p:cNvPr id="42" name="Text 40"/>
          <p:cNvSpPr/>
          <p:nvPr/>
        </p:nvSpPr>
        <p:spPr>
          <a:xfrm>
            <a:off x="3566160" y="5577840"/>
            <a:ext cx="2377440" cy="320040"/>
          </a:xfrm>
          <a:prstGeom prst="rect">
            <a:avLst/>
          </a:prstGeom>
          <a:noFill/>
          <a:ln/>
        </p:spPr>
        <p:txBody>
          <a:bodyPr wrap="square" lIns="0" tIns="0" rIns="0" bIns="0" rtlCol="0" anchor="ctr"/>
          <a:lstStyle/>
          <a:p>
            <a:pPr indent="0" marL="0">
              <a:buNone/>
            </a:pPr>
            <a:r>
              <a:rPr lang="en-US" sz="1100" dirty="0">
                <a:solidFill>
                  <a:srgbClr val="EF4444"/>
                </a:solidFill>
                <a:latin typeface="Consolas" pitchFamily="34" charset="0"/>
                <a:ea typeface="Consolas" pitchFamily="34" charset="-122"/>
                <a:cs typeface="Consolas" pitchFamily="34" charset="-120"/>
              </a:rPr>
              <a:t>None (Blind merge)</a:t>
            </a:r>
            <a:endParaRPr lang="en-US" sz="1100" dirty="0"/>
          </a:p>
        </p:txBody>
      </p:sp>
      <p:sp>
        <p:nvSpPr>
          <p:cNvPr id="43" name="Text 41"/>
          <p:cNvSpPr/>
          <p:nvPr/>
        </p:nvSpPr>
        <p:spPr>
          <a:xfrm>
            <a:off x="6126480" y="5577840"/>
            <a:ext cx="2377440" cy="320040"/>
          </a:xfrm>
          <a:prstGeom prst="rect">
            <a:avLst/>
          </a:prstGeom>
          <a:noFill/>
          <a:ln/>
        </p:spPr>
        <p:txBody>
          <a:bodyPr wrap="square" lIns="0" tIns="0" rIns="0" bIns="0" rtlCol="0" anchor="ctr"/>
          <a:lstStyle/>
          <a:p>
            <a:pPr indent="0" marL="0">
              <a:buNone/>
            </a:pPr>
            <a:r>
              <a:rPr lang="en-US" sz="1100" b="1" dirty="0">
                <a:solidFill>
                  <a:srgbClr val="10B981"/>
                </a:solidFill>
                <a:latin typeface="Consolas" pitchFamily="34" charset="0"/>
                <a:ea typeface="Consolas" pitchFamily="34" charset="-122"/>
                <a:cs typeface="Consolas" pitchFamily="34" charset="-120"/>
              </a:rPr>
              <a:t>18/18 Tests Green</a:t>
            </a:r>
            <a:endParaRPr lang="en-US" sz="1100" dirty="0"/>
          </a:p>
        </p:txBody>
      </p:sp>
      <p:sp>
        <p:nvSpPr>
          <p:cNvPr id="44" name="Text 42"/>
          <p:cNvSpPr/>
          <p:nvPr/>
        </p:nvSpPr>
        <p:spPr>
          <a:xfrm>
            <a:off x="8686800" y="5577840"/>
            <a:ext cx="2377440" cy="32004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Zero Broken Production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411480"/>
            <a:ext cx="1069848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[TARGET AUDIENCE // MARKET FIT]</a:t>
            </a:r>
            <a:pPr indent="0" marL="0">
              <a:buNone/>
            </a:pPr>
            <a:r>
              <a:rPr lang="en-US" sz="1000" dirty="0">
                <a:solidFill>
                  <a:srgbClr val="71717A"/>
                </a:solidFill>
                <a:latin typeface="Consolas" pitchFamily="34" charset="0"/>
                <a:ea typeface="Consolas" pitchFamily="34" charset="-122"/>
                <a:cs typeface="Consolas" pitchFamily="34" charset="-120"/>
              </a:rPr>
              <a:t> // PRASUNEX 2026 TELEMETRY</a:t>
            </a:r>
            <a:endParaRPr lang="en-US" sz="1000" dirty="0"/>
          </a:p>
        </p:txBody>
      </p:sp>
      <p:sp>
        <p:nvSpPr>
          <p:cNvPr id="3" name="Text 1"/>
          <p:cNvSpPr/>
          <p:nvPr/>
        </p:nvSpPr>
        <p:spPr>
          <a:xfrm>
            <a:off x="731520" y="731520"/>
            <a:ext cx="1069848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Built for the Generative Era: Vibe Coders &amp; Lean Teams</a:t>
            </a:r>
            <a:endParaRPr lang="en-US" sz="2400" dirty="0"/>
          </a:p>
        </p:txBody>
      </p:sp>
      <p:sp>
        <p:nvSpPr>
          <p:cNvPr id="4" name="Text 2"/>
          <p:cNvSpPr/>
          <p:nvPr/>
        </p:nvSpPr>
        <p:spPr>
          <a:xfrm>
            <a:off x="731520" y="1298448"/>
            <a:ext cx="10698480" cy="32004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Protecting the fastest builders from the unintended consequences of AI velocity.</a:t>
            </a:r>
            <a:endParaRPr lang="en-US" sz="1300" dirty="0"/>
          </a:p>
        </p:txBody>
      </p:sp>
      <p:sp>
        <p:nvSpPr>
          <p:cNvPr id="5" name="Text 3"/>
          <p:cNvSpPr/>
          <p:nvPr/>
        </p:nvSpPr>
        <p:spPr>
          <a:xfrm>
            <a:off x="731520" y="6400800"/>
            <a:ext cx="8686800" cy="27432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VIBELENS // INDUSTRIAL SECURITY TELEMETRY</a:t>
            </a:r>
            <a:pPr indent="0" marL="0">
              <a:buNone/>
            </a:pPr>
            <a:r>
              <a:rPr lang="en-US" sz="900" dirty="0">
                <a:solidFill>
                  <a:srgbClr val="71717A"/>
                </a:solidFill>
                <a:latin typeface="Consolas" pitchFamily="34" charset="0"/>
                <a:ea typeface="Consolas" pitchFamily="34" charset="-122"/>
                <a:cs typeface="Consolas" pitchFamily="34" charset="-120"/>
              </a:rPr>
              <a:t>   •   100% LOCAL PRIVACY   •   ZERO CLOUD CODE UPLOADS   •   PURE NATIVE EDITABLE TEXT</a:t>
            </a:r>
            <a:endParaRPr lang="en-US" sz="900" dirty="0"/>
          </a:p>
        </p:txBody>
      </p:sp>
      <p:sp>
        <p:nvSpPr>
          <p:cNvPr id="6" name="Text 4"/>
          <p:cNvSpPr/>
          <p:nvPr/>
        </p:nvSpPr>
        <p:spPr>
          <a:xfrm>
            <a:off x="9601200" y="6400800"/>
            <a:ext cx="1828800" cy="27432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SLIDE 09 / 12</a:t>
            </a:r>
            <a:endParaRPr lang="en-US" sz="900" dirty="0"/>
          </a:p>
        </p:txBody>
      </p:sp>
      <p:sp>
        <p:nvSpPr>
          <p:cNvPr id="7" name="Shape 5"/>
          <p:cNvSpPr/>
          <p:nvPr/>
        </p:nvSpPr>
        <p:spPr>
          <a:xfrm>
            <a:off x="731520" y="1874520"/>
            <a:ext cx="5257800" cy="4251960"/>
          </a:xfrm>
          <a:prstGeom prst="rect">
            <a:avLst/>
          </a:prstGeom>
          <a:solidFill>
            <a:srgbClr val="111115"/>
          </a:solidFill>
          <a:ln w="12700">
            <a:solidFill>
              <a:srgbClr val="27272A"/>
            </a:solidFill>
            <a:prstDash val="solid"/>
          </a:ln>
        </p:spPr>
      </p:sp>
      <p:sp>
        <p:nvSpPr>
          <p:cNvPr id="8" name="Text 6"/>
          <p:cNvSpPr/>
          <p:nvPr/>
        </p:nvSpPr>
        <p:spPr>
          <a:xfrm>
            <a:off x="1005840" y="2103120"/>
            <a:ext cx="4709160" cy="22860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PRIMARY PERSONA</a:t>
            </a:r>
            <a:endParaRPr lang="en-US" sz="1000" dirty="0"/>
          </a:p>
        </p:txBody>
      </p:sp>
      <p:sp>
        <p:nvSpPr>
          <p:cNvPr id="9" name="Text 7"/>
          <p:cNvSpPr/>
          <p:nvPr/>
        </p:nvSpPr>
        <p:spPr>
          <a:xfrm>
            <a:off x="1005840" y="2377440"/>
            <a:ext cx="470916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AI Vibe Coders &amp; Solo Hackers</a:t>
            </a:r>
            <a:endParaRPr lang="en-US" sz="1800" dirty="0"/>
          </a:p>
        </p:txBody>
      </p:sp>
      <p:sp>
        <p:nvSpPr>
          <p:cNvPr id="10" name="Text 8"/>
          <p:cNvSpPr/>
          <p:nvPr/>
        </p:nvSpPr>
        <p:spPr>
          <a:xfrm>
            <a:off x="1005840" y="2834640"/>
            <a:ext cx="4709160" cy="548640"/>
          </a:xfrm>
          <a:prstGeom prst="rect">
            <a:avLst/>
          </a:prstGeom>
          <a:noFill/>
          <a:ln/>
        </p:spPr>
        <p:txBody>
          <a:bodyPr wrap="square" lIns="0" tIns="0" rIns="0" bIns="0" rtlCol="0" anchor="ctr"/>
          <a:lstStyle/>
          <a:p>
            <a:pPr indent="0" marL="0">
              <a:buNone/>
            </a:pPr>
            <a:r>
              <a:rPr lang="en-US" sz="1200" dirty="0">
                <a:solidFill>
                  <a:srgbClr val="06B6D4"/>
                </a:solidFill>
                <a:latin typeface="Calibri" pitchFamily="34" charset="0"/>
                <a:ea typeface="Calibri" pitchFamily="34" charset="-122"/>
                <a:cs typeface="Calibri" pitchFamily="34" charset="-120"/>
              </a:rPr>
              <a:t>"I want to ship my full-stack app today, not spend 3 hours reading CVE disclosures."</a:t>
            </a:r>
            <a:endParaRPr lang="en-US" sz="1200" dirty="0"/>
          </a:p>
        </p:txBody>
      </p:sp>
      <p:sp>
        <p:nvSpPr>
          <p:cNvPr id="11" name="Text 9"/>
          <p:cNvSpPr/>
          <p:nvPr/>
        </p:nvSpPr>
        <p:spPr>
          <a:xfrm>
            <a:off x="1005840" y="3520440"/>
            <a:ext cx="4709160" cy="50292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  Building rapid prototypes with Cursor, Claude Code, v0.dev, and Bolt.new.</a:t>
            </a:r>
            <a:endParaRPr lang="en-US" sz="1200" dirty="0"/>
          </a:p>
        </p:txBody>
      </p:sp>
      <p:sp>
        <p:nvSpPr>
          <p:cNvPr id="12" name="Text 10"/>
          <p:cNvSpPr/>
          <p:nvPr/>
        </p:nvSpPr>
        <p:spPr>
          <a:xfrm>
            <a:off x="1005840" y="4160520"/>
            <a:ext cx="4709160" cy="50292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  Installs npm packages quickly without reading deep transitive dependencies.</a:t>
            </a:r>
            <a:endParaRPr lang="en-US" sz="1200" dirty="0"/>
          </a:p>
        </p:txBody>
      </p:sp>
      <p:sp>
        <p:nvSpPr>
          <p:cNvPr id="13" name="Text 11"/>
          <p:cNvSpPr/>
          <p:nvPr/>
        </p:nvSpPr>
        <p:spPr>
          <a:xfrm>
            <a:off x="1005840" y="4800600"/>
            <a:ext cx="4709160" cy="50292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  Needs non-blocking security guardrails that highlight only fatal zero-day bugs.</a:t>
            </a:r>
            <a:endParaRPr lang="en-US" sz="1200" dirty="0"/>
          </a:p>
        </p:txBody>
      </p:sp>
      <p:sp>
        <p:nvSpPr>
          <p:cNvPr id="14" name="Shape 12"/>
          <p:cNvSpPr/>
          <p:nvPr/>
        </p:nvSpPr>
        <p:spPr>
          <a:xfrm>
            <a:off x="6172200" y="1874520"/>
            <a:ext cx="5257800" cy="4251960"/>
          </a:xfrm>
          <a:prstGeom prst="rect">
            <a:avLst/>
          </a:prstGeom>
          <a:solidFill>
            <a:srgbClr val="111115"/>
          </a:solidFill>
          <a:ln w="12700">
            <a:solidFill>
              <a:srgbClr val="27272A"/>
            </a:solidFill>
            <a:prstDash val="solid"/>
          </a:ln>
        </p:spPr>
      </p:sp>
      <p:sp>
        <p:nvSpPr>
          <p:cNvPr id="15" name="Text 13"/>
          <p:cNvSpPr/>
          <p:nvPr/>
        </p:nvSpPr>
        <p:spPr>
          <a:xfrm>
            <a:off x="6446520" y="2103120"/>
            <a:ext cx="4709160" cy="228600"/>
          </a:xfrm>
          <a:prstGeom prst="rect">
            <a:avLst/>
          </a:prstGeom>
          <a:noFill/>
          <a:ln/>
        </p:spPr>
        <p:txBody>
          <a:bodyPr wrap="square" lIns="0" tIns="0" rIns="0" bIns="0"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EXPANSION PERSONA</a:t>
            </a:r>
            <a:endParaRPr lang="en-US" sz="1000" dirty="0"/>
          </a:p>
        </p:txBody>
      </p:sp>
      <p:sp>
        <p:nvSpPr>
          <p:cNvPr id="16" name="Text 14"/>
          <p:cNvSpPr/>
          <p:nvPr/>
        </p:nvSpPr>
        <p:spPr>
          <a:xfrm>
            <a:off x="6446520" y="2377440"/>
            <a:ext cx="470916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Lean Startups &amp; Small Dev Teams</a:t>
            </a:r>
            <a:endParaRPr lang="en-US" sz="1800" dirty="0"/>
          </a:p>
        </p:txBody>
      </p:sp>
      <p:sp>
        <p:nvSpPr>
          <p:cNvPr id="17" name="Text 15"/>
          <p:cNvSpPr/>
          <p:nvPr/>
        </p:nvSpPr>
        <p:spPr>
          <a:xfrm>
            <a:off x="6446520" y="2834640"/>
            <a:ext cx="4709160" cy="548640"/>
          </a:xfrm>
          <a:prstGeom prst="rect">
            <a:avLst/>
          </a:prstGeom>
          <a:noFill/>
          <a:ln/>
        </p:spPr>
        <p:txBody>
          <a:bodyPr wrap="square" lIns="0" tIns="0" rIns="0" bIns="0" rtlCol="0" anchor="ctr"/>
          <a:lstStyle/>
          <a:p>
            <a:pPr indent="0" marL="0">
              <a:buNone/>
            </a:pPr>
            <a:r>
              <a:rPr lang="en-US" sz="1200" dirty="0">
                <a:solidFill>
                  <a:srgbClr val="10B981"/>
                </a:solidFill>
                <a:latin typeface="Calibri" pitchFamily="34" charset="0"/>
                <a:ea typeface="Calibri" pitchFamily="34" charset="-122"/>
                <a:cs typeface="Calibri" pitchFamily="34" charset="-120"/>
              </a:rPr>
              <a:t>"We have 8 engineers and zero full-time AppSec staff. Our Dependabot queue is out of control."</a:t>
            </a:r>
            <a:endParaRPr lang="en-US" sz="1200" dirty="0"/>
          </a:p>
        </p:txBody>
      </p:sp>
      <p:sp>
        <p:nvSpPr>
          <p:cNvPr id="18" name="Text 16"/>
          <p:cNvSpPr/>
          <p:nvPr/>
        </p:nvSpPr>
        <p:spPr>
          <a:xfrm>
            <a:off x="6446520" y="3520440"/>
            <a:ext cx="4709160" cy="50292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  Engineering teams with 3–20 developers shipping daily customer features.</a:t>
            </a:r>
            <a:endParaRPr lang="en-US" sz="1200" dirty="0"/>
          </a:p>
        </p:txBody>
      </p:sp>
      <p:sp>
        <p:nvSpPr>
          <p:cNvPr id="19" name="Text 17"/>
          <p:cNvSpPr/>
          <p:nvPr/>
        </p:nvSpPr>
        <p:spPr>
          <a:xfrm>
            <a:off x="6446520" y="4160520"/>
            <a:ext cx="4709160" cy="50292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  Paralyzed by hundreds of Dependabot PRs that break build tests.</a:t>
            </a:r>
            <a:endParaRPr lang="en-US" sz="1200" dirty="0"/>
          </a:p>
        </p:txBody>
      </p:sp>
      <p:sp>
        <p:nvSpPr>
          <p:cNvPr id="20" name="Text 18"/>
          <p:cNvSpPr/>
          <p:nvPr/>
        </p:nvSpPr>
        <p:spPr>
          <a:xfrm>
            <a:off x="6446520" y="4800600"/>
            <a:ext cx="4709160" cy="502920"/>
          </a:xfrm>
          <a:prstGeom prst="rect">
            <a:avLst/>
          </a:prstGeom>
          <a:noFill/>
          <a:ln/>
        </p:spPr>
        <p:txBody>
          <a:bodyPr wrap="square" lIns="0" tIns="0" rIns="0" bIns="0" rtlCol="0" anchor="ctr"/>
          <a:lstStyle/>
          <a:p>
            <a:pPr indent="0" marL="0">
              <a:buNone/>
            </a:pPr>
            <a:r>
              <a:rPr lang="en-US" sz="1200" dirty="0">
                <a:solidFill>
                  <a:srgbClr val="A1A1AA"/>
                </a:solidFill>
                <a:latin typeface="Calibri" pitchFamily="34" charset="0"/>
                <a:ea typeface="Calibri" pitchFamily="34" charset="-122"/>
                <a:cs typeface="Calibri" pitchFamily="34" charset="-120"/>
              </a:rPr>
              <a:t>✓  Needs high-confidence automated PRs gated by local vitest passes.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411480"/>
            <a:ext cx="1069848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[UNDER THE HOOD // INDUSTRIAL ARCHITECTURE]</a:t>
            </a:r>
            <a:pPr indent="0" marL="0">
              <a:buNone/>
            </a:pPr>
            <a:r>
              <a:rPr lang="en-US" sz="1000" dirty="0">
                <a:solidFill>
                  <a:srgbClr val="71717A"/>
                </a:solidFill>
                <a:latin typeface="Consolas" pitchFamily="34" charset="0"/>
                <a:ea typeface="Consolas" pitchFamily="34" charset="-122"/>
                <a:cs typeface="Consolas" pitchFamily="34" charset="-120"/>
              </a:rPr>
              <a:t> // PRASUNEX 2026 TELEMETRY</a:t>
            </a:r>
            <a:endParaRPr lang="en-US" sz="1000" dirty="0"/>
          </a:p>
        </p:txBody>
      </p:sp>
      <p:sp>
        <p:nvSpPr>
          <p:cNvPr id="3" name="Text 1"/>
          <p:cNvSpPr/>
          <p:nvPr/>
        </p:nvSpPr>
        <p:spPr>
          <a:xfrm>
            <a:off x="731520" y="731520"/>
            <a:ext cx="1069848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The Exploded Optical Engine: 5-Layer Stack Architecture</a:t>
            </a:r>
            <a:endParaRPr lang="en-US" sz="2400" dirty="0"/>
          </a:p>
        </p:txBody>
      </p:sp>
      <p:sp>
        <p:nvSpPr>
          <p:cNvPr id="4" name="Text 2"/>
          <p:cNvSpPr/>
          <p:nvPr/>
        </p:nvSpPr>
        <p:spPr>
          <a:xfrm>
            <a:off x="731520" y="1298448"/>
            <a:ext cx="10698480" cy="32004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A pure JavaScript/TypeScript stack running 100% locally on-device in &lt;15ms.</a:t>
            </a:r>
            <a:endParaRPr lang="en-US" sz="1300" dirty="0"/>
          </a:p>
        </p:txBody>
      </p:sp>
      <p:sp>
        <p:nvSpPr>
          <p:cNvPr id="5" name="Text 3"/>
          <p:cNvSpPr/>
          <p:nvPr/>
        </p:nvSpPr>
        <p:spPr>
          <a:xfrm>
            <a:off x="731520" y="6400800"/>
            <a:ext cx="8686800" cy="27432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VIBELENS // INDUSTRIAL SECURITY TELEMETRY</a:t>
            </a:r>
            <a:pPr indent="0" marL="0">
              <a:buNone/>
            </a:pPr>
            <a:r>
              <a:rPr lang="en-US" sz="900" dirty="0">
                <a:solidFill>
                  <a:srgbClr val="71717A"/>
                </a:solidFill>
                <a:latin typeface="Consolas" pitchFamily="34" charset="0"/>
                <a:ea typeface="Consolas" pitchFamily="34" charset="-122"/>
                <a:cs typeface="Consolas" pitchFamily="34" charset="-120"/>
              </a:rPr>
              <a:t>   •   100% LOCAL PRIVACY   •   ZERO CLOUD CODE UPLOADS   •   PURE NATIVE EDITABLE TEXT</a:t>
            </a:r>
            <a:endParaRPr lang="en-US" sz="900" dirty="0"/>
          </a:p>
        </p:txBody>
      </p:sp>
      <p:sp>
        <p:nvSpPr>
          <p:cNvPr id="6" name="Text 4"/>
          <p:cNvSpPr/>
          <p:nvPr/>
        </p:nvSpPr>
        <p:spPr>
          <a:xfrm>
            <a:off x="9601200" y="6400800"/>
            <a:ext cx="1828800" cy="27432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SLIDE 10 / 12</a:t>
            </a:r>
            <a:endParaRPr lang="en-US" sz="900" dirty="0"/>
          </a:p>
        </p:txBody>
      </p:sp>
      <p:sp>
        <p:nvSpPr>
          <p:cNvPr id="7" name="Shape 5"/>
          <p:cNvSpPr/>
          <p:nvPr/>
        </p:nvSpPr>
        <p:spPr>
          <a:xfrm>
            <a:off x="731520" y="1874520"/>
            <a:ext cx="10698480" cy="731520"/>
          </a:xfrm>
          <a:prstGeom prst="rect">
            <a:avLst/>
          </a:prstGeom>
          <a:solidFill>
            <a:srgbClr val="111115"/>
          </a:solidFill>
          <a:ln w="19050">
            <a:solidFill>
              <a:srgbClr val="06B6D4"/>
            </a:solidFill>
            <a:prstDash val="solid"/>
          </a:ln>
        </p:spPr>
      </p:sp>
      <p:sp>
        <p:nvSpPr>
          <p:cNvPr id="8" name="Text 6"/>
          <p:cNvSpPr/>
          <p:nvPr/>
        </p:nvSpPr>
        <p:spPr>
          <a:xfrm>
            <a:off x="1005840" y="1984248"/>
            <a:ext cx="2377440" cy="22860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RING 01 // FRONT COLLECTOR</a:t>
            </a:r>
            <a:endParaRPr lang="en-US" sz="1100" dirty="0"/>
          </a:p>
        </p:txBody>
      </p:sp>
      <p:sp>
        <p:nvSpPr>
          <p:cNvPr id="9" name="Text 7"/>
          <p:cNvSpPr/>
          <p:nvPr/>
        </p:nvSpPr>
        <p:spPr>
          <a:xfrm>
            <a:off x="3474720" y="1984248"/>
            <a:ext cx="36576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@babel/parser + es-module-lexer</a:t>
            </a:r>
            <a:endParaRPr lang="en-US" sz="1200" dirty="0"/>
          </a:p>
        </p:txBody>
      </p:sp>
      <p:sp>
        <p:nvSpPr>
          <p:cNvPr id="10" name="Text 8"/>
          <p:cNvSpPr/>
          <p:nvPr/>
        </p:nvSpPr>
        <p:spPr>
          <a:xfrm>
            <a:off x="3474720" y="2258568"/>
            <a:ext cx="7680960" cy="27432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100% offline local AST parsing &amp; export lexing</a:t>
            </a:r>
            <a:endParaRPr lang="en-US" sz="1100" dirty="0"/>
          </a:p>
        </p:txBody>
      </p:sp>
      <p:sp>
        <p:nvSpPr>
          <p:cNvPr id="11" name="Text 9"/>
          <p:cNvSpPr/>
          <p:nvPr/>
        </p:nvSpPr>
        <p:spPr>
          <a:xfrm>
            <a:off x="9418320" y="1984248"/>
            <a:ext cx="1828800" cy="228600"/>
          </a:xfrm>
          <a:prstGeom prst="rect">
            <a:avLst/>
          </a:prstGeom>
          <a:noFill/>
          <a:ln/>
        </p:spPr>
        <p:txBody>
          <a:bodyPr wrap="square" lIns="0" tIns="0" rIns="0" bIns="0" rtlCol="0" anchor="ctr"/>
          <a:lstStyle/>
          <a:p>
            <a:pPr algn="r" indent="0" marL="0">
              <a:buNone/>
            </a:pPr>
            <a:r>
              <a:rPr lang="en-US" sz="1000" dirty="0">
                <a:solidFill>
                  <a:srgbClr val="10B981"/>
                </a:solidFill>
                <a:latin typeface="Consolas" pitchFamily="34" charset="0"/>
                <a:ea typeface="Consolas" pitchFamily="34" charset="-122"/>
                <a:cs typeface="Consolas" pitchFamily="34" charset="-120"/>
              </a:rPr>
              <a:t>[OK // 0ms LEAK]</a:t>
            </a:r>
            <a:endParaRPr lang="en-US" sz="1000" dirty="0"/>
          </a:p>
        </p:txBody>
      </p:sp>
      <p:sp>
        <p:nvSpPr>
          <p:cNvPr id="12" name="Shape 10"/>
          <p:cNvSpPr/>
          <p:nvPr/>
        </p:nvSpPr>
        <p:spPr>
          <a:xfrm>
            <a:off x="731520" y="2715768"/>
            <a:ext cx="10698480" cy="731520"/>
          </a:xfrm>
          <a:prstGeom prst="rect">
            <a:avLst/>
          </a:prstGeom>
          <a:solidFill>
            <a:srgbClr val="111115"/>
          </a:solidFill>
          <a:ln w="19050">
            <a:solidFill>
              <a:srgbClr val="F59E0B"/>
            </a:solidFill>
            <a:prstDash val="solid"/>
          </a:ln>
        </p:spPr>
      </p:sp>
      <p:sp>
        <p:nvSpPr>
          <p:cNvPr id="13" name="Text 11"/>
          <p:cNvSpPr/>
          <p:nvPr/>
        </p:nvSpPr>
        <p:spPr>
          <a:xfrm>
            <a:off x="1005840" y="2825496"/>
            <a:ext cx="2377440" cy="228600"/>
          </a:xfrm>
          <a:prstGeom prst="rect">
            <a:avLst/>
          </a:prstGeom>
          <a:noFill/>
          <a:ln/>
        </p:spPr>
        <p:txBody>
          <a:bodyPr wrap="square" lIns="0" tIns="0" rIns="0" bIns="0" rtlCol="0" anchor="ctr"/>
          <a:lstStyle/>
          <a:p>
            <a:pPr indent="0" marL="0">
              <a:buNone/>
            </a:pPr>
            <a:r>
              <a:rPr lang="en-US" sz="1100" b="1" dirty="0">
                <a:solidFill>
                  <a:srgbClr val="F59E0B"/>
                </a:solidFill>
                <a:latin typeface="Consolas" pitchFamily="34" charset="0"/>
                <a:ea typeface="Consolas" pitchFamily="34" charset="-122"/>
                <a:cs typeface="Consolas" pitchFamily="34" charset="-120"/>
              </a:rPr>
              <a:t>RING 02 // FOCUS HELICOID</a:t>
            </a:r>
            <a:endParaRPr lang="en-US" sz="1100" dirty="0"/>
          </a:p>
        </p:txBody>
      </p:sp>
      <p:sp>
        <p:nvSpPr>
          <p:cNvPr id="14" name="Text 12"/>
          <p:cNvSpPr/>
          <p:nvPr/>
        </p:nvSpPr>
        <p:spPr>
          <a:xfrm>
            <a:off x="3474720" y="2825496"/>
            <a:ext cx="36576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Transformers.js (all-MiniLM-L6-v2 WASM)</a:t>
            </a:r>
            <a:endParaRPr lang="en-US" sz="1200" dirty="0"/>
          </a:p>
        </p:txBody>
      </p:sp>
      <p:sp>
        <p:nvSpPr>
          <p:cNvPr id="15" name="Text 13"/>
          <p:cNvSpPr/>
          <p:nvPr/>
        </p:nvSpPr>
        <p:spPr>
          <a:xfrm>
            <a:off x="3474720" y="3099816"/>
            <a:ext cx="7680960" cy="27432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384-dimensional on-device semantic embeddings</a:t>
            </a:r>
            <a:endParaRPr lang="en-US" sz="1100" dirty="0"/>
          </a:p>
        </p:txBody>
      </p:sp>
      <p:sp>
        <p:nvSpPr>
          <p:cNvPr id="16" name="Text 14"/>
          <p:cNvSpPr/>
          <p:nvPr/>
        </p:nvSpPr>
        <p:spPr>
          <a:xfrm>
            <a:off x="9418320" y="2825496"/>
            <a:ext cx="1828800" cy="228600"/>
          </a:xfrm>
          <a:prstGeom prst="rect">
            <a:avLst/>
          </a:prstGeom>
          <a:noFill/>
          <a:ln/>
        </p:spPr>
        <p:txBody>
          <a:bodyPr wrap="square" lIns="0" tIns="0" rIns="0" bIns="0" rtlCol="0" anchor="ctr"/>
          <a:lstStyle/>
          <a:p>
            <a:pPr algn="r" indent="0" marL="0">
              <a:buNone/>
            </a:pPr>
            <a:r>
              <a:rPr lang="en-US" sz="1000" dirty="0">
                <a:solidFill>
                  <a:srgbClr val="10B981"/>
                </a:solidFill>
                <a:latin typeface="Consolas" pitchFamily="34" charset="0"/>
                <a:ea typeface="Consolas" pitchFamily="34" charset="-122"/>
                <a:cs typeface="Consolas" pitchFamily="34" charset="-120"/>
              </a:rPr>
              <a:t>[OK // 0ms LEAK]</a:t>
            </a:r>
            <a:endParaRPr lang="en-US" sz="1000" dirty="0"/>
          </a:p>
        </p:txBody>
      </p:sp>
      <p:sp>
        <p:nvSpPr>
          <p:cNvPr id="17" name="Shape 15"/>
          <p:cNvSpPr/>
          <p:nvPr/>
        </p:nvSpPr>
        <p:spPr>
          <a:xfrm>
            <a:off x="731520" y="3557016"/>
            <a:ext cx="10698480" cy="731520"/>
          </a:xfrm>
          <a:prstGeom prst="rect">
            <a:avLst/>
          </a:prstGeom>
          <a:solidFill>
            <a:srgbClr val="111115"/>
          </a:solidFill>
          <a:ln w="19050">
            <a:solidFill>
              <a:srgbClr val="EF4444"/>
            </a:solidFill>
            <a:prstDash val="solid"/>
          </a:ln>
        </p:spPr>
      </p:sp>
      <p:sp>
        <p:nvSpPr>
          <p:cNvPr id="18" name="Text 16"/>
          <p:cNvSpPr/>
          <p:nvPr/>
        </p:nvSpPr>
        <p:spPr>
          <a:xfrm>
            <a:off x="1005840" y="3666744"/>
            <a:ext cx="2377440" cy="228600"/>
          </a:xfrm>
          <a:prstGeom prst="rect">
            <a:avLst/>
          </a:prstGeom>
          <a:noFill/>
          <a:ln/>
        </p:spPr>
        <p:txBody>
          <a:bodyPr wrap="square" lIns="0" tIns="0" rIns="0" bIns="0" rtlCol="0" anchor="ctr"/>
          <a:lstStyle/>
          <a:p>
            <a:pPr indent="0" marL="0">
              <a:buNone/>
            </a:pPr>
            <a:r>
              <a:rPr lang="en-US" sz="1100" b="1" dirty="0">
                <a:solidFill>
                  <a:srgbClr val="EF4444"/>
                </a:solidFill>
                <a:latin typeface="Consolas" pitchFamily="34" charset="0"/>
                <a:ea typeface="Consolas" pitchFamily="34" charset="-122"/>
                <a:cs typeface="Consolas" pitchFamily="34" charset="-120"/>
              </a:rPr>
              <a:t>RING 03 // APERTURE IRIS</a:t>
            </a:r>
            <a:endParaRPr lang="en-US" sz="1100" dirty="0"/>
          </a:p>
        </p:txBody>
      </p:sp>
      <p:sp>
        <p:nvSpPr>
          <p:cNvPr id="19" name="Text 17"/>
          <p:cNvSpPr/>
          <p:nvPr/>
        </p:nvSpPr>
        <p:spPr>
          <a:xfrm>
            <a:off x="3474720" y="3666744"/>
            <a:ext cx="36576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Deterministic DFS Call-Graph Gate</a:t>
            </a:r>
            <a:endParaRPr lang="en-US" sz="1200" dirty="0"/>
          </a:p>
        </p:txBody>
      </p:sp>
      <p:sp>
        <p:nvSpPr>
          <p:cNvPr id="20" name="Text 18"/>
          <p:cNvSpPr/>
          <p:nvPr/>
        </p:nvSpPr>
        <p:spPr>
          <a:xfrm>
            <a:off x="3474720" y="3941064"/>
            <a:ext cx="7680960" cy="27432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Filters phantom CVEs; isolates reachable exploit sinks</a:t>
            </a:r>
            <a:endParaRPr lang="en-US" sz="1100" dirty="0"/>
          </a:p>
        </p:txBody>
      </p:sp>
      <p:sp>
        <p:nvSpPr>
          <p:cNvPr id="21" name="Text 19"/>
          <p:cNvSpPr/>
          <p:nvPr/>
        </p:nvSpPr>
        <p:spPr>
          <a:xfrm>
            <a:off x="9418320" y="3666744"/>
            <a:ext cx="1828800" cy="228600"/>
          </a:xfrm>
          <a:prstGeom prst="rect">
            <a:avLst/>
          </a:prstGeom>
          <a:noFill/>
          <a:ln/>
        </p:spPr>
        <p:txBody>
          <a:bodyPr wrap="square" lIns="0" tIns="0" rIns="0" bIns="0" rtlCol="0" anchor="ctr"/>
          <a:lstStyle/>
          <a:p>
            <a:pPr algn="r" indent="0" marL="0">
              <a:buNone/>
            </a:pPr>
            <a:r>
              <a:rPr lang="en-US" sz="1000" dirty="0">
                <a:solidFill>
                  <a:srgbClr val="10B981"/>
                </a:solidFill>
                <a:latin typeface="Consolas" pitchFamily="34" charset="0"/>
                <a:ea typeface="Consolas" pitchFamily="34" charset="-122"/>
                <a:cs typeface="Consolas" pitchFamily="34" charset="-120"/>
              </a:rPr>
              <a:t>[OK // 0ms LEAK]</a:t>
            </a:r>
            <a:endParaRPr lang="en-US" sz="1000" dirty="0"/>
          </a:p>
        </p:txBody>
      </p:sp>
      <p:sp>
        <p:nvSpPr>
          <p:cNvPr id="22" name="Shape 20"/>
          <p:cNvSpPr/>
          <p:nvPr/>
        </p:nvSpPr>
        <p:spPr>
          <a:xfrm>
            <a:off x="731520" y="4398264"/>
            <a:ext cx="10698480" cy="731520"/>
          </a:xfrm>
          <a:prstGeom prst="rect">
            <a:avLst/>
          </a:prstGeom>
          <a:solidFill>
            <a:srgbClr val="111115"/>
          </a:solidFill>
          <a:ln w="19050">
            <a:solidFill>
              <a:srgbClr val="10B981"/>
            </a:solidFill>
            <a:prstDash val="solid"/>
          </a:ln>
        </p:spPr>
      </p:sp>
      <p:sp>
        <p:nvSpPr>
          <p:cNvPr id="23" name="Text 21"/>
          <p:cNvSpPr/>
          <p:nvPr/>
        </p:nvSpPr>
        <p:spPr>
          <a:xfrm>
            <a:off x="1005840" y="4507992"/>
            <a:ext cx="2377440" cy="228600"/>
          </a:xfrm>
          <a:prstGeom prst="rect">
            <a:avLst/>
          </a:prstGeom>
          <a:noFill/>
          <a:ln/>
        </p:spPr>
        <p:txBody>
          <a:bodyPr wrap="square" lIns="0" tIns="0" rIns="0" bIns="0" rtlCol="0" anchor="ctr"/>
          <a:lstStyle/>
          <a:p>
            <a:pPr indent="0" marL="0">
              <a:buNone/>
            </a:pPr>
            <a:r>
              <a:rPr lang="en-US" sz="1100" b="1" dirty="0">
                <a:solidFill>
                  <a:srgbClr val="10B981"/>
                </a:solidFill>
                <a:latin typeface="Consolas" pitchFamily="34" charset="0"/>
                <a:ea typeface="Consolas" pitchFamily="34" charset="-122"/>
                <a:cs typeface="Consolas" pitchFamily="34" charset="-120"/>
              </a:rPr>
              <a:t>RING 04 // BAYONET FLANGE</a:t>
            </a:r>
            <a:endParaRPr lang="en-US" sz="1100" dirty="0"/>
          </a:p>
        </p:txBody>
      </p:sp>
      <p:sp>
        <p:nvSpPr>
          <p:cNvPr id="24" name="Text 22"/>
          <p:cNvSpPr/>
          <p:nvPr/>
        </p:nvSpPr>
        <p:spPr>
          <a:xfrm>
            <a:off x="3474720" y="4507992"/>
            <a:ext cx="36576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Universal Tri-Bridge (MCP + Handover)</a:t>
            </a:r>
            <a:endParaRPr lang="en-US" sz="1200" dirty="0"/>
          </a:p>
        </p:txBody>
      </p:sp>
      <p:sp>
        <p:nvSpPr>
          <p:cNvPr id="25" name="Text 23"/>
          <p:cNvSpPr/>
          <p:nvPr/>
        </p:nvSpPr>
        <p:spPr>
          <a:xfrm>
            <a:off x="3474720" y="4782312"/>
            <a:ext cx="7680960" cy="27432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Connects Cursor, Claude Code, and web builders</a:t>
            </a:r>
            <a:endParaRPr lang="en-US" sz="1100" dirty="0"/>
          </a:p>
        </p:txBody>
      </p:sp>
      <p:sp>
        <p:nvSpPr>
          <p:cNvPr id="26" name="Text 24"/>
          <p:cNvSpPr/>
          <p:nvPr/>
        </p:nvSpPr>
        <p:spPr>
          <a:xfrm>
            <a:off x="9418320" y="4507992"/>
            <a:ext cx="1828800" cy="228600"/>
          </a:xfrm>
          <a:prstGeom prst="rect">
            <a:avLst/>
          </a:prstGeom>
          <a:noFill/>
          <a:ln/>
        </p:spPr>
        <p:txBody>
          <a:bodyPr wrap="square" lIns="0" tIns="0" rIns="0" bIns="0" rtlCol="0" anchor="ctr"/>
          <a:lstStyle/>
          <a:p>
            <a:pPr algn="r" indent="0" marL="0">
              <a:buNone/>
            </a:pPr>
            <a:r>
              <a:rPr lang="en-US" sz="1000" dirty="0">
                <a:solidFill>
                  <a:srgbClr val="10B981"/>
                </a:solidFill>
                <a:latin typeface="Consolas" pitchFamily="34" charset="0"/>
                <a:ea typeface="Consolas" pitchFamily="34" charset="-122"/>
                <a:cs typeface="Consolas" pitchFamily="34" charset="-120"/>
              </a:rPr>
              <a:t>[OK // 0ms LEAK]</a:t>
            </a:r>
            <a:endParaRPr lang="en-US" sz="1000" dirty="0"/>
          </a:p>
        </p:txBody>
      </p:sp>
      <p:sp>
        <p:nvSpPr>
          <p:cNvPr id="27" name="Shape 25"/>
          <p:cNvSpPr/>
          <p:nvPr/>
        </p:nvSpPr>
        <p:spPr>
          <a:xfrm>
            <a:off x="731520" y="5239512"/>
            <a:ext cx="10698480" cy="731520"/>
          </a:xfrm>
          <a:prstGeom prst="rect">
            <a:avLst/>
          </a:prstGeom>
          <a:solidFill>
            <a:srgbClr val="111115"/>
          </a:solidFill>
          <a:ln w="19050">
            <a:solidFill>
              <a:srgbClr val="3B82F6"/>
            </a:solidFill>
            <a:prstDash val="solid"/>
          </a:ln>
        </p:spPr>
      </p:sp>
      <p:sp>
        <p:nvSpPr>
          <p:cNvPr id="28" name="Text 26"/>
          <p:cNvSpPr/>
          <p:nvPr/>
        </p:nvSpPr>
        <p:spPr>
          <a:xfrm>
            <a:off x="1005840" y="5349240"/>
            <a:ext cx="2377440" cy="228600"/>
          </a:xfrm>
          <a:prstGeom prst="rect">
            <a:avLst/>
          </a:prstGeom>
          <a:noFill/>
          <a:ln/>
        </p:spPr>
        <p:txBody>
          <a:bodyPr wrap="square" lIns="0" tIns="0" rIns="0" bIns="0" rtlCol="0" anchor="ctr"/>
          <a:lstStyle/>
          <a:p>
            <a:pPr indent="0" marL="0">
              <a:buNone/>
            </a:pPr>
            <a:r>
              <a:rPr lang="en-US" sz="1100" b="1" dirty="0">
                <a:solidFill>
                  <a:srgbClr val="3B82F6"/>
                </a:solidFill>
                <a:latin typeface="Consolas" pitchFamily="34" charset="0"/>
                <a:ea typeface="Consolas" pitchFamily="34" charset="-122"/>
                <a:cs typeface="Consolas" pitchFamily="34" charset="-120"/>
              </a:rPr>
              <a:t>RING 05 // SENSOR PLANE</a:t>
            </a:r>
            <a:endParaRPr lang="en-US" sz="1100" dirty="0"/>
          </a:p>
        </p:txBody>
      </p:sp>
      <p:sp>
        <p:nvSpPr>
          <p:cNvPr id="29" name="Text 27"/>
          <p:cNvSpPr/>
          <p:nvPr/>
        </p:nvSpPr>
        <p:spPr>
          <a:xfrm>
            <a:off x="3474720" y="5349240"/>
            <a:ext cx="365760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Three.js + React Three Fiber WebGL</a:t>
            </a:r>
            <a:endParaRPr lang="en-US" sz="1200" dirty="0"/>
          </a:p>
        </p:txBody>
      </p:sp>
      <p:sp>
        <p:nvSpPr>
          <p:cNvPr id="30" name="Text 28"/>
          <p:cNvSpPr/>
          <p:nvPr/>
        </p:nvSpPr>
        <p:spPr>
          <a:xfrm>
            <a:off x="3474720" y="5623560"/>
            <a:ext cx="7680960" cy="27432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Deterministic 3D squarified treemap &amp; wiring graph</a:t>
            </a:r>
            <a:endParaRPr lang="en-US" sz="1100" dirty="0"/>
          </a:p>
        </p:txBody>
      </p:sp>
      <p:sp>
        <p:nvSpPr>
          <p:cNvPr id="31" name="Text 29"/>
          <p:cNvSpPr/>
          <p:nvPr/>
        </p:nvSpPr>
        <p:spPr>
          <a:xfrm>
            <a:off x="9418320" y="5349240"/>
            <a:ext cx="1828800" cy="228600"/>
          </a:xfrm>
          <a:prstGeom prst="rect">
            <a:avLst/>
          </a:prstGeom>
          <a:noFill/>
          <a:ln/>
        </p:spPr>
        <p:txBody>
          <a:bodyPr wrap="square" lIns="0" tIns="0" rIns="0" bIns="0" rtlCol="0" anchor="ctr"/>
          <a:lstStyle/>
          <a:p>
            <a:pPr algn="r" indent="0" marL="0">
              <a:buNone/>
            </a:pPr>
            <a:r>
              <a:rPr lang="en-US" sz="1000" dirty="0">
                <a:solidFill>
                  <a:srgbClr val="10B981"/>
                </a:solidFill>
                <a:latin typeface="Consolas" pitchFamily="34" charset="0"/>
                <a:ea typeface="Consolas" pitchFamily="34" charset="-122"/>
                <a:cs typeface="Consolas" pitchFamily="34" charset="-120"/>
              </a:rPr>
              <a:t>[OK // 0ms LEAK]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411480"/>
            <a:ext cx="1069848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[EXECUTION TIMELINE // 2026 ROADMAP]</a:t>
            </a:r>
            <a:pPr indent="0" marL="0">
              <a:buNone/>
            </a:pPr>
            <a:r>
              <a:rPr lang="en-US" sz="1000" dirty="0">
                <a:solidFill>
                  <a:srgbClr val="71717A"/>
                </a:solidFill>
                <a:latin typeface="Consolas" pitchFamily="34" charset="0"/>
                <a:ea typeface="Consolas" pitchFamily="34" charset="-122"/>
                <a:cs typeface="Consolas" pitchFamily="34" charset="-120"/>
              </a:rPr>
              <a:t> // PRASUNEX 2026 TELEMETRY</a:t>
            </a:r>
            <a:endParaRPr lang="en-US" sz="1000" dirty="0"/>
          </a:p>
        </p:txBody>
      </p:sp>
      <p:sp>
        <p:nvSpPr>
          <p:cNvPr id="3" name="Text 1"/>
          <p:cNvSpPr/>
          <p:nvPr/>
        </p:nvSpPr>
        <p:spPr>
          <a:xfrm>
            <a:off x="731520" y="731520"/>
            <a:ext cx="1069848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What We Built for the Hackathon &amp; What Comes Next</a:t>
            </a:r>
            <a:endParaRPr lang="en-US" sz="2400" dirty="0"/>
          </a:p>
        </p:txBody>
      </p:sp>
      <p:sp>
        <p:nvSpPr>
          <p:cNvPr id="4" name="Text 2"/>
          <p:cNvSpPr/>
          <p:nvPr/>
        </p:nvSpPr>
        <p:spPr>
          <a:xfrm>
            <a:off x="731520" y="1298448"/>
            <a:ext cx="10698480" cy="32004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A complete, working core today with a focused trajectory for tomorrow.</a:t>
            </a:r>
            <a:endParaRPr lang="en-US" sz="1300" dirty="0"/>
          </a:p>
        </p:txBody>
      </p:sp>
      <p:sp>
        <p:nvSpPr>
          <p:cNvPr id="5" name="Text 3"/>
          <p:cNvSpPr/>
          <p:nvPr/>
        </p:nvSpPr>
        <p:spPr>
          <a:xfrm>
            <a:off x="731520" y="6400800"/>
            <a:ext cx="8686800" cy="27432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VIBELENS // INDUSTRIAL SECURITY TELEMETRY</a:t>
            </a:r>
            <a:pPr indent="0" marL="0">
              <a:buNone/>
            </a:pPr>
            <a:r>
              <a:rPr lang="en-US" sz="900" dirty="0">
                <a:solidFill>
                  <a:srgbClr val="71717A"/>
                </a:solidFill>
                <a:latin typeface="Consolas" pitchFamily="34" charset="0"/>
                <a:ea typeface="Consolas" pitchFamily="34" charset="-122"/>
                <a:cs typeface="Consolas" pitchFamily="34" charset="-120"/>
              </a:rPr>
              <a:t>   •   100% LOCAL PRIVACY   •   ZERO CLOUD CODE UPLOADS   •   PURE NATIVE EDITABLE TEXT</a:t>
            </a:r>
            <a:endParaRPr lang="en-US" sz="900" dirty="0"/>
          </a:p>
        </p:txBody>
      </p:sp>
      <p:sp>
        <p:nvSpPr>
          <p:cNvPr id="6" name="Text 4"/>
          <p:cNvSpPr/>
          <p:nvPr/>
        </p:nvSpPr>
        <p:spPr>
          <a:xfrm>
            <a:off x="9601200" y="6400800"/>
            <a:ext cx="1828800" cy="27432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SLIDE 11 / 12</a:t>
            </a:r>
            <a:endParaRPr lang="en-US" sz="900" dirty="0"/>
          </a:p>
        </p:txBody>
      </p:sp>
      <p:sp>
        <p:nvSpPr>
          <p:cNvPr id="7" name="Shape 5"/>
          <p:cNvSpPr/>
          <p:nvPr/>
        </p:nvSpPr>
        <p:spPr>
          <a:xfrm>
            <a:off x="731520" y="1874520"/>
            <a:ext cx="5257800" cy="4251960"/>
          </a:xfrm>
          <a:prstGeom prst="rect">
            <a:avLst/>
          </a:prstGeom>
          <a:solidFill>
            <a:srgbClr val="111115"/>
          </a:solidFill>
          <a:ln w="19050">
            <a:solidFill>
              <a:srgbClr val="10B981"/>
            </a:solidFill>
            <a:prstDash val="solid"/>
          </a:ln>
        </p:spPr>
      </p:sp>
      <p:sp>
        <p:nvSpPr>
          <p:cNvPr id="8" name="Text 6"/>
          <p:cNvSpPr/>
          <p:nvPr/>
        </p:nvSpPr>
        <p:spPr>
          <a:xfrm>
            <a:off x="1005840" y="2103120"/>
            <a:ext cx="4709160" cy="228600"/>
          </a:xfrm>
          <a:prstGeom prst="rect">
            <a:avLst/>
          </a:prstGeom>
          <a:noFill/>
          <a:ln/>
        </p:spPr>
        <p:txBody>
          <a:bodyPr wrap="square" lIns="0" tIns="0" rIns="0" bIns="0" rtlCol="0" anchor="ctr"/>
          <a:lstStyle/>
          <a:p>
            <a:pPr indent="0" marL="0">
              <a:buNone/>
            </a:pPr>
            <a:r>
              <a:rPr lang="en-US" sz="1100" b="1" dirty="0">
                <a:solidFill>
                  <a:srgbClr val="10B981"/>
                </a:solidFill>
                <a:latin typeface="Consolas" pitchFamily="34" charset="0"/>
                <a:ea typeface="Consolas" pitchFamily="34" charset="-122"/>
                <a:cs typeface="Consolas" pitchFamily="34" charset="-120"/>
              </a:rPr>
              <a:t>BUILT FOR HACKATHON // WORKING TODAY</a:t>
            </a:r>
            <a:endParaRPr lang="en-US" sz="1100" dirty="0"/>
          </a:p>
        </p:txBody>
      </p:sp>
      <p:sp>
        <p:nvSpPr>
          <p:cNvPr id="9" name="Text 7"/>
          <p:cNvSpPr/>
          <p:nvPr/>
        </p:nvSpPr>
        <p:spPr>
          <a:xfrm>
            <a:off x="1005840" y="2468880"/>
            <a:ext cx="470916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ReachableSec SAST Engine</a:t>
            </a:r>
            <a:endParaRPr lang="en-US" sz="1200" dirty="0"/>
          </a:p>
        </p:txBody>
      </p:sp>
      <p:sp>
        <p:nvSpPr>
          <p:cNvPr id="10" name="Text 8"/>
          <p:cNvSpPr/>
          <p:nvPr/>
        </p:nvSpPr>
        <p:spPr>
          <a:xfrm>
            <a:off x="1234440" y="2670048"/>
            <a:ext cx="4480560" cy="41148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Deterministic DFS call-graph reachability traversal with 3-tier honest classification.</a:t>
            </a:r>
            <a:endParaRPr lang="en-US" sz="1000" dirty="0"/>
          </a:p>
        </p:txBody>
      </p:sp>
      <p:sp>
        <p:nvSpPr>
          <p:cNvPr id="11" name="Text 9"/>
          <p:cNvSpPr/>
          <p:nvPr/>
        </p:nvSpPr>
        <p:spPr>
          <a:xfrm>
            <a:off x="1005840" y="3145536"/>
            <a:ext cx="470916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3D Spatial Treemap &amp; Wiring Cockpit</a:t>
            </a:r>
            <a:endParaRPr lang="en-US" sz="1200" dirty="0"/>
          </a:p>
        </p:txBody>
      </p:sp>
      <p:sp>
        <p:nvSpPr>
          <p:cNvPr id="12" name="Text 10"/>
          <p:cNvSpPr/>
          <p:nvPr/>
        </p:nvSpPr>
        <p:spPr>
          <a:xfrm>
            <a:off x="1234440" y="3346704"/>
            <a:ext cx="4480560" cy="41148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Three.js WebGL canvas with on-demand reachability red laser arcs.</a:t>
            </a:r>
            <a:endParaRPr lang="en-US" sz="1000" dirty="0"/>
          </a:p>
        </p:txBody>
      </p:sp>
      <p:sp>
        <p:nvSpPr>
          <p:cNvPr id="13" name="Text 11"/>
          <p:cNvSpPr/>
          <p:nvPr/>
        </p:nvSpPr>
        <p:spPr>
          <a:xfrm>
            <a:off x="1005840" y="3822192"/>
            <a:ext cx="470916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Exploded Optical Engine Telemetry</a:t>
            </a:r>
            <a:endParaRPr lang="en-US" sz="1200" dirty="0"/>
          </a:p>
        </p:txBody>
      </p:sp>
      <p:sp>
        <p:nvSpPr>
          <p:cNvPr id="14" name="Text 12"/>
          <p:cNvSpPr/>
          <p:nvPr/>
        </p:nvSpPr>
        <p:spPr>
          <a:xfrm>
            <a:off x="1234440" y="4023360"/>
            <a:ext cx="4480560" cy="41148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Anime.js-style hardware caliper scrubber and 5 compound stack layers.</a:t>
            </a:r>
            <a:endParaRPr lang="en-US" sz="1000" dirty="0"/>
          </a:p>
        </p:txBody>
      </p:sp>
      <p:sp>
        <p:nvSpPr>
          <p:cNvPr id="15" name="Text 13"/>
          <p:cNvSpPr/>
          <p:nvPr/>
        </p:nvSpPr>
        <p:spPr>
          <a:xfrm>
            <a:off x="1005840" y="4498848"/>
            <a:ext cx="470916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Personalized Metro Grid Calibration</a:t>
            </a:r>
            <a:endParaRPr lang="en-US" sz="1200" dirty="0"/>
          </a:p>
        </p:txBody>
      </p:sp>
      <p:sp>
        <p:nvSpPr>
          <p:cNvPr id="16" name="Text 14"/>
          <p:cNvSpPr/>
          <p:nvPr/>
        </p:nvSpPr>
        <p:spPr>
          <a:xfrm>
            <a:off x="1234440" y="4700016"/>
            <a:ext cx="4480560" cy="41148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User city calibration (BLR, SFO, NYC, LHR) with aerospace coordinates.</a:t>
            </a:r>
            <a:endParaRPr lang="en-US" sz="1000" dirty="0"/>
          </a:p>
        </p:txBody>
      </p:sp>
      <p:sp>
        <p:nvSpPr>
          <p:cNvPr id="17" name="Text 15"/>
          <p:cNvSpPr/>
          <p:nvPr/>
        </p:nvSpPr>
        <p:spPr>
          <a:xfrm>
            <a:off x="1005840" y="5175504"/>
            <a:ext cx="470916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Local Verification Gate</a:t>
            </a:r>
            <a:endParaRPr lang="en-US" sz="1200" dirty="0"/>
          </a:p>
        </p:txBody>
      </p:sp>
      <p:sp>
        <p:nvSpPr>
          <p:cNvPr id="18" name="Text 16"/>
          <p:cNvSpPr/>
          <p:nvPr/>
        </p:nvSpPr>
        <p:spPr>
          <a:xfrm>
            <a:off x="1234440" y="5376672"/>
            <a:ext cx="4480560" cy="41148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18/18 unit tests green; pre-push git hook preventing regression.</a:t>
            </a:r>
            <a:endParaRPr lang="en-US" sz="1000" dirty="0"/>
          </a:p>
        </p:txBody>
      </p:sp>
      <p:sp>
        <p:nvSpPr>
          <p:cNvPr id="19" name="Shape 17"/>
          <p:cNvSpPr/>
          <p:nvPr/>
        </p:nvSpPr>
        <p:spPr>
          <a:xfrm>
            <a:off x="6172200" y="1874520"/>
            <a:ext cx="5257800" cy="4251960"/>
          </a:xfrm>
          <a:prstGeom prst="rect">
            <a:avLst/>
          </a:prstGeom>
          <a:solidFill>
            <a:srgbClr val="111115"/>
          </a:solidFill>
          <a:ln w="12700">
            <a:solidFill>
              <a:srgbClr val="27272A"/>
            </a:solidFill>
            <a:prstDash val="solid"/>
          </a:ln>
        </p:spPr>
      </p:sp>
      <p:sp>
        <p:nvSpPr>
          <p:cNvPr id="20" name="Text 18"/>
          <p:cNvSpPr/>
          <p:nvPr/>
        </p:nvSpPr>
        <p:spPr>
          <a:xfrm>
            <a:off x="6446520" y="2103120"/>
            <a:ext cx="4709160" cy="22860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PRODUCT ROADMAP // PHASE 2 &amp; 3</a:t>
            </a:r>
            <a:endParaRPr lang="en-US" sz="1100" dirty="0"/>
          </a:p>
        </p:txBody>
      </p:sp>
      <p:sp>
        <p:nvSpPr>
          <p:cNvPr id="21" name="Text 19"/>
          <p:cNvSpPr/>
          <p:nvPr/>
        </p:nvSpPr>
        <p:spPr>
          <a:xfrm>
            <a:off x="6446520" y="2468880"/>
            <a:ext cx="4709160" cy="228600"/>
          </a:xfrm>
          <a:prstGeom prst="rect">
            <a:avLst/>
          </a:prstGeom>
          <a:noFill/>
          <a:ln/>
        </p:spPr>
        <p:txBody>
          <a:bodyPr wrap="square" lIns="0" tIns="0" rIns="0" bIns="0" rtlCol="0" anchor="ctr"/>
          <a:lstStyle/>
          <a:p>
            <a:pPr indent="0" marL="0">
              <a:buNone/>
            </a:pPr>
            <a:r>
              <a:rPr lang="en-US" sz="1200" b="1" dirty="0">
                <a:solidFill>
                  <a:srgbClr val="06B6D4"/>
                </a:solidFill>
                <a:latin typeface="Arial" pitchFamily="34" charset="0"/>
                <a:ea typeface="Arial" pitchFamily="34" charset="-122"/>
                <a:cs typeface="Arial" pitchFamily="34" charset="-120"/>
              </a:rPr>
              <a:t>➔  AST De-Duplication Engine</a:t>
            </a:r>
            <a:endParaRPr lang="en-US" sz="1200" dirty="0"/>
          </a:p>
        </p:txBody>
      </p:sp>
      <p:sp>
        <p:nvSpPr>
          <p:cNvPr id="22" name="Text 20"/>
          <p:cNvSpPr/>
          <p:nvPr/>
        </p:nvSpPr>
        <p:spPr>
          <a:xfrm>
            <a:off x="6675120" y="2670048"/>
            <a:ext cx="4480560" cy="50292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On-device vector clustering to detect and consolidate AI-generated duplicate helpers.</a:t>
            </a:r>
            <a:endParaRPr lang="en-US" sz="1000" dirty="0"/>
          </a:p>
        </p:txBody>
      </p:sp>
      <p:sp>
        <p:nvSpPr>
          <p:cNvPr id="23" name="Text 21"/>
          <p:cNvSpPr/>
          <p:nvPr/>
        </p:nvSpPr>
        <p:spPr>
          <a:xfrm>
            <a:off x="6446520" y="3310128"/>
            <a:ext cx="4709160" cy="228600"/>
          </a:xfrm>
          <a:prstGeom prst="rect">
            <a:avLst/>
          </a:prstGeom>
          <a:noFill/>
          <a:ln/>
        </p:spPr>
        <p:txBody>
          <a:bodyPr wrap="square" lIns="0" tIns="0" rIns="0" bIns="0" rtlCol="0" anchor="ctr"/>
          <a:lstStyle/>
          <a:p>
            <a:pPr indent="0" marL="0">
              <a:buNone/>
            </a:pPr>
            <a:r>
              <a:rPr lang="en-US" sz="1200" b="1" dirty="0">
                <a:solidFill>
                  <a:srgbClr val="06B6D4"/>
                </a:solidFill>
                <a:latin typeface="Arial" pitchFamily="34" charset="0"/>
                <a:ea typeface="Arial" pitchFamily="34" charset="-122"/>
                <a:cs typeface="Arial" pitchFamily="34" charset="-120"/>
              </a:rPr>
              <a:t>➔  Zero-Slop Prompt Compiler</a:t>
            </a:r>
            <a:endParaRPr lang="en-US" sz="1200" dirty="0"/>
          </a:p>
        </p:txBody>
      </p:sp>
      <p:sp>
        <p:nvSpPr>
          <p:cNvPr id="24" name="Text 22"/>
          <p:cNvSpPr/>
          <p:nvPr/>
        </p:nvSpPr>
        <p:spPr>
          <a:xfrm>
            <a:off x="6675120" y="3511296"/>
            <a:ext cx="4480560" cy="50292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Compresses handover AST context to ~140 tokens for v0.dev and Bolt.new.</a:t>
            </a:r>
            <a:endParaRPr lang="en-US" sz="1000" dirty="0"/>
          </a:p>
        </p:txBody>
      </p:sp>
      <p:sp>
        <p:nvSpPr>
          <p:cNvPr id="25" name="Text 23"/>
          <p:cNvSpPr/>
          <p:nvPr/>
        </p:nvSpPr>
        <p:spPr>
          <a:xfrm>
            <a:off x="6446520" y="4151376"/>
            <a:ext cx="4709160" cy="228600"/>
          </a:xfrm>
          <a:prstGeom prst="rect">
            <a:avLst/>
          </a:prstGeom>
          <a:noFill/>
          <a:ln/>
        </p:spPr>
        <p:txBody>
          <a:bodyPr wrap="square" lIns="0" tIns="0" rIns="0" bIns="0" rtlCol="0" anchor="ctr"/>
          <a:lstStyle/>
          <a:p>
            <a:pPr indent="0" marL="0">
              <a:buNone/>
            </a:pPr>
            <a:r>
              <a:rPr lang="en-US" sz="1200" b="1" dirty="0">
                <a:solidFill>
                  <a:srgbClr val="06B6D4"/>
                </a:solidFill>
                <a:latin typeface="Arial" pitchFamily="34" charset="0"/>
                <a:ea typeface="Arial" pitchFamily="34" charset="-122"/>
                <a:cs typeface="Arial" pitchFamily="34" charset="-120"/>
              </a:rPr>
              <a:t>➔  1-Click Test-Gated Pull Requests</a:t>
            </a:r>
            <a:endParaRPr lang="en-US" sz="1200" dirty="0"/>
          </a:p>
        </p:txBody>
      </p:sp>
      <p:sp>
        <p:nvSpPr>
          <p:cNvPr id="26" name="Text 24"/>
          <p:cNvSpPr/>
          <p:nvPr/>
        </p:nvSpPr>
        <p:spPr>
          <a:xfrm>
            <a:off x="6675120" y="4352544"/>
            <a:ext cx="4480560" cy="50292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Automated patch generation that executes 'npm test' locally before creating PRs.</a:t>
            </a:r>
            <a:endParaRPr lang="en-US" sz="1000" dirty="0"/>
          </a:p>
        </p:txBody>
      </p:sp>
      <p:sp>
        <p:nvSpPr>
          <p:cNvPr id="27" name="Text 25"/>
          <p:cNvSpPr/>
          <p:nvPr/>
        </p:nvSpPr>
        <p:spPr>
          <a:xfrm>
            <a:off x="6446520" y="4992624"/>
            <a:ext cx="4709160" cy="228600"/>
          </a:xfrm>
          <a:prstGeom prst="rect">
            <a:avLst/>
          </a:prstGeom>
          <a:noFill/>
          <a:ln/>
        </p:spPr>
        <p:txBody>
          <a:bodyPr wrap="square" lIns="0" tIns="0" rIns="0" bIns="0" rtlCol="0" anchor="ctr"/>
          <a:lstStyle/>
          <a:p>
            <a:pPr indent="0" marL="0">
              <a:buNone/>
            </a:pPr>
            <a:r>
              <a:rPr lang="en-US" sz="1200" b="1" dirty="0">
                <a:solidFill>
                  <a:srgbClr val="06B6D4"/>
                </a:solidFill>
                <a:latin typeface="Arial" pitchFamily="34" charset="0"/>
                <a:ea typeface="Arial" pitchFamily="34" charset="-122"/>
                <a:cs typeface="Arial" pitchFamily="34" charset="-120"/>
              </a:rPr>
              <a:t>➔  Multi-Language Expansion</a:t>
            </a:r>
            <a:endParaRPr lang="en-US" sz="1200" dirty="0"/>
          </a:p>
        </p:txBody>
      </p:sp>
      <p:sp>
        <p:nvSpPr>
          <p:cNvPr id="28" name="Text 26"/>
          <p:cNvSpPr/>
          <p:nvPr/>
        </p:nvSpPr>
        <p:spPr>
          <a:xfrm>
            <a:off x="6675120" y="5193792"/>
            <a:ext cx="4480560" cy="50292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Extending reachability graphs to Python AST (FastAPI) and Go dependencies.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90B"/>
        </a:solidFill>
      </p:bgPr>
    </p:bg>
    <p:spTree>
      <p:nvGrpSpPr>
        <p:cNvPr id="1" name=""/>
        <p:cNvGrpSpPr/>
        <p:nvPr/>
      </p:nvGrpSpPr>
      <p:grpSpPr>
        <a:xfrm>
          <a:off x="0" y="0"/>
          <a:ext cx="0" cy="0"/>
          <a:chOff x="0" y="0"/>
          <a:chExt cx="0" cy="0"/>
        </a:xfrm>
      </p:grpSpPr>
      <p:sp>
        <p:nvSpPr>
          <p:cNvPr id="2" name="Text 0"/>
          <p:cNvSpPr/>
          <p:nvPr/>
        </p:nvSpPr>
        <p:spPr>
          <a:xfrm>
            <a:off x="731520" y="411480"/>
            <a:ext cx="10698480" cy="274320"/>
          </a:xfrm>
          <a:prstGeom prst="rect">
            <a:avLst/>
          </a:prstGeom>
          <a:noFill/>
          <a:ln/>
        </p:spPr>
        <p:txBody>
          <a:bodyPr wrap="square" lIns="0" tIns="0" rIns="0" bIns="0" rtlCol="0" anchor="ctr"/>
          <a:lstStyle/>
          <a:p>
            <a:pPr indent="0" marL="0">
              <a:buNone/>
            </a:pPr>
            <a:r>
              <a:rPr lang="en-US" sz="1000" b="1" dirty="0">
                <a:solidFill>
                  <a:srgbClr val="06B6D4"/>
                </a:solidFill>
                <a:latin typeface="Consolas" pitchFamily="34" charset="0"/>
                <a:ea typeface="Consolas" pitchFamily="34" charset="-122"/>
                <a:cs typeface="Consolas" pitchFamily="34" charset="-120"/>
              </a:rPr>
              <a:t>[CALL TO ACTION // CLOSING VISION]</a:t>
            </a:r>
            <a:pPr indent="0" marL="0">
              <a:buNone/>
            </a:pPr>
            <a:r>
              <a:rPr lang="en-US" sz="1000" dirty="0">
                <a:solidFill>
                  <a:srgbClr val="71717A"/>
                </a:solidFill>
                <a:latin typeface="Consolas" pitchFamily="34" charset="0"/>
                <a:ea typeface="Consolas" pitchFamily="34" charset="-122"/>
                <a:cs typeface="Consolas" pitchFamily="34" charset="-120"/>
              </a:rPr>
              <a:t> // PRASUNEX 2026 TELEMETRY</a:t>
            </a:r>
            <a:endParaRPr lang="en-US" sz="1000" dirty="0"/>
          </a:p>
        </p:txBody>
      </p:sp>
      <p:sp>
        <p:nvSpPr>
          <p:cNvPr id="3" name="Text 1"/>
          <p:cNvSpPr/>
          <p:nvPr/>
        </p:nvSpPr>
        <p:spPr>
          <a:xfrm>
            <a:off x="731520" y="731520"/>
            <a:ext cx="1069848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Build with the Velocity of AI. Keep the Clarity of a Master Craftsman.</a:t>
            </a:r>
            <a:endParaRPr lang="en-US" sz="2400" dirty="0"/>
          </a:p>
        </p:txBody>
      </p:sp>
      <p:sp>
        <p:nvSpPr>
          <p:cNvPr id="4" name="Text 2"/>
          <p:cNvSpPr/>
          <p:nvPr/>
        </p:nvSpPr>
        <p:spPr>
          <a:xfrm>
            <a:off x="731520" y="1298448"/>
            <a:ext cx="10698480" cy="320040"/>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The future of software belongs to builders who pair AI generation with mathematical verification.</a:t>
            </a:r>
            <a:endParaRPr lang="en-US" sz="1300" dirty="0"/>
          </a:p>
        </p:txBody>
      </p:sp>
      <p:sp>
        <p:nvSpPr>
          <p:cNvPr id="5" name="Text 3"/>
          <p:cNvSpPr/>
          <p:nvPr/>
        </p:nvSpPr>
        <p:spPr>
          <a:xfrm>
            <a:off x="731520" y="6400800"/>
            <a:ext cx="8686800" cy="274320"/>
          </a:xfrm>
          <a:prstGeom prst="rect">
            <a:avLst/>
          </a:prstGeom>
          <a:noFill/>
          <a:ln/>
        </p:spPr>
        <p:txBody>
          <a:bodyPr wrap="square" lIns="0" tIns="0" rIns="0" bIns="0" rtlCol="0" anchor="ctr"/>
          <a:lstStyle/>
          <a:p>
            <a:pPr indent="0" marL="0">
              <a:buNone/>
            </a:pPr>
            <a:r>
              <a:rPr lang="en-US" sz="900" dirty="0">
                <a:solidFill>
                  <a:srgbClr val="71717A"/>
                </a:solidFill>
                <a:latin typeface="Consolas" pitchFamily="34" charset="0"/>
                <a:ea typeface="Consolas" pitchFamily="34" charset="-122"/>
                <a:cs typeface="Consolas" pitchFamily="34" charset="-120"/>
              </a:rPr>
              <a:t>VIBELENS // INDUSTRIAL SECURITY TELEMETRY</a:t>
            </a:r>
            <a:pPr indent="0" marL="0">
              <a:buNone/>
            </a:pPr>
            <a:r>
              <a:rPr lang="en-US" sz="900" dirty="0">
                <a:solidFill>
                  <a:srgbClr val="71717A"/>
                </a:solidFill>
                <a:latin typeface="Consolas" pitchFamily="34" charset="0"/>
                <a:ea typeface="Consolas" pitchFamily="34" charset="-122"/>
                <a:cs typeface="Consolas" pitchFamily="34" charset="-120"/>
              </a:rPr>
              <a:t>   •   100% LOCAL PRIVACY   •   ZERO CLOUD CODE UPLOADS   •   PURE NATIVE EDITABLE TEXT</a:t>
            </a:r>
            <a:endParaRPr lang="en-US" sz="900" dirty="0"/>
          </a:p>
        </p:txBody>
      </p:sp>
      <p:sp>
        <p:nvSpPr>
          <p:cNvPr id="6" name="Text 4"/>
          <p:cNvSpPr/>
          <p:nvPr/>
        </p:nvSpPr>
        <p:spPr>
          <a:xfrm>
            <a:off x="9601200" y="6400800"/>
            <a:ext cx="1828800" cy="274320"/>
          </a:xfrm>
          <a:prstGeom prst="rect">
            <a:avLst/>
          </a:prstGeom>
          <a:noFill/>
          <a:ln/>
        </p:spPr>
        <p:txBody>
          <a:bodyPr wrap="square" lIns="0" tIns="0" rIns="0" bIns="0" rtlCol="0" anchor="ctr"/>
          <a:lstStyle/>
          <a:p>
            <a:pPr algn="r" indent="0" marL="0">
              <a:buNone/>
            </a:pPr>
            <a:r>
              <a:rPr lang="en-US" sz="900" dirty="0">
                <a:solidFill>
                  <a:srgbClr val="06B6D4"/>
                </a:solidFill>
                <a:latin typeface="Consolas" pitchFamily="34" charset="0"/>
                <a:ea typeface="Consolas" pitchFamily="34" charset="-122"/>
                <a:cs typeface="Consolas" pitchFamily="34" charset="-120"/>
              </a:rPr>
              <a:t>SLIDE 12 / 12</a:t>
            </a:r>
            <a:endParaRPr lang="en-US" sz="900" dirty="0"/>
          </a:p>
        </p:txBody>
      </p:sp>
      <p:sp>
        <p:nvSpPr>
          <p:cNvPr id="7" name="Shape 5"/>
          <p:cNvSpPr/>
          <p:nvPr/>
        </p:nvSpPr>
        <p:spPr>
          <a:xfrm>
            <a:off x="731520" y="1874520"/>
            <a:ext cx="5257800" cy="3246120"/>
          </a:xfrm>
          <a:prstGeom prst="rect">
            <a:avLst/>
          </a:prstGeom>
          <a:solidFill>
            <a:srgbClr val="111115"/>
          </a:solidFill>
          <a:ln w="19050">
            <a:solidFill>
              <a:srgbClr val="06B6D4"/>
            </a:solidFill>
            <a:prstDash val="solid"/>
          </a:ln>
        </p:spPr>
      </p:sp>
      <p:sp>
        <p:nvSpPr>
          <p:cNvPr id="8" name="Text 6"/>
          <p:cNvSpPr/>
          <p:nvPr/>
        </p:nvSpPr>
        <p:spPr>
          <a:xfrm>
            <a:off x="1005840" y="2103120"/>
            <a:ext cx="4709160" cy="228600"/>
          </a:xfrm>
          <a:prstGeom prst="rect">
            <a:avLst/>
          </a:prstGeom>
          <a:noFill/>
          <a:ln/>
        </p:spPr>
        <p:txBody>
          <a:bodyPr wrap="square" lIns="0" tIns="0" rIns="0" bIns="0" rtlCol="0" anchor="ctr"/>
          <a:lstStyle/>
          <a:p>
            <a:pPr indent="0" marL="0">
              <a:buNone/>
            </a:pPr>
            <a:r>
              <a:rPr lang="en-US" sz="1100" b="1" dirty="0">
                <a:solidFill>
                  <a:srgbClr val="06B6D4"/>
                </a:solidFill>
                <a:latin typeface="Consolas" pitchFamily="34" charset="0"/>
                <a:ea typeface="Consolas" pitchFamily="34" charset="-122"/>
                <a:cs typeface="Consolas" pitchFamily="34" charset="-120"/>
              </a:rPr>
              <a:t>WHAT WE ARE ASKING FROM THE JUDGES</a:t>
            </a:r>
            <a:endParaRPr lang="en-US" sz="1100" dirty="0"/>
          </a:p>
        </p:txBody>
      </p:sp>
      <p:sp>
        <p:nvSpPr>
          <p:cNvPr id="9" name="Text 7"/>
          <p:cNvSpPr/>
          <p:nvPr/>
        </p:nvSpPr>
        <p:spPr>
          <a:xfrm>
            <a:off x="1005840" y="2468880"/>
            <a:ext cx="470916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Feedback on Static Heuristics:</a:t>
            </a:r>
            <a:endParaRPr lang="en-US" sz="1200" dirty="0"/>
          </a:p>
        </p:txBody>
      </p:sp>
      <p:sp>
        <p:nvSpPr>
          <p:cNvPr id="10" name="Text 8"/>
          <p:cNvSpPr/>
          <p:nvPr/>
        </p:nvSpPr>
        <p:spPr>
          <a:xfrm>
            <a:off x="1234440" y="2670048"/>
            <a:ext cx="4480560" cy="41148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Insights from security architects on handling complex dynamic import edges.</a:t>
            </a:r>
            <a:endParaRPr lang="en-US" sz="1100" dirty="0"/>
          </a:p>
        </p:txBody>
      </p:sp>
      <p:sp>
        <p:nvSpPr>
          <p:cNvPr id="11" name="Text 9"/>
          <p:cNvSpPr/>
          <p:nvPr/>
        </p:nvSpPr>
        <p:spPr>
          <a:xfrm>
            <a:off x="1005840" y="3163824"/>
            <a:ext cx="470916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Ecosystem Mentorship:</a:t>
            </a:r>
            <a:endParaRPr lang="en-US" sz="1200" dirty="0"/>
          </a:p>
        </p:txBody>
      </p:sp>
      <p:sp>
        <p:nvSpPr>
          <p:cNvPr id="12" name="Text 10"/>
          <p:cNvSpPr/>
          <p:nvPr/>
        </p:nvSpPr>
        <p:spPr>
          <a:xfrm>
            <a:off x="1234440" y="3364992"/>
            <a:ext cx="4480560" cy="41148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Guidance on integrating directly into GitHub Actions and npm package publishing pipelines.</a:t>
            </a:r>
            <a:endParaRPr lang="en-US" sz="1100" dirty="0"/>
          </a:p>
        </p:txBody>
      </p:sp>
      <p:sp>
        <p:nvSpPr>
          <p:cNvPr id="13" name="Text 11"/>
          <p:cNvSpPr/>
          <p:nvPr/>
        </p:nvSpPr>
        <p:spPr>
          <a:xfrm>
            <a:off x="1005840" y="3858768"/>
            <a:ext cx="470916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Design Partner Pilots:</a:t>
            </a:r>
            <a:endParaRPr lang="en-US" sz="1200" dirty="0"/>
          </a:p>
        </p:txBody>
      </p:sp>
      <p:sp>
        <p:nvSpPr>
          <p:cNvPr id="14" name="Text 12"/>
          <p:cNvSpPr/>
          <p:nvPr/>
        </p:nvSpPr>
        <p:spPr>
          <a:xfrm>
            <a:off x="1234440" y="4059936"/>
            <a:ext cx="4480560" cy="41148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3 fast-moving engineering teams to run VibeLens in active CI/CD development.</a:t>
            </a:r>
            <a:endParaRPr lang="en-US" sz="1100" dirty="0"/>
          </a:p>
        </p:txBody>
      </p:sp>
      <p:sp>
        <p:nvSpPr>
          <p:cNvPr id="15" name="Shape 13"/>
          <p:cNvSpPr/>
          <p:nvPr/>
        </p:nvSpPr>
        <p:spPr>
          <a:xfrm>
            <a:off x="6172200" y="1874520"/>
            <a:ext cx="5257800" cy="3246120"/>
          </a:xfrm>
          <a:prstGeom prst="rect">
            <a:avLst/>
          </a:prstGeom>
          <a:solidFill>
            <a:srgbClr val="111115"/>
          </a:solidFill>
          <a:ln w="19050">
            <a:solidFill>
              <a:srgbClr val="10B981"/>
            </a:solidFill>
            <a:prstDash val="solid"/>
          </a:ln>
        </p:spPr>
      </p:sp>
      <p:sp>
        <p:nvSpPr>
          <p:cNvPr id="16" name="Text 14"/>
          <p:cNvSpPr/>
          <p:nvPr/>
        </p:nvSpPr>
        <p:spPr>
          <a:xfrm>
            <a:off x="6446520" y="2103120"/>
            <a:ext cx="4709160" cy="228600"/>
          </a:xfrm>
          <a:prstGeom prst="rect">
            <a:avLst/>
          </a:prstGeom>
          <a:noFill/>
          <a:ln/>
        </p:spPr>
        <p:txBody>
          <a:bodyPr wrap="square" lIns="0" tIns="0" rIns="0" bIns="0" rtlCol="0" anchor="ctr"/>
          <a:lstStyle/>
          <a:p>
            <a:pPr indent="0" marL="0">
              <a:buNone/>
            </a:pPr>
            <a:r>
              <a:rPr lang="en-US" sz="1100" b="1" dirty="0">
                <a:solidFill>
                  <a:srgbClr val="10B981"/>
                </a:solidFill>
                <a:latin typeface="Consolas" pitchFamily="34" charset="0"/>
                <a:ea typeface="Consolas" pitchFamily="34" charset="-122"/>
                <a:cs typeface="Consolas" pitchFamily="34" charset="-120"/>
              </a:rPr>
              <a:t>OUR COMMITMENT: 100% LOCAL PRIVACY</a:t>
            </a:r>
            <a:endParaRPr lang="en-US" sz="1100" dirty="0"/>
          </a:p>
        </p:txBody>
      </p:sp>
      <p:sp>
        <p:nvSpPr>
          <p:cNvPr id="17" name="Text 15"/>
          <p:cNvSpPr/>
          <p:nvPr/>
        </p:nvSpPr>
        <p:spPr>
          <a:xfrm>
            <a:off x="6446520" y="2468880"/>
            <a:ext cx="470916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Zero Cloud Code Uploads:</a:t>
            </a:r>
            <a:endParaRPr lang="en-US" sz="1200" dirty="0"/>
          </a:p>
        </p:txBody>
      </p:sp>
      <p:sp>
        <p:nvSpPr>
          <p:cNvPr id="18" name="Text 16"/>
          <p:cNvSpPr/>
          <p:nvPr/>
        </p:nvSpPr>
        <p:spPr>
          <a:xfrm>
            <a:off x="6675120" y="2670048"/>
            <a:ext cx="4480560" cy="41148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All AST parsing, call-graphs, and embeddings execute 100% locally on your machine.</a:t>
            </a:r>
            <a:endParaRPr lang="en-US" sz="1100" dirty="0"/>
          </a:p>
        </p:txBody>
      </p:sp>
      <p:sp>
        <p:nvSpPr>
          <p:cNvPr id="19" name="Text 17"/>
          <p:cNvSpPr/>
          <p:nvPr/>
        </p:nvSpPr>
        <p:spPr>
          <a:xfrm>
            <a:off x="6446520" y="3163824"/>
            <a:ext cx="470916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Zero API Key Tax:</a:t>
            </a:r>
            <a:endParaRPr lang="en-US" sz="1200" dirty="0"/>
          </a:p>
        </p:txBody>
      </p:sp>
      <p:sp>
        <p:nvSpPr>
          <p:cNvPr id="20" name="Text 18"/>
          <p:cNvSpPr/>
          <p:nvPr/>
        </p:nvSpPr>
        <p:spPr>
          <a:xfrm>
            <a:off x="6675120" y="3364992"/>
            <a:ext cx="4480560" cy="41148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Powered by on-device sentence transformers in WebAssembly. No OpenAI tokens consumed.</a:t>
            </a:r>
            <a:endParaRPr lang="en-US" sz="1100" dirty="0"/>
          </a:p>
        </p:txBody>
      </p:sp>
      <p:sp>
        <p:nvSpPr>
          <p:cNvPr id="21" name="Text 19"/>
          <p:cNvSpPr/>
          <p:nvPr/>
        </p:nvSpPr>
        <p:spPr>
          <a:xfrm>
            <a:off x="6446520" y="3858768"/>
            <a:ext cx="4709160" cy="2286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  Open Source &amp; Local First:</a:t>
            </a:r>
            <a:endParaRPr lang="en-US" sz="1200" dirty="0"/>
          </a:p>
        </p:txBody>
      </p:sp>
      <p:sp>
        <p:nvSpPr>
          <p:cNvPr id="22" name="Text 20"/>
          <p:cNvSpPr/>
          <p:nvPr/>
        </p:nvSpPr>
        <p:spPr>
          <a:xfrm>
            <a:off x="6675120" y="4059936"/>
            <a:ext cx="4480560" cy="411480"/>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Built for developers who value autonomy, privacy, and speed.</a:t>
            </a:r>
            <a:endParaRPr lang="en-US" sz="1100" dirty="0"/>
          </a:p>
        </p:txBody>
      </p:sp>
      <p:sp>
        <p:nvSpPr>
          <p:cNvPr id="23" name="Shape 21"/>
          <p:cNvSpPr/>
          <p:nvPr/>
        </p:nvSpPr>
        <p:spPr>
          <a:xfrm>
            <a:off x="731520" y="5303520"/>
            <a:ext cx="10698480" cy="868680"/>
          </a:xfrm>
          <a:prstGeom prst="rect">
            <a:avLst/>
          </a:prstGeom>
          <a:solidFill>
            <a:srgbClr val="111115"/>
          </a:solidFill>
          <a:ln w="12700">
            <a:solidFill>
              <a:srgbClr val="06B6D4"/>
            </a:solidFill>
            <a:prstDash val="solid"/>
          </a:ln>
        </p:spPr>
      </p:sp>
      <p:sp>
        <p:nvSpPr>
          <p:cNvPr id="24" name="Text 22"/>
          <p:cNvSpPr/>
          <p:nvPr/>
        </p:nvSpPr>
        <p:spPr>
          <a:xfrm>
            <a:off x="1005840" y="5440680"/>
            <a:ext cx="10058400" cy="3200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"Build with the velocity of AI. Keep the clarity of a master craftsman."</a:t>
            </a:r>
            <a:endParaRPr lang="en-US" sz="1700" dirty="0"/>
          </a:p>
        </p:txBody>
      </p:sp>
      <p:sp>
        <p:nvSpPr>
          <p:cNvPr id="25" name="Text 23"/>
          <p:cNvSpPr/>
          <p:nvPr/>
        </p:nvSpPr>
        <p:spPr>
          <a:xfrm>
            <a:off x="1005840" y="5806440"/>
            <a:ext cx="10058400" cy="228600"/>
          </a:xfrm>
          <a:prstGeom prst="rect">
            <a:avLst/>
          </a:prstGeom>
          <a:noFill/>
          <a:ln/>
        </p:spPr>
        <p:txBody>
          <a:bodyPr wrap="square" lIns="0" tIns="0" rIns="0" bIns="0" rtlCol="0" anchor="ctr"/>
          <a:lstStyle/>
          <a:p>
            <a:pPr algn="ctr" indent="0" marL="0">
              <a:buNone/>
            </a:pPr>
            <a:r>
              <a:rPr lang="en-US" sz="1000" dirty="0">
                <a:solidFill>
                  <a:srgbClr val="06B6D4"/>
                </a:solidFill>
                <a:latin typeface="Consolas" pitchFamily="34" charset="0"/>
                <a:ea typeface="Consolas" pitchFamily="34" charset="-122"/>
                <a:cs typeface="Consolas" pitchFamily="34" charset="-120"/>
              </a:rPr>
              <a:t>github.com/chiraggoenka17512-coder/vibelens  •  Prasunex Innovathon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VibeLens Pitch Deck</dc:title>
  <dc:subject>PptxGenJS Presentation</dc:subject>
  <dc:creator>VibeLens Team (Prasunex 2026)</dc:creator>
  <cp:lastModifiedBy>VibeLens Team (Prasunex 2026)</cp:lastModifiedBy>
  <cp:revision>1</cp:revision>
  <dcterms:created xsi:type="dcterms:W3CDTF">2026-10-31T10:37:13Z</dcterms:created>
  <dcterms:modified xsi:type="dcterms:W3CDTF">2026-10-31T10:37:13Z</dcterms:modified>
</cp:coreProperties>
</file>