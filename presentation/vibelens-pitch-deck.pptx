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welcome to VibeLens. Notice what you are looking at: not a neon gradient SaaS deck, but a workshop inspection bench. VibeLens is an optical instrument for code. In the AI era, code is generated in seconds, but dependency scanners drown developers in hundreds of false alarms. Our thesis is calm and absolute: Only fix the vulnerabilities your code can actually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slide 2: Warm paper. One dominant number: 36. This is the alert count from running npm audit on our own testbed. On the right, look at the column of CVE IDs fading out like fog. 34 of those CVEs are completely dormant. When security tools cry wolf 34 times, developers either waste days triaging or ignore the scanner completely. With AI generating code at 10x speed, the fog only thickens.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shows the core insight. On the left: A vulnerability matters only if a path exists from an entry point to the vulnerable code. On the right: Three outlined boxes in a straight line. Look at the amber line connecting them. The route calls the processor, which calls lodash.merge. That is an active, verified exploit path. But at the bottom in grey: jsonwebtoken. It's imported in package.json, but no path reaches it. It stays dark.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how slide 4 avoids four generic icon boxes. Instead, it shows the exact transformation in three stages connected by a single line. Stage 1: The raw file tree on disk. Stage 2: Babel parses it into an AST import graph. Stage 3: The labeled result—where the single reachable path is highlighted in amber, and the 34 phantom alerts are silenced.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is full-bleed dark terminal. No fabricated marketing numbers. This is the exact CLI output of VibeLens running against our test repository. Notice the amber highlighted trace: it starts at the Next.js checkout route, travels through processOrder, and hits lodash.merge. It flags that as reachable, while silencing the 34 phantom alarms. That clarity in 12 milliseconds is what engineers care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uses the circular lens crop as requested. In the center, the 3D graph is viewed through the optical aperture. Look at the two thin leader lines: On the left, the amber laser arc tracing the exploit path. On the right, the steel blue dormant nodes staying quiet in the dark. The caption at the bottom anchors the entire interaction: 'Click a finding to light up its path through the codebase.'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is typographic and quiet. Notice the three badges at real UI size: Reachable in amber, Possibly Reachable in steel blue, and No Static Path Found in grey. Below them is the line that wins technical credibility with security judges: VibeLens never says 'safe', with the word struck through. In dynamic JavaScript with eval and reflection, absolute safety is unprovable. Being honest about that builds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presents verified data with zero 3D clutter. The headline number dominates: -94.4% noise reduction. On the right, two simple flat bars: 36 alerts from npm audit on the left, reduced to 2 verified reachable vulnerabilities on the right. 34 false alarms silenced, saving hours of developer triage.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replaces generic persona cards with a clear 2x2 positioning map. On the vertical axis: AI code velocity. On the horizontal axis: Team security expertise. Look at the amber dot in the top-left quadrant: High AI velocity, low dedicated security staff. That is where VibeLens lives: protecting the fastest-moving developers who cannot afford a dedicated AppSec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details our architecture: clean, outlined boxes with straight lines on warm paper. Notice the amber data path connecting them from left to right: Babel parses the code on-device; our call-graph engine maps the symbol graph; the ReachableSec DFS gate isolates true vulnerabilities; and Three.js plus our MCP bridge surfaces the result to developers and AI coding agents. 100% TypeScript, &lt;15ms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our discipline on slide 11. Instead of pretending everything is finished, a single horizon line bisects the slide. The solid white line on the left marks what is built, tested, and verified today: ReachableSec and the 3D X-Ray. The dashed amber line on the right marks our post-hackathon roadmap. That honesty demonstrates maturity and execution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AI coding assistants allow us to build software faster than ever before in human history. But speed without optical inspection creates blindness. VibeLens gives developers and teams the inspection bench they need: mathematical reachability, 100% local privacy, and zero phantom noise. Build with the velocity of AI. Keep the clarity of a master craftsman.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4"/>
        </a:solidFill>
      </p:bgPr>
    </p:bg>
    <p:spTree>
      <p:nvGrpSpPr>
        <p:cNvPr id="1" name=""/>
        <p:cNvGrpSpPr/>
        <p:nvPr/>
      </p:nvGrpSpPr>
      <p:grpSpPr>
        <a:xfrm>
          <a:off x="0" y="0"/>
          <a:ext cx="0" cy="0"/>
          <a:chOff x="0" y="0"/>
          <a:chExt cx="0" cy="0"/>
        </a:xfrm>
      </p:grpSpPr>
      <p:sp>
        <p:nvSpPr>
          <p:cNvPr id="2" name="Shape 0"/>
          <p:cNvSpPr/>
          <p:nvPr/>
        </p:nvSpPr>
        <p:spPr>
          <a:xfrm>
            <a:off x="1828800" y="1371600"/>
            <a:ext cx="8503920" cy="0"/>
          </a:xfrm>
          <a:prstGeom prst="line">
            <a:avLst/>
          </a:prstGeom>
          <a:noFill/>
          <a:ln w="6350">
            <a:solidFill>
              <a:srgbClr val="2D333B"/>
            </a:solidFill>
            <a:prstDash val="dash"/>
          </a:ln>
        </p:spPr>
      </p:sp>
      <p:sp>
        <p:nvSpPr>
          <p:cNvPr id="3" name="Shape 1"/>
          <p:cNvSpPr/>
          <p:nvPr/>
        </p:nvSpPr>
        <p:spPr>
          <a:xfrm>
            <a:off x="1828800" y="3200400"/>
            <a:ext cx="8503920" cy="0"/>
          </a:xfrm>
          <a:prstGeom prst="line">
            <a:avLst/>
          </a:prstGeom>
          <a:noFill/>
          <a:ln w="6350">
            <a:solidFill>
              <a:srgbClr val="2D333B"/>
            </a:solidFill>
            <a:prstDash val="dash"/>
          </a:ln>
        </p:spPr>
      </p:sp>
      <p:sp>
        <p:nvSpPr>
          <p:cNvPr id="4" name="Shape 2"/>
          <p:cNvSpPr/>
          <p:nvPr/>
        </p:nvSpPr>
        <p:spPr>
          <a:xfrm>
            <a:off x="1828800" y="5029200"/>
            <a:ext cx="8503920" cy="0"/>
          </a:xfrm>
          <a:prstGeom prst="line">
            <a:avLst/>
          </a:prstGeom>
          <a:noFill/>
          <a:ln w="6350">
            <a:solidFill>
              <a:srgbClr val="2D333B"/>
            </a:solidFill>
            <a:prstDash val="dash"/>
          </a:ln>
        </p:spPr>
      </p:sp>
      <p:sp>
        <p:nvSpPr>
          <p:cNvPr id="5" name="Shape 3"/>
          <p:cNvSpPr/>
          <p:nvPr/>
        </p:nvSpPr>
        <p:spPr>
          <a:xfrm>
            <a:off x="3200400" y="914400"/>
            <a:ext cx="0" cy="4572000"/>
          </a:xfrm>
          <a:prstGeom prst="line">
            <a:avLst/>
          </a:prstGeom>
          <a:noFill/>
          <a:ln w="6350">
            <a:solidFill>
              <a:srgbClr val="2D333B"/>
            </a:solidFill>
            <a:prstDash val="dash"/>
          </a:ln>
        </p:spPr>
      </p:sp>
      <p:sp>
        <p:nvSpPr>
          <p:cNvPr id="6" name="Shape 4"/>
          <p:cNvSpPr/>
          <p:nvPr/>
        </p:nvSpPr>
        <p:spPr>
          <a:xfrm>
            <a:off x="5943600" y="914400"/>
            <a:ext cx="0" cy="4572000"/>
          </a:xfrm>
          <a:prstGeom prst="line">
            <a:avLst/>
          </a:prstGeom>
          <a:noFill/>
          <a:ln w="6350">
            <a:solidFill>
              <a:srgbClr val="2D333B"/>
            </a:solidFill>
            <a:prstDash val="dash"/>
          </a:ln>
        </p:spPr>
      </p:sp>
      <p:sp>
        <p:nvSpPr>
          <p:cNvPr id="7" name="Shape 5"/>
          <p:cNvSpPr/>
          <p:nvPr/>
        </p:nvSpPr>
        <p:spPr>
          <a:xfrm>
            <a:off x="8686800" y="914400"/>
            <a:ext cx="0" cy="4572000"/>
          </a:xfrm>
          <a:prstGeom prst="line">
            <a:avLst/>
          </a:prstGeom>
          <a:noFill/>
          <a:ln w="6350">
            <a:solidFill>
              <a:srgbClr val="2D333B"/>
            </a:solidFill>
            <a:prstDash val="dash"/>
          </a:ln>
        </p:spPr>
      </p:sp>
      <p:sp>
        <p:nvSpPr>
          <p:cNvPr id="8" name="Text 6"/>
          <p:cNvSpPr/>
          <p:nvPr/>
        </p:nvSpPr>
        <p:spPr>
          <a:xfrm>
            <a:off x="914400" y="1005840"/>
            <a:ext cx="10332720" cy="320040"/>
          </a:xfrm>
          <a:prstGeom prst="rect">
            <a:avLst/>
          </a:prstGeom>
          <a:noFill/>
          <a:ln/>
        </p:spPr>
        <p:txBody>
          <a:bodyPr wrap="square" lIns="0" tIns="0" rIns="0" bIns="0" rtlCol="0" anchor="ctr"/>
          <a:lstStyle/>
          <a:p>
            <a:pPr indent="0" marL="0">
              <a:buNone/>
            </a:pPr>
            <a:r>
              <a:rPr lang="en-US" sz="1100" dirty="0">
                <a:solidFill>
                  <a:srgbClr val="5B7C99"/>
                </a:solidFill>
                <a:latin typeface="Consolas" pitchFamily="34" charset="0"/>
                <a:ea typeface="Consolas" pitchFamily="34" charset="-122"/>
                <a:cs typeface="Consolas" pitchFamily="34" charset="-120"/>
              </a:rPr>
              <a:t>[ PRASUNEX INNOVATHON 2026 // CODEBASE INSPECTION BENCH ]</a:t>
            </a:r>
            <a:endParaRPr lang="en-US" sz="1100" dirty="0"/>
          </a:p>
        </p:txBody>
      </p:sp>
      <p:sp>
        <p:nvSpPr>
          <p:cNvPr id="9" name="Text 7"/>
          <p:cNvSpPr/>
          <p:nvPr/>
        </p:nvSpPr>
        <p:spPr>
          <a:xfrm>
            <a:off x="914400" y="1645920"/>
            <a:ext cx="5943600" cy="1188720"/>
          </a:xfrm>
          <a:prstGeom prst="rect">
            <a:avLst/>
          </a:prstGeom>
          <a:noFill/>
          <a:ln/>
        </p:spPr>
        <p:txBody>
          <a:bodyPr wrap="square" lIns="0" tIns="0" rIns="0" bIns="0" rtlCol="0" anchor="ctr"/>
          <a:lstStyle/>
          <a:p>
            <a:pPr indent="0" marL="0">
              <a:buNone/>
            </a:pPr>
            <a:r>
              <a:rPr lang="en-US" sz="7600" b="1" dirty="0">
                <a:solidFill>
                  <a:srgbClr val="F4F1EA"/>
                </a:solidFill>
                <a:latin typeface="Georgia" pitchFamily="34" charset="0"/>
                <a:ea typeface="Georgia" pitchFamily="34" charset="-122"/>
                <a:cs typeface="Georgia" pitchFamily="34" charset="-120"/>
              </a:rPr>
              <a:t>VibeLens</a:t>
            </a:r>
            <a:endParaRPr lang="en-US" sz="7600" dirty="0"/>
          </a:p>
        </p:txBody>
      </p:sp>
      <p:sp>
        <p:nvSpPr>
          <p:cNvPr id="10" name="Shape 8"/>
          <p:cNvSpPr/>
          <p:nvPr/>
        </p:nvSpPr>
        <p:spPr>
          <a:xfrm>
            <a:off x="7315200" y="1737360"/>
            <a:ext cx="1097280" cy="1097280"/>
          </a:xfrm>
          <a:prstGeom prst="ellipse">
            <a:avLst/>
          </a:prstGeom>
          <a:noFill/>
          <a:ln w="31750">
            <a:solidFill>
              <a:srgbClr val="E8A33D"/>
            </a:solidFill>
            <a:prstDash val="solid"/>
          </a:ln>
        </p:spPr>
      </p:sp>
      <p:sp>
        <p:nvSpPr>
          <p:cNvPr id="11" name="Shape 9"/>
          <p:cNvSpPr/>
          <p:nvPr/>
        </p:nvSpPr>
        <p:spPr>
          <a:xfrm>
            <a:off x="7543800" y="1965960"/>
            <a:ext cx="640080" cy="640080"/>
          </a:xfrm>
          <a:prstGeom prst="ellipse">
            <a:avLst/>
          </a:prstGeom>
          <a:noFill/>
          <a:ln w="12700">
            <a:solidFill>
              <a:srgbClr val="5B7C99"/>
            </a:solidFill>
            <a:prstDash val="dash"/>
          </a:ln>
        </p:spPr>
      </p:sp>
      <p:sp>
        <p:nvSpPr>
          <p:cNvPr id="12" name="Shape 10"/>
          <p:cNvSpPr/>
          <p:nvPr/>
        </p:nvSpPr>
        <p:spPr>
          <a:xfrm>
            <a:off x="7790688" y="2212848"/>
            <a:ext cx="146304" cy="146304"/>
          </a:xfrm>
          <a:prstGeom prst="ellipse">
            <a:avLst/>
          </a:prstGeom>
          <a:solidFill>
            <a:srgbClr val="E8A33D"/>
          </a:solidFill>
          <a:ln/>
        </p:spPr>
      </p:sp>
      <p:sp>
        <p:nvSpPr>
          <p:cNvPr id="13" name="Text 11"/>
          <p:cNvSpPr/>
          <p:nvPr/>
        </p:nvSpPr>
        <p:spPr>
          <a:xfrm>
            <a:off x="914400" y="3017520"/>
            <a:ext cx="10058400" cy="457200"/>
          </a:xfrm>
          <a:prstGeom prst="rect">
            <a:avLst/>
          </a:prstGeom>
          <a:noFill/>
          <a:ln/>
        </p:spPr>
        <p:txBody>
          <a:bodyPr wrap="square" lIns="0" tIns="0" rIns="0" bIns="0" rtlCol="0" anchor="ctr"/>
          <a:lstStyle/>
          <a:p>
            <a:pPr indent="0" marL="0">
              <a:buNone/>
            </a:pPr>
            <a:r>
              <a:rPr lang="en-US" sz="2200" dirty="0">
                <a:solidFill>
                  <a:srgbClr val="E8A33D"/>
                </a:solidFill>
                <a:latin typeface="Georgia" pitchFamily="34" charset="0"/>
                <a:ea typeface="Georgia" pitchFamily="34" charset="-122"/>
                <a:cs typeface="Georgia" pitchFamily="34" charset="-120"/>
              </a:rPr>
              <a:t>"Only fix the vulnerabilities your code can actually reach."</a:t>
            </a:r>
            <a:endParaRPr lang="en-US" sz="2200" dirty="0"/>
          </a:p>
        </p:txBody>
      </p:sp>
      <p:sp>
        <p:nvSpPr>
          <p:cNvPr id="14" name="Text 12"/>
          <p:cNvSpPr/>
          <p:nvPr/>
        </p:nvSpPr>
        <p:spPr>
          <a:xfrm>
            <a:off x="914400" y="3657600"/>
            <a:ext cx="8686800" cy="640080"/>
          </a:xfrm>
          <a:prstGeom prst="rect">
            <a:avLst/>
          </a:prstGeom>
          <a:noFill/>
          <a:ln/>
        </p:spPr>
        <p:txBody>
          <a:bodyPr wrap="square" lIns="0" tIns="0" rIns="0" bIns="0" rtlCol="0" anchor="ctr"/>
          <a:lstStyle/>
          <a:p>
            <a:pPr indent="0" marL="0">
              <a:buNone/>
            </a:pPr>
            <a:r>
              <a:rPr lang="en-US" sz="1400" dirty="0">
                <a:solidFill>
                  <a:srgbClr val="8B949E"/>
                </a:solidFill>
                <a:latin typeface="Arial" pitchFamily="34" charset="0"/>
                <a:ea typeface="Arial" pitchFamily="34" charset="-122"/>
                <a:cs typeface="Arial" pitchFamily="34" charset="-120"/>
              </a:rPr>
              <a:t>A deterministic reachability lens that traces call-paths from entry points to dependencies, separating verified zero-day exploit paths from dormant phantom noise.</a:t>
            </a:r>
            <a:endParaRPr lang="en-US" sz="1400" dirty="0"/>
          </a:p>
        </p:txBody>
      </p:sp>
      <p:sp>
        <p:nvSpPr>
          <p:cNvPr id="15" name="Text 13"/>
          <p:cNvSpPr/>
          <p:nvPr/>
        </p:nvSpPr>
        <p:spPr>
          <a:xfrm>
            <a:off x="914400" y="5120640"/>
            <a:ext cx="10332720" cy="274320"/>
          </a:xfrm>
          <a:prstGeom prst="rect">
            <a:avLst/>
          </a:prstGeom>
          <a:noFill/>
          <a:ln/>
        </p:spPr>
        <p:txBody>
          <a:bodyPr wrap="square" lIns="0" tIns="0" rIns="0" bIns="0" rtlCol="0" anchor="ctr"/>
          <a:lstStyle/>
          <a:p>
            <a:pPr indent="0" marL="0">
              <a:buNone/>
            </a:pPr>
            <a:r>
              <a:rPr lang="en-US" sz="1100" dirty="0">
                <a:solidFill>
                  <a:srgbClr val="5B7C99"/>
                </a:solidFill>
                <a:latin typeface="Consolas" pitchFamily="34" charset="0"/>
                <a:ea typeface="Consolas" pitchFamily="34" charset="-122"/>
                <a:cs typeface="Consolas" pitchFamily="34" charset="-120"/>
              </a:rPr>
              <a:t>TEAM: Chirag Goenka • Rajveer Singh • Vihaan Verma • Aaryan Sharma • Archit Agrawal</a:t>
            </a:r>
            <a:endParaRPr lang="en-US" sz="1100" dirty="0"/>
          </a:p>
        </p:txBody>
      </p:sp>
      <p:sp>
        <p:nvSpPr>
          <p:cNvPr id="16" name="Text 14"/>
          <p:cNvSpPr/>
          <p:nvPr/>
        </p:nvSpPr>
        <p:spPr>
          <a:xfrm>
            <a:off x="914400" y="6400800"/>
            <a:ext cx="10332720" cy="228600"/>
          </a:xfrm>
          <a:prstGeom prst="rect">
            <a:avLst/>
          </a:prstGeom>
          <a:noFill/>
          <a:ln/>
        </p:spPr>
        <p:txBody>
          <a:bodyPr wrap="square" lIns="0" tIns="0" rIns="0" bIns="0" rtlCol="0" anchor="ctr"/>
          <a:lstStyle/>
          <a:p>
            <a:pPr indent="0" marL="0">
              <a:buNone/>
            </a:pPr>
            <a:r>
              <a:rPr lang="en-US" sz="900" dirty="0">
                <a:solidFill>
                  <a:srgbClr val="57606A"/>
                </a:solidFill>
                <a:latin typeface="Consolas" pitchFamily="34" charset="0"/>
                <a:ea typeface="Consolas" pitchFamily="34" charset="-122"/>
                <a:cs typeface="Consolas" pitchFamily="34" charset="-120"/>
              </a:rPr>
              <a:t>VIBELENS // INSPECTION BENCH // 100% LOCAL PRIVACY // ZERO CLOUD LEAKS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14400" y="548640"/>
            <a:ext cx="7315200" cy="274320"/>
          </a:xfrm>
          <a:prstGeom prst="rect">
            <a:avLst/>
          </a:prstGeom>
          <a:noFill/>
          <a:ln/>
        </p:spPr>
        <p:txBody>
          <a:bodyPr wrap="square" lIns="0" tIns="0" rIns="0" bIns="0" rtlCol="0" anchor="ctr"/>
          <a:lstStyle/>
          <a:p>
            <a:pPr indent="0" marL="0">
              <a:buNone/>
            </a:pPr>
            <a:r>
              <a:rPr lang="en-US" sz="1000" dirty="0">
                <a:solidFill>
                  <a:srgbClr val="5B7C99"/>
                </a:solidFill>
                <a:latin typeface="Consolas" pitchFamily="34" charset="0"/>
                <a:ea typeface="Consolas" pitchFamily="34" charset="-122"/>
                <a:cs typeface="Consolas" pitchFamily="34" charset="-120"/>
              </a:rPr>
              <a:t>[ THE PROBLEM // THE ALERT FOG ]</a:t>
            </a:r>
            <a:endParaRPr lang="en-US" sz="1000" dirty="0"/>
          </a:p>
        </p:txBody>
      </p:sp>
      <p:sp>
        <p:nvSpPr>
          <p:cNvPr id="3" name="Text 1"/>
          <p:cNvSpPr/>
          <p:nvPr/>
        </p:nvSpPr>
        <p:spPr>
          <a:xfrm>
            <a:off x="9418320" y="548640"/>
            <a:ext cx="1828800" cy="274320"/>
          </a:xfrm>
          <a:prstGeom prst="rect">
            <a:avLst/>
          </a:prstGeom>
          <a:noFill/>
          <a:ln/>
        </p:spPr>
        <p:txBody>
          <a:bodyPr wrap="square" lIns="0" tIns="0" rIns="0" bIns="0" rtlCol="0" anchor="ctr"/>
          <a:lstStyle/>
          <a:p>
            <a:pPr algn="r" indent="0" marL="0">
              <a:buNone/>
            </a:pPr>
            <a:r>
              <a:rPr lang="en-US" sz="1000" dirty="0">
                <a:solidFill>
                  <a:srgbClr val="8C959F"/>
                </a:solidFill>
                <a:latin typeface="Consolas" pitchFamily="34" charset="0"/>
                <a:ea typeface="Consolas" pitchFamily="34" charset="-122"/>
                <a:cs typeface="Consolas" pitchFamily="34" charset="-120"/>
              </a:rPr>
              <a:t>SLIDE 02 / 12</a:t>
            </a:r>
            <a:endParaRPr lang="en-US" sz="1000" dirty="0"/>
          </a:p>
        </p:txBody>
      </p:sp>
      <p:sp>
        <p:nvSpPr>
          <p:cNvPr id="4" name="Text 2"/>
          <p:cNvSpPr/>
          <p:nvPr/>
        </p:nvSpPr>
        <p:spPr>
          <a:xfrm>
            <a:off x="8686800" y="1188720"/>
            <a:ext cx="2560320" cy="256032"/>
          </a:xfrm>
          <a:prstGeom prst="rect">
            <a:avLst/>
          </a:prstGeom>
          <a:noFill/>
          <a:ln/>
        </p:spPr>
        <p:txBody>
          <a:bodyPr wrap="square" lIns="0" tIns="0" rIns="0" bIns="0" rtlCol="0" anchor="ctr"/>
          <a:lstStyle/>
          <a:p>
            <a:pPr indent="0" marL="0">
              <a:buNone/>
            </a:pPr>
            <a:r>
              <a:rPr lang="en-US" sz="1000" b="1" dirty="0">
                <a:solidFill>
                  <a:srgbClr val="E8A33D"/>
                </a:solidFill>
                <a:latin typeface="Consolas" pitchFamily="34" charset="0"/>
                <a:ea typeface="Consolas" pitchFamily="34" charset="-122"/>
                <a:cs typeface="Consolas" pitchFamily="34" charset="-120"/>
              </a:rPr>
              <a:t>CVE-2020-8203</a:t>
            </a:r>
            <a:endParaRPr lang="en-US" sz="1000" dirty="0"/>
          </a:p>
        </p:txBody>
      </p:sp>
      <p:sp>
        <p:nvSpPr>
          <p:cNvPr id="5" name="Text 3"/>
          <p:cNvSpPr/>
          <p:nvPr/>
        </p:nvSpPr>
        <p:spPr>
          <a:xfrm>
            <a:off x="10332720" y="1188720"/>
            <a:ext cx="1371600" cy="256032"/>
          </a:xfrm>
          <a:prstGeom prst="rect">
            <a:avLst/>
          </a:prstGeom>
          <a:noFill/>
          <a:ln/>
        </p:spPr>
        <p:txBody>
          <a:bodyPr wrap="square" lIns="0" tIns="0" rIns="0" bIns="0" rtlCol="0" anchor="ctr"/>
          <a:lstStyle/>
          <a:p>
            <a:pPr indent="0" marL="0">
              <a:buNone/>
            </a:pPr>
            <a:r>
              <a:rPr lang="en-US" sz="900" dirty="0">
                <a:solidFill>
                  <a:srgbClr val="E8A33D"/>
                </a:solidFill>
                <a:latin typeface="Consolas" pitchFamily="34" charset="0"/>
                <a:ea typeface="Consolas" pitchFamily="34" charset="-122"/>
                <a:cs typeface="Consolas" pitchFamily="34" charset="-120"/>
              </a:rPr>
              <a:t>· reachable</a:t>
            </a:r>
            <a:endParaRPr lang="en-US" sz="900" dirty="0"/>
          </a:p>
        </p:txBody>
      </p:sp>
      <p:sp>
        <p:nvSpPr>
          <p:cNvPr id="6" name="Text 4"/>
          <p:cNvSpPr/>
          <p:nvPr/>
        </p:nvSpPr>
        <p:spPr>
          <a:xfrm>
            <a:off x="8686800" y="1499616"/>
            <a:ext cx="2560320" cy="256032"/>
          </a:xfrm>
          <a:prstGeom prst="rect">
            <a:avLst/>
          </a:prstGeom>
          <a:noFill/>
          <a:ln/>
        </p:spPr>
        <p:txBody>
          <a:bodyPr wrap="square" lIns="0" tIns="0" rIns="0" bIns="0" rtlCol="0" anchor="ctr"/>
          <a:lstStyle/>
          <a:p>
            <a:pPr indent="0" marL="0">
              <a:buNone/>
            </a:pPr>
            <a:r>
              <a:rPr lang="en-US" sz="1000" b="1" dirty="0">
                <a:solidFill>
                  <a:srgbClr val="E8A33D"/>
                </a:solidFill>
                <a:latin typeface="Consolas" pitchFamily="34" charset="0"/>
                <a:ea typeface="Consolas" pitchFamily="34" charset="-122"/>
                <a:cs typeface="Consolas" pitchFamily="34" charset="-120"/>
              </a:rPr>
              <a:t>CVE-2021-3749</a:t>
            </a:r>
            <a:endParaRPr lang="en-US" sz="1000" dirty="0"/>
          </a:p>
        </p:txBody>
      </p:sp>
      <p:sp>
        <p:nvSpPr>
          <p:cNvPr id="7" name="Text 5"/>
          <p:cNvSpPr/>
          <p:nvPr/>
        </p:nvSpPr>
        <p:spPr>
          <a:xfrm>
            <a:off x="10332720" y="1499616"/>
            <a:ext cx="1371600" cy="256032"/>
          </a:xfrm>
          <a:prstGeom prst="rect">
            <a:avLst/>
          </a:prstGeom>
          <a:noFill/>
          <a:ln/>
        </p:spPr>
        <p:txBody>
          <a:bodyPr wrap="square" lIns="0" tIns="0" rIns="0" bIns="0" rtlCol="0" anchor="ctr"/>
          <a:lstStyle/>
          <a:p>
            <a:pPr indent="0" marL="0">
              <a:buNone/>
            </a:pPr>
            <a:r>
              <a:rPr lang="en-US" sz="900" dirty="0">
                <a:solidFill>
                  <a:srgbClr val="E8A33D"/>
                </a:solidFill>
                <a:latin typeface="Consolas" pitchFamily="34" charset="0"/>
                <a:ea typeface="Consolas" pitchFamily="34" charset="-122"/>
                <a:cs typeface="Consolas" pitchFamily="34" charset="-120"/>
              </a:rPr>
              <a:t>· reachable</a:t>
            </a:r>
            <a:endParaRPr lang="en-US" sz="900" dirty="0"/>
          </a:p>
        </p:txBody>
      </p:sp>
      <p:sp>
        <p:nvSpPr>
          <p:cNvPr id="8" name="Text 6"/>
          <p:cNvSpPr/>
          <p:nvPr/>
        </p:nvSpPr>
        <p:spPr>
          <a:xfrm>
            <a:off x="8686800" y="1810512"/>
            <a:ext cx="2560320" cy="256032"/>
          </a:xfrm>
          <a:prstGeom prst="rect">
            <a:avLst/>
          </a:prstGeom>
          <a:noFill/>
          <a:ln/>
        </p:spPr>
        <p:txBody>
          <a:bodyPr wrap="square" lIns="0" tIns="0" rIns="0" bIns="0" rtlCol="0" anchor="ctr"/>
          <a:lstStyle/>
          <a:p>
            <a:pPr indent="0" marL="0">
              <a:buNone/>
            </a:pPr>
            <a:r>
              <a:rPr lang="en-US" sz="1000" dirty="0">
                <a:solidFill>
                  <a:srgbClr val="8C959F"/>
                </a:solidFill>
                <a:latin typeface="Consolas" pitchFamily="34" charset="0"/>
                <a:ea typeface="Consolas" pitchFamily="34" charset="-122"/>
                <a:cs typeface="Consolas" pitchFamily="34" charset="-120"/>
              </a:rPr>
              <a:t>CVE-2022-25883</a:t>
            </a:r>
            <a:endParaRPr lang="en-US" sz="1000" dirty="0"/>
          </a:p>
        </p:txBody>
      </p:sp>
      <p:sp>
        <p:nvSpPr>
          <p:cNvPr id="9" name="Text 7"/>
          <p:cNvSpPr/>
          <p:nvPr/>
        </p:nvSpPr>
        <p:spPr>
          <a:xfrm>
            <a:off x="10332720" y="1810512"/>
            <a:ext cx="1371600" cy="256032"/>
          </a:xfrm>
          <a:prstGeom prst="rect">
            <a:avLst/>
          </a:prstGeom>
          <a:noFill/>
          <a:ln/>
        </p:spPr>
        <p:txBody>
          <a:bodyPr wrap="square" lIns="0" tIns="0" rIns="0" bIns="0" rtlCol="0" anchor="ctr"/>
          <a:lstStyle/>
          <a:p>
            <a:pPr indent="0" marL="0">
              <a:buNone/>
            </a:pPr>
            <a:r>
              <a:rPr lang="en-US" sz="900" dirty="0">
                <a:solidFill>
                  <a:srgbClr val="8C959F"/>
                </a:solidFill>
                <a:latin typeface="Consolas" pitchFamily="34" charset="0"/>
                <a:ea typeface="Consolas" pitchFamily="34" charset="-122"/>
                <a:cs typeface="Consolas" pitchFamily="34" charset="-120"/>
              </a:rPr>
              <a:t>· uncalled</a:t>
            </a:r>
            <a:endParaRPr lang="en-US" sz="900" dirty="0"/>
          </a:p>
        </p:txBody>
      </p:sp>
      <p:sp>
        <p:nvSpPr>
          <p:cNvPr id="10" name="Text 8"/>
          <p:cNvSpPr/>
          <p:nvPr/>
        </p:nvSpPr>
        <p:spPr>
          <a:xfrm>
            <a:off x="8686800" y="2121408"/>
            <a:ext cx="2560320" cy="256032"/>
          </a:xfrm>
          <a:prstGeom prst="rect">
            <a:avLst/>
          </a:prstGeom>
          <a:noFill/>
          <a:ln/>
        </p:spPr>
        <p:txBody>
          <a:bodyPr wrap="square" lIns="0" tIns="0" rIns="0" bIns="0" rtlCol="0" anchor="ctr"/>
          <a:lstStyle/>
          <a:p>
            <a:pPr indent="0" marL="0">
              <a:buNone/>
            </a:pPr>
            <a:r>
              <a:rPr lang="en-US" sz="1000" dirty="0">
                <a:solidFill>
                  <a:srgbClr val="8C959F"/>
                </a:solidFill>
                <a:latin typeface="Consolas" pitchFamily="34" charset="0"/>
                <a:ea typeface="Consolas" pitchFamily="34" charset="-122"/>
                <a:cs typeface="Consolas" pitchFamily="34" charset="-120"/>
              </a:rPr>
              <a:t>CVE-2023-26159</a:t>
            </a:r>
            <a:endParaRPr lang="en-US" sz="1000" dirty="0"/>
          </a:p>
        </p:txBody>
      </p:sp>
      <p:sp>
        <p:nvSpPr>
          <p:cNvPr id="11" name="Text 9"/>
          <p:cNvSpPr/>
          <p:nvPr/>
        </p:nvSpPr>
        <p:spPr>
          <a:xfrm>
            <a:off x="10332720" y="2121408"/>
            <a:ext cx="1371600" cy="256032"/>
          </a:xfrm>
          <a:prstGeom prst="rect">
            <a:avLst/>
          </a:prstGeom>
          <a:noFill/>
          <a:ln/>
        </p:spPr>
        <p:txBody>
          <a:bodyPr wrap="square" lIns="0" tIns="0" rIns="0" bIns="0" rtlCol="0" anchor="ctr"/>
          <a:lstStyle/>
          <a:p>
            <a:pPr indent="0" marL="0">
              <a:buNone/>
            </a:pPr>
            <a:r>
              <a:rPr lang="en-US" sz="900" dirty="0">
                <a:solidFill>
                  <a:srgbClr val="8C959F"/>
                </a:solidFill>
                <a:latin typeface="Consolas" pitchFamily="34" charset="0"/>
                <a:ea typeface="Consolas" pitchFamily="34" charset="-122"/>
                <a:cs typeface="Consolas" pitchFamily="34" charset="-120"/>
              </a:rPr>
              <a:t>· uncalled</a:t>
            </a:r>
            <a:endParaRPr lang="en-US" sz="900" dirty="0"/>
          </a:p>
        </p:txBody>
      </p:sp>
      <p:sp>
        <p:nvSpPr>
          <p:cNvPr id="12" name="Text 10"/>
          <p:cNvSpPr/>
          <p:nvPr/>
        </p:nvSpPr>
        <p:spPr>
          <a:xfrm>
            <a:off x="8686800" y="2432304"/>
            <a:ext cx="2560320" cy="256032"/>
          </a:xfrm>
          <a:prstGeom prst="rect">
            <a:avLst/>
          </a:prstGeom>
          <a:noFill/>
          <a:ln/>
        </p:spPr>
        <p:txBody>
          <a:bodyPr wrap="square" lIns="0" tIns="0" rIns="0" bIns="0" rtlCol="0" anchor="ctr"/>
          <a:lstStyle/>
          <a:p>
            <a:pPr indent="0" marL="0">
              <a:buNone/>
            </a:pPr>
            <a:r>
              <a:rPr lang="en-US" sz="1000" dirty="0">
                <a:solidFill>
                  <a:srgbClr val="8C959F"/>
                </a:solidFill>
                <a:latin typeface="Consolas" pitchFamily="34" charset="0"/>
                <a:ea typeface="Consolas" pitchFamily="34" charset="-122"/>
                <a:cs typeface="Consolas" pitchFamily="34" charset="-120"/>
              </a:rPr>
              <a:t>CVE-2023-45133</a:t>
            </a:r>
            <a:endParaRPr lang="en-US" sz="1000" dirty="0"/>
          </a:p>
        </p:txBody>
      </p:sp>
      <p:sp>
        <p:nvSpPr>
          <p:cNvPr id="13" name="Text 11"/>
          <p:cNvSpPr/>
          <p:nvPr/>
        </p:nvSpPr>
        <p:spPr>
          <a:xfrm>
            <a:off x="10332720" y="2432304"/>
            <a:ext cx="1371600" cy="256032"/>
          </a:xfrm>
          <a:prstGeom prst="rect">
            <a:avLst/>
          </a:prstGeom>
          <a:noFill/>
          <a:ln/>
        </p:spPr>
        <p:txBody>
          <a:bodyPr wrap="square" lIns="0" tIns="0" rIns="0" bIns="0" rtlCol="0" anchor="ctr"/>
          <a:lstStyle/>
          <a:p>
            <a:pPr indent="0" marL="0">
              <a:buNone/>
            </a:pPr>
            <a:r>
              <a:rPr lang="en-US" sz="900" dirty="0">
                <a:solidFill>
                  <a:srgbClr val="8C959F"/>
                </a:solidFill>
                <a:latin typeface="Consolas" pitchFamily="34" charset="0"/>
                <a:ea typeface="Consolas" pitchFamily="34" charset="-122"/>
                <a:cs typeface="Consolas" pitchFamily="34" charset="-120"/>
              </a:rPr>
              <a:t>· uncalled</a:t>
            </a:r>
            <a:endParaRPr lang="en-US" sz="900" dirty="0"/>
          </a:p>
        </p:txBody>
      </p:sp>
      <p:sp>
        <p:nvSpPr>
          <p:cNvPr id="14" name="Text 12"/>
          <p:cNvSpPr/>
          <p:nvPr/>
        </p:nvSpPr>
        <p:spPr>
          <a:xfrm>
            <a:off x="8686800" y="2743200"/>
            <a:ext cx="2560320" cy="256032"/>
          </a:xfrm>
          <a:prstGeom prst="rect">
            <a:avLst/>
          </a:prstGeom>
          <a:noFill/>
          <a:ln/>
        </p:spPr>
        <p:txBody>
          <a:bodyPr wrap="square" lIns="0" tIns="0" rIns="0" bIns="0" rtlCol="0" anchor="ctr"/>
          <a:lstStyle/>
          <a:p>
            <a:pPr indent="0" marL="0">
              <a:buNone/>
            </a:pPr>
            <a:r>
              <a:rPr lang="en-US" sz="1000" dirty="0">
                <a:solidFill>
                  <a:srgbClr val="8C959F"/>
                </a:solidFill>
                <a:latin typeface="Consolas" pitchFamily="34" charset="0"/>
                <a:ea typeface="Consolas" pitchFamily="34" charset="-122"/>
                <a:cs typeface="Consolas" pitchFamily="34" charset="-120"/>
              </a:rPr>
              <a:t>CVE-2024-21538</a:t>
            </a:r>
            <a:endParaRPr lang="en-US" sz="1000" dirty="0"/>
          </a:p>
        </p:txBody>
      </p:sp>
      <p:sp>
        <p:nvSpPr>
          <p:cNvPr id="15" name="Text 13"/>
          <p:cNvSpPr/>
          <p:nvPr/>
        </p:nvSpPr>
        <p:spPr>
          <a:xfrm>
            <a:off x="10332720" y="2743200"/>
            <a:ext cx="1371600" cy="256032"/>
          </a:xfrm>
          <a:prstGeom prst="rect">
            <a:avLst/>
          </a:prstGeom>
          <a:noFill/>
          <a:ln/>
        </p:spPr>
        <p:txBody>
          <a:bodyPr wrap="square" lIns="0" tIns="0" rIns="0" bIns="0" rtlCol="0" anchor="ctr"/>
          <a:lstStyle/>
          <a:p>
            <a:pPr indent="0" marL="0">
              <a:buNone/>
            </a:pPr>
            <a:r>
              <a:rPr lang="en-US" sz="900" dirty="0">
                <a:solidFill>
                  <a:srgbClr val="8C959F"/>
                </a:solidFill>
                <a:latin typeface="Consolas" pitchFamily="34" charset="0"/>
                <a:ea typeface="Consolas" pitchFamily="34" charset="-122"/>
                <a:cs typeface="Consolas" pitchFamily="34" charset="-120"/>
              </a:rPr>
              <a:t>· uncalled</a:t>
            </a:r>
            <a:endParaRPr lang="en-US" sz="900" dirty="0"/>
          </a:p>
        </p:txBody>
      </p:sp>
      <p:sp>
        <p:nvSpPr>
          <p:cNvPr id="16" name="Text 14"/>
          <p:cNvSpPr/>
          <p:nvPr/>
        </p:nvSpPr>
        <p:spPr>
          <a:xfrm>
            <a:off x="8686800" y="3054096"/>
            <a:ext cx="2560320" cy="256032"/>
          </a:xfrm>
          <a:prstGeom prst="rect">
            <a:avLst/>
          </a:prstGeom>
          <a:noFill/>
          <a:ln/>
        </p:spPr>
        <p:txBody>
          <a:bodyPr wrap="square" lIns="0" tIns="0" rIns="0" bIns="0" rtlCol="0" anchor="ctr"/>
          <a:lstStyle/>
          <a:p>
            <a:pPr indent="0" marL="0">
              <a:buNone/>
            </a:pPr>
            <a:r>
              <a:rPr lang="en-US" sz="1000" dirty="0">
                <a:solidFill>
                  <a:srgbClr val="8C959F"/>
                </a:solidFill>
                <a:latin typeface="Consolas" pitchFamily="34" charset="0"/>
                <a:ea typeface="Consolas" pitchFamily="34" charset="-122"/>
                <a:cs typeface="Consolas" pitchFamily="34" charset="-120"/>
              </a:rPr>
              <a:t>CVE-2021-23337</a:t>
            </a:r>
            <a:endParaRPr lang="en-US" sz="1000" dirty="0"/>
          </a:p>
        </p:txBody>
      </p:sp>
      <p:sp>
        <p:nvSpPr>
          <p:cNvPr id="17" name="Text 15"/>
          <p:cNvSpPr/>
          <p:nvPr/>
        </p:nvSpPr>
        <p:spPr>
          <a:xfrm>
            <a:off x="10332720" y="3054096"/>
            <a:ext cx="1371600" cy="256032"/>
          </a:xfrm>
          <a:prstGeom prst="rect">
            <a:avLst/>
          </a:prstGeom>
          <a:noFill/>
          <a:ln/>
        </p:spPr>
        <p:txBody>
          <a:bodyPr wrap="square" lIns="0" tIns="0" rIns="0" bIns="0" rtlCol="0" anchor="ctr"/>
          <a:lstStyle/>
          <a:p>
            <a:pPr indent="0" marL="0">
              <a:buNone/>
            </a:pPr>
            <a:r>
              <a:rPr lang="en-US" sz="900" dirty="0">
                <a:solidFill>
                  <a:srgbClr val="8C959F"/>
                </a:solidFill>
                <a:latin typeface="Consolas" pitchFamily="34" charset="0"/>
                <a:ea typeface="Consolas" pitchFamily="34" charset="-122"/>
                <a:cs typeface="Consolas" pitchFamily="34" charset="-120"/>
              </a:rPr>
              <a:t>· uncalled</a:t>
            </a:r>
            <a:endParaRPr lang="en-US" sz="900" dirty="0"/>
          </a:p>
        </p:txBody>
      </p:sp>
      <p:sp>
        <p:nvSpPr>
          <p:cNvPr id="18" name="Text 16"/>
          <p:cNvSpPr/>
          <p:nvPr/>
        </p:nvSpPr>
        <p:spPr>
          <a:xfrm>
            <a:off x="8686800" y="3364992"/>
            <a:ext cx="2560320" cy="256032"/>
          </a:xfrm>
          <a:prstGeom prst="rect">
            <a:avLst/>
          </a:prstGeom>
          <a:noFill/>
          <a:ln/>
        </p:spPr>
        <p:txBody>
          <a:bodyPr wrap="square" lIns="0" tIns="0" rIns="0" bIns="0" rtlCol="0" anchor="ctr"/>
          <a:lstStyle/>
          <a:p>
            <a:pPr indent="0" marL="0">
              <a:buNone/>
            </a:pPr>
            <a:r>
              <a:rPr lang="en-US" sz="1000" dirty="0">
                <a:solidFill>
                  <a:srgbClr val="8C959F"/>
                </a:solidFill>
                <a:latin typeface="Consolas" pitchFamily="34" charset="0"/>
                <a:ea typeface="Consolas" pitchFamily="34" charset="-122"/>
                <a:cs typeface="Consolas" pitchFamily="34" charset="-120"/>
              </a:rPr>
              <a:t>CVE-2022-0235</a:t>
            </a:r>
            <a:endParaRPr lang="en-US" sz="1000" dirty="0"/>
          </a:p>
        </p:txBody>
      </p:sp>
      <p:sp>
        <p:nvSpPr>
          <p:cNvPr id="19" name="Text 17"/>
          <p:cNvSpPr/>
          <p:nvPr/>
        </p:nvSpPr>
        <p:spPr>
          <a:xfrm>
            <a:off x="10332720" y="3364992"/>
            <a:ext cx="1371600" cy="256032"/>
          </a:xfrm>
          <a:prstGeom prst="rect">
            <a:avLst/>
          </a:prstGeom>
          <a:noFill/>
          <a:ln/>
        </p:spPr>
        <p:txBody>
          <a:bodyPr wrap="square" lIns="0" tIns="0" rIns="0" bIns="0" rtlCol="0" anchor="ctr"/>
          <a:lstStyle/>
          <a:p>
            <a:pPr indent="0" marL="0">
              <a:buNone/>
            </a:pPr>
            <a:r>
              <a:rPr lang="en-US" sz="900" dirty="0">
                <a:solidFill>
                  <a:srgbClr val="8C959F"/>
                </a:solidFill>
                <a:latin typeface="Consolas" pitchFamily="34" charset="0"/>
                <a:ea typeface="Consolas" pitchFamily="34" charset="-122"/>
                <a:cs typeface="Consolas" pitchFamily="34" charset="-120"/>
              </a:rPr>
              <a:t>· uncalled</a:t>
            </a:r>
            <a:endParaRPr lang="en-US" sz="900" dirty="0"/>
          </a:p>
        </p:txBody>
      </p:sp>
      <p:sp>
        <p:nvSpPr>
          <p:cNvPr id="20" name="Text 18"/>
          <p:cNvSpPr/>
          <p:nvPr/>
        </p:nvSpPr>
        <p:spPr>
          <a:xfrm>
            <a:off x="8686800" y="3675888"/>
            <a:ext cx="2560320" cy="256032"/>
          </a:xfrm>
          <a:prstGeom prst="rect">
            <a:avLst/>
          </a:prstGeom>
          <a:noFill/>
          <a:ln/>
        </p:spPr>
        <p:txBody>
          <a:bodyPr wrap="square" lIns="0" tIns="0" rIns="0" bIns="0" rtlCol="0" anchor="ctr"/>
          <a:lstStyle/>
          <a:p>
            <a:pPr indent="0" marL="0">
              <a:buNone/>
            </a:pPr>
            <a:r>
              <a:rPr lang="en-US" sz="1000" dirty="0">
                <a:solidFill>
                  <a:srgbClr val="8C959F"/>
                </a:solidFill>
                <a:latin typeface="Consolas" pitchFamily="34" charset="0"/>
                <a:ea typeface="Consolas" pitchFamily="34" charset="-122"/>
                <a:cs typeface="Consolas" pitchFamily="34" charset="-120"/>
              </a:rPr>
              <a:t>CVE-2023-30533</a:t>
            </a:r>
            <a:endParaRPr lang="en-US" sz="1000" dirty="0"/>
          </a:p>
        </p:txBody>
      </p:sp>
      <p:sp>
        <p:nvSpPr>
          <p:cNvPr id="21" name="Text 19"/>
          <p:cNvSpPr/>
          <p:nvPr/>
        </p:nvSpPr>
        <p:spPr>
          <a:xfrm>
            <a:off x="10332720" y="3675888"/>
            <a:ext cx="1371600" cy="256032"/>
          </a:xfrm>
          <a:prstGeom prst="rect">
            <a:avLst/>
          </a:prstGeom>
          <a:noFill/>
          <a:ln/>
        </p:spPr>
        <p:txBody>
          <a:bodyPr wrap="square" lIns="0" tIns="0" rIns="0" bIns="0" rtlCol="0" anchor="ctr"/>
          <a:lstStyle/>
          <a:p>
            <a:pPr indent="0" marL="0">
              <a:buNone/>
            </a:pPr>
            <a:r>
              <a:rPr lang="en-US" sz="900" dirty="0">
                <a:solidFill>
                  <a:srgbClr val="8C959F"/>
                </a:solidFill>
                <a:latin typeface="Consolas" pitchFamily="34" charset="0"/>
                <a:ea typeface="Consolas" pitchFamily="34" charset="-122"/>
                <a:cs typeface="Consolas" pitchFamily="34" charset="-120"/>
              </a:rPr>
              <a:t>· uncalled</a:t>
            </a:r>
            <a:endParaRPr lang="en-US" sz="900" dirty="0"/>
          </a:p>
        </p:txBody>
      </p:sp>
      <p:sp>
        <p:nvSpPr>
          <p:cNvPr id="22" name="Text 20"/>
          <p:cNvSpPr/>
          <p:nvPr/>
        </p:nvSpPr>
        <p:spPr>
          <a:xfrm>
            <a:off x="8686800" y="3986784"/>
            <a:ext cx="2560320" cy="256032"/>
          </a:xfrm>
          <a:prstGeom prst="rect">
            <a:avLst/>
          </a:prstGeom>
          <a:noFill/>
          <a:ln/>
        </p:spPr>
        <p:txBody>
          <a:bodyPr wrap="square" lIns="0" tIns="0" rIns="0" bIns="0" rtlCol="0" anchor="ctr"/>
          <a:lstStyle/>
          <a:p>
            <a:pPr indent="0" marL="0">
              <a:buNone/>
            </a:pPr>
            <a:r>
              <a:rPr lang="en-US" sz="1000" dirty="0">
                <a:solidFill>
                  <a:srgbClr val="8C959F"/>
                </a:solidFill>
                <a:latin typeface="Consolas" pitchFamily="34" charset="0"/>
                <a:ea typeface="Consolas" pitchFamily="34" charset="-122"/>
                <a:cs typeface="Consolas" pitchFamily="34" charset="-120"/>
              </a:rPr>
              <a:t>CVE-2024-28849</a:t>
            </a:r>
            <a:endParaRPr lang="en-US" sz="1000" dirty="0"/>
          </a:p>
        </p:txBody>
      </p:sp>
      <p:sp>
        <p:nvSpPr>
          <p:cNvPr id="23" name="Text 21"/>
          <p:cNvSpPr/>
          <p:nvPr/>
        </p:nvSpPr>
        <p:spPr>
          <a:xfrm>
            <a:off x="10332720" y="3986784"/>
            <a:ext cx="1371600" cy="256032"/>
          </a:xfrm>
          <a:prstGeom prst="rect">
            <a:avLst/>
          </a:prstGeom>
          <a:noFill/>
          <a:ln/>
        </p:spPr>
        <p:txBody>
          <a:bodyPr wrap="square" lIns="0" tIns="0" rIns="0" bIns="0" rtlCol="0" anchor="ctr"/>
          <a:lstStyle/>
          <a:p>
            <a:pPr indent="0" marL="0">
              <a:buNone/>
            </a:pPr>
            <a:r>
              <a:rPr lang="en-US" sz="900" dirty="0">
                <a:solidFill>
                  <a:srgbClr val="8C959F"/>
                </a:solidFill>
                <a:latin typeface="Consolas" pitchFamily="34" charset="0"/>
                <a:ea typeface="Consolas" pitchFamily="34" charset="-122"/>
                <a:cs typeface="Consolas" pitchFamily="34" charset="-120"/>
              </a:rPr>
              <a:t>· uncalled</a:t>
            </a:r>
            <a:endParaRPr lang="en-US" sz="900" dirty="0"/>
          </a:p>
        </p:txBody>
      </p:sp>
      <p:sp>
        <p:nvSpPr>
          <p:cNvPr id="24" name="Text 22"/>
          <p:cNvSpPr/>
          <p:nvPr/>
        </p:nvSpPr>
        <p:spPr>
          <a:xfrm>
            <a:off x="8686800" y="4297680"/>
            <a:ext cx="2560320" cy="256032"/>
          </a:xfrm>
          <a:prstGeom prst="rect">
            <a:avLst/>
          </a:prstGeom>
          <a:noFill/>
          <a:ln/>
        </p:spPr>
        <p:txBody>
          <a:bodyPr wrap="square" lIns="0" tIns="0" rIns="0" bIns="0" rtlCol="0" anchor="ctr"/>
          <a:lstStyle/>
          <a:p>
            <a:pPr indent="0" marL="0">
              <a:buNone/>
            </a:pPr>
            <a:r>
              <a:rPr lang="en-US" sz="1000" dirty="0">
                <a:solidFill>
                  <a:srgbClr val="8C959F"/>
                </a:solidFill>
                <a:latin typeface="Consolas" pitchFamily="34" charset="0"/>
                <a:ea typeface="Consolas" pitchFamily="34" charset="-122"/>
                <a:cs typeface="Consolas" pitchFamily="34" charset="-120"/>
              </a:rPr>
              <a:t>CVE-2022-37601</a:t>
            </a:r>
            <a:endParaRPr lang="en-US" sz="1000" dirty="0"/>
          </a:p>
        </p:txBody>
      </p:sp>
      <p:sp>
        <p:nvSpPr>
          <p:cNvPr id="25" name="Text 23"/>
          <p:cNvSpPr/>
          <p:nvPr/>
        </p:nvSpPr>
        <p:spPr>
          <a:xfrm>
            <a:off x="10332720" y="4297680"/>
            <a:ext cx="1371600" cy="256032"/>
          </a:xfrm>
          <a:prstGeom prst="rect">
            <a:avLst/>
          </a:prstGeom>
          <a:noFill/>
          <a:ln/>
        </p:spPr>
        <p:txBody>
          <a:bodyPr wrap="square" lIns="0" tIns="0" rIns="0" bIns="0" rtlCol="0" anchor="ctr"/>
          <a:lstStyle/>
          <a:p>
            <a:pPr indent="0" marL="0">
              <a:buNone/>
            </a:pPr>
            <a:r>
              <a:rPr lang="en-US" sz="900" dirty="0">
                <a:solidFill>
                  <a:srgbClr val="8C959F"/>
                </a:solidFill>
                <a:latin typeface="Consolas" pitchFamily="34" charset="0"/>
                <a:ea typeface="Consolas" pitchFamily="34" charset="-122"/>
                <a:cs typeface="Consolas" pitchFamily="34" charset="-120"/>
              </a:rPr>
              <a:t>· uncalled</a:t>
            </a:r>
            <a:endParaRPr lang="en-US" sz="900" dirty="0"/>
          </a:p>
        </p:txBody>
      </p:sp>
      <p:sp>
        <p:nvSpPr>
          <p:cNvPr id="26" name="Text 24"/>
          <p:cNvSpPr/>
          <p:nvPr/>
        </p:nvSpPr>
        <p:spPr>
          <a:xfrm>
            <a:off x="8686800" y="4608576"/>
            <a:ext cx="2560320" cy="256032"/>
          </a:xfrm>
          <a:prstGeom prst="rect">
            <a:avLst/>
          </a:prstGeom>
          <a:noFill/>
          <a:ln/>
        </p:spPr>
        <p:txBody>
          <a:bodyPr wrap="square" lIns="0" tIns="0" rIns="0" bIns="0" rtlCol="0" anchor="ctr"/>
          <a:lstStyle/>
          <a:p>
            <a:pPr indent="0" marL="0">
              <a:buNone/>
            </a:pPr>
            <a:r>
              <a:rPr lang="en-US" sz="1000" dirty="0">
                <a:solidFill>
                  <a:srgbClr val="D0CBC1"/>
                </a:solidFill>
                <a:latin typeface="Consolas" pitchFamily="34" charset="0"/>
                <a:ea typeface="Consolas" pitchFamily="34" charset="-122"/>
                <a:cs typeface="Consolas" pitchFamily="34" charset="-120"/>
              </a:rPr>
              <a:t>CVE-2023-45803</a:t>
            </a:r>
            <a:endParaRPr lang="en-US" sz="1000" dirty="0"/>
          </a:p>
        </p:txBody>
      </p:sp>
      <p:sp>
        <p:nvSpPr>
          <p:cNvPr id="27" name="Text 25"/>
          <p:cNvSpPr/>
          <p:nvPr/>
        </p:nvSpPr>
        <p:spPr>
          <a:xfrm>
            <a:off x="10332720" y="4608576"/>
            <a:ext cx="1371600" cy="256032"/>
          </a:xfrm>
          <a:prstGeom prst="rect">
            <a:avLst/>
          </a:prstGeom>
          <a:noFill/>
          <a:ln/>
        </p:spPr>
        <p:txBody>
          <a:bodyPr wrap="square" lIns="0" tIns="0" rIns="0" bIns="0" rtlCol="0" anchor="ctr"/>
          <a:lstStyle/>
          <a:p>
            <a:pPr indent="0" marL="0">
              <a:buNone/>
            </a:pPr>
            <a:r>
              <a:rPr lang="en-US" sz="900" dirty="0">
                <a:solidFill>
                  <a:srgbClr val="8C959F"/>
                </a:solidFill>
                <a:latin typeface="Consolas" pitchFamily="34" charset="0"/>
                <a:ea typeface="Consolas" pitchFamily="34" charset="-122"/>
                <a:cs typeface="Consolas" pitchFamily="34" charset="-120"/>
              </a:rPr>
              <a:t>· uncalled</a:t>
            </a:r>
            <a:endParaRPr lang="en-US" sz="900" dirty="0"/>
          </a:p>
        </p:txBody>
      </p:sp>
      <p:sp>
        <p:nvSpPr>
          <p:cNvPr id="28" name="Text 26"/>
          <p:cNvSpPr/>
          <p:nvPr/>
        </p:nvSpPr>
        <p:spPr>
          <a:xfrm>
            <a:off x="8686800" y="4919472"/>
            <a:ext cx="2560320" cy="256032"/>
          </a:xfrm>
          <a:prstGeom prst="rect">
            <a:avLst/>
          </a:prstGeom>
          <a:noFill/>
          <a:ln/>
        </p:spPr>
        <p:txBody>
          <a:bodyPr wrap="square" lIns="0" tIns="0" rIns="0" bIns="0" rtlCol="0" anchor="ctr"/>
          <a:lstStyle/>
          <a:p>
            <a:pPr indent="0" marL="0">
              <a:buNone/>
            </a:pPr>
            <a:r>
              <a:rPr lang="en-US" sz="1000" dirty="0">
                <a:solidFill>
                  <a:srgbClr val="D0CBC1"/>
                </a:solidFill>
                <a:latin typeface="Consolas" pitchFamily="34" charset="0"/>
                <a:ea typeface="Consolas" pitchFamily="34" charset="-122"/>
                <a:cs typeface="Consolas" pitchFamily="34" charset="-120"/>
              </a:rPr>
              <a:t>CVE-2021-3807</a:t>
            </a:r>
            <a:endParaRPr lang="en-US" sz="1000" dirty="0"/>
          </a:p>
        </p:txBody>
      </p:sp>
      <p:sp>
        <p:nvSpPr>
          <p:cNvPr id="29" name="Text 27"/>
          <p:cNvSpPr/>
          <p:nvPr/>
        </p:nvSpPr>
        <p:spPr>
          <a:xfrm>
            <a:off x="10332720" y="4919472"/>
            <a:ext cx="1371600" cy="256032"/>
          </a:xfrm>
          <a:prstGeom prst="rect">
            <a:avLst/>
          </a:prstGeom>
          <a:noFill/>
          <a:ln/>
        </p:spPr>
        <p:txBody>
          <a:bodyPr wrap="square" lIns="0" tIns="0" rIns="0" bIns="0" rtlCol="0" anchor="ctr"/>
          <a:lstStyle/>
          <a:p>
            <a:pPr indent="0" marL="0">
              <a:buNone/>
            </a:pPr>
            <a:r>
              <a:rPr lang="en-US" sz="900" dirty="0">
                <a:solidFill>
                  <a:srgbClr val="8C959F"/>
                </a:solidFill>
                <a:latin typeface="Consolas" pitchFamily="34" charset="0"/>
                <a:ea typeface="Consolas" pitchFamily="34" charset="-122"/>
                <a:cs typeface="Consolas" pitchFamily="34" charset="-120"/>
              </a:rPr>
              <a:t>· uncalled</a:t>
            </a:r>
            <a:endParaRPr lang="en-US" sz="900" dirty="0"/>
          </a:p>
        </p:txBody>
      </p:sp>
      <p:sp>
        <p:nvSpPr>
          <p:cNvPr id="30" name="Text 28"/>
          <p:cNvSpPr/>
          <p:nvPr/>
        </p:nvSpPr>
        <p:spPr>
          <a:xfrm>
            <a:off x="8686800" y="5230368"/>
            <a:ext cx="2560320" cy="256032"/>
          </a:xfrm>
          <a:prstGeom prst="rect">
            <a:avLst/>
          </a:prstGeom>
          <a:noFill/>
          <a:ln/>
        </p:spPr>
        <p:txBody>
          <a:bodyPr wrap="square" lIns="0" tIns="0" rIns="0" bIns="0" rtlCol="0" anchor="ctr"/>
          <a:lstStyle/>
          <a:p>
            <a:pPr indent="0" marL="0">
              <a:buNone/>
            </a:pPr>
            <a:r>
              <a:rPr lang="en-US" sz="1000" dirty="0">
                <a:solidFill>
                  <a:srgbClr val="D0CBC1"/>
                </a:solidFill>
                <a:latin typeface="Consolas" pitchFamily="34" charset="0"/>
                <a:ea typeface="Consolas" pitchFamily="34" charset="-122"/>
                <a:cs typeface="Consolas" pitchFamily="34" charset="-120"/>
              </a:rPr>
              <a:t>CVE-2022-25844</a:t>
            </a:r>
            <a:endParaRPr lang="en-US" sz="1000" dirty="0"/>
          </a:p>
        </p:txBody>
      </p:sp>
      <p:sp>
        <p:nvSpPr>
          <p:cNvPr id="31" name="Text 29"/>
          <p:cNvSpPr/>
          <p:nvPr/>
        </p:nvSpPr>
        <p:spPr>
          <a:xfrm>
            <a:off x="10332720" y="5230368"/>
            <a:ext cx="1371600" cy="256032"/>
          </a:xfrm>
          <a:prstGeom prst="rect">
            <a:avLst/>
          </a:prstGeom>
          <a:noFill/>
          <a:ln/>
        </p:spPr>
        <p:txBody>
          <a:bodyPr wrap="square" lIns="0" tIns="0" rIns="0" bIns="0" rtlCol="0" anchor="ctr"/>
          <a:lstStyle/>
          <a:p>
            <a:pPr indent="0" marL="0">
              <a:buNone/>
            </a:pPr>
            <a:r>
              <a:rPr lang="en-US" sz="900" dirty="0">
                <a:solidFill>
                  <a:srgbClr val="8C959F"/>
                </a:solidFill>
                <a:latin typeface="Consolas" pitchFamily="34" charset="0"/>
                <a:ea typeface="Consolas" pitchFamily="34" charset="-122"/>
                <a:cs typeface="Consolas" pitchFamily="34" charset="-120"/>
              </a:rPr>
              <a:t>· uncalled</a:t>
            </a:r>
            <a:endParaRPr lang="en-US" sz="900" dirty="0"/>
          </a:p>
        </p:txBody>
      </p:sp>
      <p:sp>
        <p:nvSpPr>
          <p:cNvPr id="32" name="Text 30"/>
          <p:cNvSpPr/>
          <p:nvPr/>
        </p:nvSpPr>
        <p:spPr>
          <a:xfrm>
            <a:off x="8686800" y="5541264"/>
            <a:ext cx="2560320" cy="256032"/>
          </a:xfrm>
          <a:prstGeom prst="rect">
            <a:avLst/>
          </a:prstGeom>
          <a:noFill/>
          <a:ln/>
        </p:spPr>
        <p:txBody>
          <a:bodyPr wrap="square" lIns="0" tIns="0" rIns="0" bIns="0" rtlCol="0" anchor="ctr"/>
          <a:lstStyle/>
          <a:p>
            <a:pPr indent="0" marL="0">
              <a:buNone/>
            </a:pPr>
            <a:r>
              <a:rPr lang="en-US" sz="1000" dirty="0">
                <a:solidFill>
                  <a:srgbClr val="D0CBC1"/>
                </a:solidFill>
                <a:latin typeface="Consolas" pitchFamily="34" charset="0"/>
                <a:ea typeface="Consolas" pitchFamily="34" charset="-122"/>
                <a:cs typeface="Consolas" pitchFamily="34" charset="-120"/>
              </a:rPr>
              <a:t>CVE-2024-38517</a:t>
            </a:r>
            <a:endParaRPr lang="en-US" sz="1000" dirty="0"/>
          </a:p>
        </p:txBody>
      </p:sp>
      <p:sp>
        <p:nvSpPr>
          <p:cNvPr id="33" name="Text 31"/>
          <p:cNvSpPr/>
          <p:nvPr/>
        </p:nvSpPr>
        <p:spPr>
          <a:xfrm>
            <a:off x="10332720" y="5541264"/>
            <a:ext cx="1371600" cy="256032"/>
          </a:xfrm>
          <a:prstGeom prst="rect">
            <a:avLst/>
          </a:prstGeom>
          <a:noFill/>
          <a:ln/>
        </p:spPr>
        <p:txBody>
          <a:bodyPr wrap="square" lIns="0" tIns="0" rIns="0" bIns="0" rtlCol="0" anchor="ctr"/>
          <a:lstStyle/>
          <a:p>
            <a:pPr indent="0" marL="0">
              <a:buNone/>
            </a:pPr>
            <a:r>
              <a:rPr lang="en-US" sz="900" dirty="0">
                <a:solidFill>
                  <a:srgbClr val="8C959F"/>
                </a:solidFill>
                <a:latin typeface="Consolas" pitchFamily="34" charset="0"/>
                <a:ea typeface="Consolas" pitchFamily="34" charset="-122"/>
                <a:cs typeface="Consolas" pitchFamily="34" charset="-120"/>
              </a:rPr>
              <a:t>· uncalled</a:t>
            </a:r>
            <a:endParaRPr lang="en-US" sz="900" dirty="0"/>
          </a:p>
        </p:txBody>
      </p:sp>
      <p:sp>
        <p:nvSpPr>
          <p:cNvPr id="34" name="Text 32"/>
          <p:cNvSpPr/>
          <p:nvPr/>
        </p:nvSpPr>
        <p:spPr>
          <a:xfrm>
            <a:off x="8686800" y="5852160"/>
            <a:ext cx="2560320" cy="256032"/>
          </a:xfrm>
          <a:prstGeom prst="rect">
            <a:avLst/>
          </a:prstGeom>
          <a:noFill/>
          <a:ln/>
        </p:spPr>
        <p:txBody>
          <a:bodyPr wrap="square" lIns="0" tIns="0" rIns="0" bIns="0" rtlCol="0" anchor="ctr"/>
          <a:lstStyle/>
          <a:p>
            <a:pPr indent="0" marL="0">
              <a:buNone/>
            </a:pPr>
            <a:r>
              <a:rPr lang="en-US" sz="1000" dirty="0">
                <a:solidFill>
                  <a:srgbClr val="D0CBC1"/>
                </a:solidFill>
                <a:latin typeface="Consolas" pitchFamily="34" charset="0"/>
                <a:ea typeface="Consolas" pitchFamily="34" charset="-122"/>
                <a:cs typeface="Consolas" pitchFamily="34" charset="-120"/>
              </a:rPr>
              <a:t>CVE-2023-26136</a:t>
            </a:r>
            <a:endParaRPr lang="en-US" sz="1000" dirty="0"/>
          </a:p>
        </p:txBody>
      </p:sp>
      <p:sp>
        <p:nvSpPr>
          <p:cNvPr id="35" name="Text 33"/>
          <p:cNvSpPr/>
          <p:nvPr/>
        </p:nvSpPr>
        <p:spPr>
          <a:xfrm>
            <a:off x="10332720" y="5852160"/>
            <a:ext cx="1371600" cy="256032"/>
          </a:xfrm>
          <a:prstGeom prst="rect">
            <a:avLst/>
          </a:prstGeom>
          <a:noFill/>
          <a:ln/>
        </p:spPr>
        <p:txBody>
          <a:bodyPr wrap="square" lIns="0" tIns="0" rIns="0" bIns="0" rtlCol="0" anchor="ctr"/>
          <a:lstStyle/>
          <a:p>
            <a:pPr indent="0" marL="0">
              <a:buNone/>
            </a:pPr>
            <a:r>
              <a:rPr lang="en-US" sz="900" dirty="0">
                <a:solidFill>
                  <a:srgbClr val="8C959F"/>
                </a:solidFill>
                <a:latin typeface="Consolas" pitchFamily="34" charset="0"/>
                <a:ea typeface="Consolas" pitchFamily="34" charset="-122"/>
                <a:cs typeface="Consolas" pitchFamily="34" charset="-120"/>
              </a:rPr>
              <a:t>· uncalled</a:t>
            </a:r>
            <a:endParaRPr lang="en-US" sz="900" dirty="0"/>
          </a:p>
        </p:txBody>
      </p:sp>
      <p:sp>
        <p:nvSpPr>
          <p:cNvPr id="36" name="Text 34"/>
          <p:cNvSpPr/>
          <p:nvPr/>
        </p:nvSpPr>
        <p:spPr>
          <a:xfrm>
            <a:off x="914400" y="1280160"/>
            <a:ext cx="4114800" cy="1828800"/>
          </a:xfrm>
          <a:prstGeom prst="rect">
            <a:avLst/>
          </a:prstGeom>
          <a:noFill/>
          <a:ln/>
        </p:spPr>
        <p:txBody>
          <a:bodyPr wrap="square" lIns="0" tIns="0" rIns="0" bIns="0" rtlCol="0" anchor="ctr"/>
          <a:lstStyle/>
          <a:p>
            <a:pPr indent="0" marL="0">
              <a:buNone/>
            </a:pPr>
            <a:r>
              <a:rPr lang="en-US" sz="14000" b="1" dirty="0">
                <a:solidFill>
                  <a:srgbClr val="1C1F24"/>
                </a:solidFill>
                <a:latin typeface="Georgia" pitchFamily="34" charset="0"/>
                <a:ea typeface="Georgia" pitchFamily="34" charset="-122"/>
                <a:cs typeface="Georgia" pitchFamily="34" charset="-120"/>
              </a:rPr>
              <a:t>36</a:t>
            </a:r>
            <a:endParaRPr lang="en-US" sz="14000" dirty="0"/>
          </a:p>
        </p:txBody>
      </p:sp>
      <p:sp>
        <p:nvSpPr>
          <p:cNvPr id="37" name="Text 35"/>
          <p:cNvSpPr/>
          <p:nvPr/>
        </p:nvSpPr>
        <p:spPr>
          <a:xfrm>
            <a:off x="914400" y="3291840"/>
            <a:ext cx="6858000" cy="457200"/>
          </a:xfrm>
          <a:prstGeom prst="rect">
            <a:avLst/>
          </a:prstGeom>
          <a:noFill/>
          <a:ln/>
        </p:spPr>
        <p:txBody>
          <a:bodyPr wrap="square" lIns="0" tIns="0" rIns="0" bIns="0" rtlCol="0" anchor="ctr"/>
          <a:lstStyle/>
          <a:p>
            <a:pPr indent="0" marL="0">
              <a:buNone/>
            </a:pPr>
            <a:r>
              <a:rPr lang="en-US" sz="2200" b="1" dirty="0">
                <a:solidFill>
                  <a:srgbClr val="1C1F24"/>
                </a:solidFill>
                <a:latin typeface="Georgia" pitchFamily="34" charset="0"/>
                <a:ea typeface="Georgia" pitchFamily="34" charset="-122"/>
                <a:cs typeface="Georgia" pitchFamily="34" charset="-120"/>
              </a:rPr>
              <a:t>vulnerability alarms reported by npm audit.</a:t>
            </a:r>
            <a:endParaRPr lang="en-US" sz="2200" dirty="0"/>
          </a:p>
        </p:txBody>
      </p:sp>
      <p:sp>
        <p:nvSpPr>
          <p:cNvPr id="38" name="Text 36"/>
          <p:cNvSpPr/>
          <p:nvPr/>
        </p:nvSpPr>
        <p:spPr>
          <a:xfrm>
            <a:off x="914400" y="3931920"/>
            <a:ext cx="6858000" cy="1371600"/>
          </a:xfrm>
          <a:prstGeom prst="rect">
            <a:avLst/>
          </a:prstGeom>
          <a:noFill/>
          <a:ln/>
        </p:spPr>
        <p:txBody>
          <a:bodyPr wrap="square" lIns="0" tIns="0" rIns="0" bIns="0" rtlCol="0" anchor="ctr"/>
          <a:lstStyle/>
          <a:p>
            <a:pPr indent="0" marL="0">
              <a:buNone/>
            </a:pPr>
            <a:r>
              <a:rPr lang="en-US" sz="1400" dirty="0">
                <a:solidFill>
                  <a:srgbClr val="57606A"/>
                </a:solidFill>
                <a:latin typeface="Arial" pitchFamily="34" charset="0"/>
                <a:ea typeface="Arial" pitchFamily="34" charset="-122"/>
                <a:cs typeface="Arial" pitchFamily="34" charset="-120"/>
              </a:rPr>
              <a:t>34 of them are completely dormant. The vulnerable functions are never called by your application, never reached by an HTTP route, and never executed in production.</a:t>
            </a:r>
            <a:endParaRPr lang="en-US" sz="1400" dirty="0"/>
          </a:p>
          <a:p>
            <a:pPr indent="0" marL="0">
              <a:buNone/>
            </a:pPr>
            <a:endParaRPr lang="en-US" sz="1400" dirty="0"/>
          </a:p>
          <a:p>
            <a:pPr indent="0" marL="0">
              <a:buNone/>
            </a:pPr>
            <a:r>
              <a:rPr lang="en-US" sz="1400" dirty="0">
                <a:solidFill>
                  <a:srgbClr val="57606A"/>
                </a:solidFill>
                <a:latin typeface="Arial" pitchFamily="34" charset="0"/>
                <a:ea typeface="Arial" pitchFamily="34" charset="-122"/>
                <a:cs typeface="Arial" pitchFamily="34" charset="-120"/>
              </a:rPr>
              <a:t>Yet conventional scanners treat every alert with equal emergency, creating paralysis and alert fatigue.</a:t>
            </a:r>
            <a:endParaRPr lang="en-US" sz="1400" dirty="0"/>
          </a:p>
        </p:txBody>
      </p:sp>
      <p:sp>
        <p:nvSpPr>
          <p:cNvPr id="39" name="Text 37"/>
          <p:cNvSpPr/>
          <p:nvPr/>
        </p:nvSpPr>
        <p:spPr>
          <a:xfrm>
            <a:off x="914400" y="6400800"/>
            <a:ext cx="10332720" cy="228600"/>
          </a:xfrm>
          <a:prstGeom prst="rect">
            <a:avLst/>
          </a:prstGeom>
          <a:noFill/>
          <a:ln/>
        </p:spPr>
        <p:txBody>
          <a:bodyPr wrap="square" lIns="0" tIns="0" rIns="0" bIns="0" rtlCol="0" anchor="ctr"/>
          <a:lstStyle/>
          <a:p>
            <a:pPr indent="0" marL="0">
              <a:buNone/>
            </a:pPr>
            <a:r>
              <a:rPr lang="en-US" sz="900" dirty="0">
                <a:solidFill>
                  <a:srgbClr val="8C959F"/>
                </a:solidFill>
                <a:latin typeface="Consolas" pitchFamily="34" charset="0"/>
                <a:ea typeface="Consolas" pitchFamily="34" charset="-122"/>
                <a:cs typeface="Consolas" pitchFamily="34" charset="-120"/>
              </a:rPr>
              <a:t>VIBELENS // INSPECTION BENCH // 100% LOCAL PRIVACY // ZERO CLOUD LEAKS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C1F24"/>
        </a:solidFill>
      </p:bgPr>
    </p:bg>
    <p:spTree>
      <p:nvGrpSpPr>
        <p:cNvPr id="1" name=""/>
        <p:cNvGrpSpPr/>
        <p:nvPr/>
      </p:nvGrpSpPr>
      <p:grpSpPr>
        <a:xfrm>
          <a:off x="0" y="0"/>
          <a:ext cx="0" cy="0"/>
          <a:chOff x="0" y="0"/>
          <a:chExt cx="0" cy="0"/>
        </a:xfrm>
      </p:grpSpPr>
      <p:sp>
        <p:nvSpPr>
          <p:cNvPr id="2" name="Text 0"/>
          <p:cNvSpPr/>
          <p:nvPr/>
        </p:nvSpPr>
        <p:spPr>
          <a:xfrm>
            <a:off x="914400" y="548640"/>
            <a:ext cx="7315200" cy="274320"/>
          </a:xfrm>
          <a:prstGeom prst="rect">
            <a:avLst/>
          </a:prstGeom>
          <a:noFill/>
          <a:ln/>
        </p:spPr>
        <p:txBody>
          <a:bodyPr wrap="square" lIns="0" tIns="0" rIns="0" bIns="0" rtlCol="0" anchor="ctr"/>
          <a:lstStyle/>
          <a:p>
            <a:pPr indent="0" marL="0">
              <a:buNone/>
            </a:pPr>
            <a:r>
              <a:rPr lang="en-US" sz="1000" dirty="0">
                <a:solidFill>
                  <a:srgbClr val="5B7C99"/>
                </a:solidFill>
                <a:latin typeface="Consolas" pitchFamily="34" charset="0"/>
                <a:ea typeface="Consolas" pitchFamily="34" charset="-122"/>
                <a:cs typeface="Consolas" pitchFamily="34" charset="-120"/>
              </a:rPr>
              <a:t>[ THE INSIGHT // THE COMPILER PRINCIPLE ]</a:t>
            </a:r>
            <a:endParaRPr lang="en-US" sz="1000" dirty="0"/>
          </a:p>
        </p:txBody>
      </p:sp>
      <p:sp>
        <p:nvSpPr>
          <p:cNvPr id="3" name="Text 1"/>
          <p:cNvSpPr/>
          <p:nvPr/>
        </p:nvSpPr>
        <p:spPr>
          <a:xfrm>
            <a:off x="9418320" y="548640"/>
            <a:ext cx="1828800" cy="274320"/>
          </a:xfrm>
          <a:prstGeom prst="rect">
            <a:avLst/>
          </a:prstGeom>
          <a:noFill/>
          <a:ln/>
        </p:spPr>
        <p:txBody>
          <a:bodyPr wrap="square" lIns="0" tIns="0" rIns="0" bIns="0" rtlCol="0" anchor="ctr"/>
          <a:lstStyle/>
          <a:p>
            <a:pPr algn="r" indent="0" marL="0">
              <a:buNone/>
            </a:pPr>
            <a:r>
              <a:rPr lang="en-US" sz="1000" dirty="0">
                <a:solidFill>
                  <a:srgbClr val="57606A"/>
                </a:solidFill>
                <a:latin typeface="Consolas" pitchFamily="34" charset="0"/>
                <a:ea typeface="Consolas" pitchFamily="34" charset="-122"/>
                <a:cs typeface="Consolas" pitchFamily="34" charset="-120"/>
              </a:rPr>
              <a:t>SLIDE 03 / 12</a:t>
            </a:r>
            <a:endParaRPr lang="en-US" sz="1000" dirty="0"/>
          </a:p>
        </p:txBody>
      </p:sp>
      <p:sp>
        <p:nvSpPr>
          <p:cNvPr id="4" name="Text 2"/>
          <p:cNvSpPr/>
          <p:nvPr/>
        </p:nvSpPr>
        <p:spPr>
          <a:xfrm>
            <a:off x="914400" y="1463040"/>
            <a:ext cx="4754880" cy="2011680"/>
          </a:xfrm>
          <a:prstGeom prst="rect">
            <a:avLst/>
          </a:prstGeom>
          <a:noFill/>
          <a:ln/>
        </p:spPr>
        <p:txBody>
          <a:bodyPr wrap="square" lIns="0" tIns="0" rIns="0" bIns="0" rtlCol="0" anchor="ctr"/>
          <a:lstStyle/>
          <a:p>
            <a:pPr indent="0" marL="0">
              <a:buNone/>
            </a:pPr>
            <a:r>
              <a:rPr lang="en-US" sz="2800" b="1" dirty="0">
                <a:solidFill>
                  <a:srgbClr val="F4F1EA"/>
                </a:solidFill>
                <a:latin typeface="Georgia" pitchFamily="34" charset="0"/>
                <a:ea typeface="Georgia" pitchFamily="34" charset="-122"/>
                <a:cs typeface="Georgia" pitchFamily="34" charset="-120"/>
              </a:rPr>
              <a:t>A vulnerability matters only if a path exists from an entry point to the vulnerable code.</a:t>
            </a:r>
            <a:endParaRPr lang="en-US" sz="2800" dirty="0"/>
          </a:p>
        </p:txBody>
      </p:sp>
      <p:sp>
        <p:nvSpPr>
          <p:cNvPr id="5" name="Text 3"/>
          <p:cNvSpPr/>
          <p:nvPr/>
        </p:nvSpPr>
        <p:spPr>
          <a:xfrm>
            <a:off x="914400" y="3749040"/>
            <a:ext cx="4754880" cy="1645920"/>
          </a:xfrm>
          <a:prstGeom prst="rect">
            <a:avLst/>
          </a:prstGeom>
          <a:noFill/>
          <a:ln/>
        </p:spPr>
        <p:txBody>
          <a:bodyPr wrap="square" lIns="0" tIns="0" rIns="0" bIns="0" rtlCol="0" anchor="ctr"/>
          <a:lstStyle/>
          <a:p>
            <a:pPr indent="0" marL="0">
              <a:buNone/>
            </a:pPr>
            <a:r>
              <a:rPr lang="en-US" sz="1300" dirty="0">
                <a:solidFill>
                  <a:srgbClr val="8B949E"/>
                </a:solidFill>
                <a:latin typeface="Arial" pitchFamily="34" charset="0"/>
                <a:ea typeface="Arial" pitchFamily="34" charset="-122"/>
                <a:cs typeface="Arial" pitchFamily="34" charset="-120"/>
              </a:rPr>
              <a:t>Manifest-level scanners assume that importing a package exposes its entire attack surface. Compiler science proves otherwise: execution is a directed graph.</a:t>
            </a:r>
            <a:endParaRPr lang="en-US" sz="1300" dirty="0"/>
          </a:p>
          <a:p>
            <a:pPr indent="0" marL="0">
              <a:buNone/>
            </a:pPr>
            <a:endParaRPr lang="en-US" sz="1300" dirty="0"/>
          </a:p>
          <a:p>
            <a:pPr indent="0" marL="0">
              <a:buNone/>
            </a:pPr>
            <a:r>
              <a:rPr lang="en-US" sz="1300" dirty="0">
                <a:solidFill>
                  <a:srgbClr val="8B949E"/>
                </a:solidFill>
                <a:latin typeface="Arial" pitchFamily="34" charset="0"/>
                <a:ea typeface="Arial" pitchFamily="34" charset="-122"/>
                <a:cs typeface="Arial" pitchFamily="34" charset="-120"/>
              </a:rPr>
              <a:t>VibeLens traverses the AST to verify whether an actual execution path reaches the vulnerable function.</a:t>
            </a:r>
            <a:endParaRPr lang="en-US" sz="1300" dirty="0"/>
          </a:p>
        </p:txBody>
      </p:sp>
      <p:sp>
        <p:nvSpPr>
          <p:cNvPr id="6" name="Shape 4"/>
          <p:cNvSpPr/>
          <p:nvPr/>
        </p:nvSpPr>
        <p:spPr>
          <a:xfrm>
            <a:off x="6217920" y="1463040"/>
            <a:ext cx="5029200" cy="4389120"/>
          </a:xfrm>
          <a:prstGeom prst="rect">
            <a:avLst/>
          </a:prstGeom>
          <a:solidFill>
            <a:srgbClr val="22262C"/>
          </a:solidFill>
          <a:ln w="12700">
            <a:solidFill>
              <a:srgbClr val="2D333B"/>
            </a:solidFill>
            <a:prstDash val="solid"/>
          </a:ln>
        </p:spPr>
      </p:sp>
      <p:sp>
        <p:nvSpPr>
          <p:cNvPr id="7" name="Text 5"/>
          <p:cNvSpPr/>
          <p:nvPr/>
        </p:nvSpPr>
        <p:spPr>
          <a:xfrm>
            <a:off x="6492240" y="1737360"/>
            <a:ext cx="4572000" cy="228600"/>
          </a:xfrm>
          <a:prstGeom prst="rect">
            <a:avLst/>
          </a:prstGeom>
          <a:noFill/>
          <a:ln/>
        </p:spPr>
        <p:txBody>
          <a:bodyPr wrap="square" lIns="0" tIns="0" rIns="0" bIns="0" rtlCol="0" anchor="ctr"/>
          <a:lstStyle/>
          <a:p>
            <a:pPr indent="0" marL="0">
              <a:buNone/>
            </a:pPr>
            <a:r>
              <a:rPr lang="en-US" sz="1000" dirty="0">
                <a:solidFill>
                  <a:srgbClr val="5B7C99"/>
                </a:solidFill>
                <a:latin typeface="Consolas" pitchFamily="34" charset="0"/>
                <a:ea typeface="Consolas" pitchFamily="34" charset="-122"/>
                <a:cs typeface="Consolas" pitchFamily="34" charset="-120"/>
              </a:rPr>
              <a:t>[ DIRECTED AST EXECUTION GRAPH ]</a:t>
            </a:r>
            <a:endParaRPr lang="en-US" sz="1000" dirty="0"/>
          </a:p>
        </p:txBody>
      </p:sp>
      <p:sp>
        <p:nvSpPr>
          <p:cNvPr id="8" name="Shape 6"/>
          <p:cNvSpPr/>
          <p:nvPr/>
        </p:nvSpPr>
        <p:spPr>
          <a:xfrm>
            <a:off x="6492240" y="2194560"/>
            <a:ext cx="4480560" cy="685800"/>
          </a:xfrm>
          <a:prstGeom prst="rect">
            <a:avLst/>
          </a:prstGeom>
          <a:solidFill>
            <a:srgbClr val="1C1F24"/>
          </a:solidFill>
          <a:ln w="19050">
            <a:solidFill>
              <a:srgbClr val="E8A33D"/>
            </a:solidFill>
            <a:prstDash val="solid"/>
          </a:ln>
        </p:spPr>
      </p:sp>
      <p:sp>
        <p:nvSpPr>
          <p:cNvPr id="9" name="Text 7"/>
          <p:cNvSpPr/>
          <p:nvPr/>
        </p:nvSpPr>
        <p:spPr>
          <a:xfrm>
            <a:off x="6675120" y="2304288"/>
            <a:ext cx="4114800" cy="228600"/>
          </a:xfrm>
          <a:prstGeom prst="rect">
            <a:avLst/>
          </a:prstGeom>
          <a:noFill/>
          <a:ln/>
        </p:spPr>
        <p:txBody>
          <a:bodyPr wrap="square" lIns="0" tIns="0" rIns="0" bIns="0" rtlCol="0" anchor="ctr"/>
          <a:lstStyle/>
          <a:p>
            <a:pPr indent="0" marL="0">
              <a:buNone/>
            </a:pPr>
            <a:r>
              <a:rPr lang="en-US" sz="1000" b="1" dirty="0">
                <a:solidFill>
                  <a:srgbClr val="F4F1EA"/>
                </a:solidFill>
                <a:latin typeface="Consolas" pitchFamily="34" charset="0"/>
                <a:ea typeface="Consolas" pitchFamily="34" charset="-122"/>
                <a:cs typeface="Consolas" pitchFamily="34" charset="-120"/>
              </a:rPr>
              <a:t>ENTRY POINT // app/api/checkout/route.ts</a:t>
            </a:r>
            <a:endParaRPr lang="en-US" sz="1000" dirty="0"/>
          </a:p>
        </p:txBody>
      </p:sp>
      <p:sp>
        <p:nvSpPr>
          <p:cNvPr id="10" name="Text 8"/>
          <p:cNvSpPr/>
          <p:nvPr/>
        </p:nvSpPr>
        <p:spPr>
          <a:xfrm>
            <a:off x="6675120" y="2542032"/>
            <a:ext cx="4114800" cy="228600"/>
          </a:xfrm>
          <a:prstGeom prst="rect">
            <a:avLst/>
          </a:prstGeom>
          <a:noFill/>
          <a:ln/>
        </p:spPr>
        <p:txBody>
          <a:bodyPr wrap="square" lIns="0" tIns="0" rIns="0" bIns="0" rtlCol="0" anchor="ctr"/>
          <a:lstStyle/>
          <a:p>
            <a:pPr indent="0" marL="0">
              <a:buNone/>
            </a:pPr>
            <a:r>
              <a:rPr lang="en-US" sz="900" dirty="0">
                <a:solidFill>
                  <a:srgbClr val="8B949E"/>
                </a:solidFill>
                <a:latin typeface="Arial" pitchFamily="34" charset="0"/>
                <a:ea typeface="Arial" pitchFamily="34" charset="-122"/>
                <a:cs typeface="Arial" pitchFamily="34" charset="-120"/>
              </a:rPr>
              <a:t>Public HTTP Route Handler (Untrusted input arrives)</a:t>
            </a:r>
            <a:endParaRPr lang="en-US" sz="900" dirty="0"/>
          </a:p>
        </p:txBody>
      </p:sp>
      <p:sp>
        <p:nvSpPr>
          <p:cNvPr id="11" name="Shape 9"/>
          <p:cNvSpPr/>
          <p:nvPr/>
        </p:nvSpPr>
        <p:spPr>
          <a:xfrm>
            <a:off x="8732520" y="2880360"/>
            <a:ext cx="0" cy="411480"/>
          </a:xfrm>
          <a:prstGeom prst="line">
            <a:avLst/>
          </a:prstGeom>
          <a:noFill/>
          <a:ln w="25400">
            <a:solidFill>
              <a:srgbClr val="E8A33D"/>
            </a:solidFill>
            <a:prstDash val="solid"/>
          </a:ln>
        </p:spPr>
      </p:sp>
      <p:sp>
        <p:nvSpPr>
          <p:cNvPr id="12" name="Shape 10"/>
          <p:cNvSpPr/>
          <p:nvPr/>
        </p:nvSpPr>
        <p:spPr>
          <a:xfrm>
            <a:off x="6492240" y="3291840"/>
            <a:ext cx="4480560" cy="685800"/>
          </a:xfrm>
          <a:prstGeom prst="rect">
            <a:avLst/>
          </a:prstGeom>
          <a:solidFill>
            <a:srgbClr val="1C1F24"/>
          </a:solidFill>
          <a:ln w="19050">
            <a:solidFill>
              <a:srgbClr val="E8A33D"/>
            </a:solidFill>
            <a:prstDash val="solid"/>
          </a:ln>
        </p:spPr>
      </p:sp>
      <p:sp>
        <p:nvSpPr>
          <p:cNvPr id="13" name="Text 11"/>
          <p:cNvSpPr/>
          <p:nvPr/>
        </p:nvSpPr>
        <p:spPr>
          <a:xfrm>
            <a:off x="6675120" y="3401568"/>
            <a:ext cx="4114800" cy="228600"/>
          </a:xfrm>
          <a:prstGeom prst="rect">
            <a:avLst/>
          </a:prstGeom>
          <a:noFill/>
          <a:ln/>
        </p:spPr>
        <p:txBody>
          <a:bodyPr wrap="square" lIns="0" tIns="0" rIns="0" bIns="0" rtlCol="0" anchor="ctr"/>
          <a:lstStyle/>
          <a:p>
            <a:pPr indent="0" marL="0">
              <a:buNone/>
            </a:pPr>
            <a:r>
              <a:rPr lang="en-US" sz="1000" b="1" dirty="0">
                <a:solidFill>
                  <a:srgbClr val="F4F1EA"/>
                </a:solidFill>
                <a:latin typeface="Consolas" pitchFamily="34" charset="0"/>
                <a:ea typeface="Consolas" pitchFamily="34" charset="-122"/>
                <a:cs typeface="Consolas" pitchFamily="34" charset="-120"/>
              </a:rPr>
              <a:t>CALLER // src/lib/order/processor.ts</a:t>
            </a:r>
            <a:endParaRPr lang="en-US" sz="1000" dirty="0"/>
          </a:p>
        </p:txBody>
      </p:sp>
      <p:sp>
        <p:nvSpPr>
          <p:cNvPr id="14" name="Text 12"/>
          <p:cNvSpPr/>
          <p:nvPr/>
        </p:nvSpPr>
        <p:spPr>
          <a:xfrm>
            <a:off x="6675120" y="3639312"/>
            <a:ext cx="4114800" cy="228600"/>
          </a:xfrm>
          <a:prstGeom prst="rect">
            <a:avLst/>
          </a:prstGeom>
          <a:noFill/>
          <a:ln/>
        </p:spPr>
        <p:txBody>
          <a:bodyPr wrap="square" lIns="0" tIns="0" rIns="0" bIns="0" rtlCol="0" anchor="ctr"/>
          <a:lstStyle/>
          <a:p>
            <a:pPr indent="0" marL="0">
              <a:buNone/>
            </a:pPr>
            <a:r>
              <a:rPr lang="en-US" sz="900" dirty="0">
                <a:solidFill>
                  <a:srgbClr val="8B949E"/>
                </a:solidFill>
                <a:latin typeface="Arial" pitchFamily="34" charset="0"/>
                <a:ea typeface="Arial" pitchFamily="34" charset="-122"/>
                <a:cs typeface="Arial" pitchFamily="34" charset="-120"/>
              </a:rPr>
              <a:t>processOrder() invokes internal helper</a:t>
            </a:r>
            <a:endParaRPr lang="en-US" sz="900" dirty="0"/>
          </a:p>
        </p:txBody>
      </p:sp>
      <p:sp>
        <p:nvSpPr>
          <p:cNvPr id="15" name="Shape 13"/>
          <p:cNvSpPr/>
          <p:nvPr/>
        </p:nvSpPr>
        <p:spPr>
          <a:xfrm>
            <a:off x="8732520" y="3977640"/>
            <a:ext cx="0" cy="411480"/>
          </a:xfrm>
          <a:prstGeom prst="line">
            <a:avLst/>
          </a:prstGeom>
          <a:noFill/>
          <a:ln w="25400">
            <a:solidFill>
              <a:srgbClr val="E8A33D"/>
            </a:solidFill>
            <a:prstDash val="solid"/>
          </a:ln>
        </p:spPr>
      </p:sp>
      <p:sp>
        <p:nvSpPr>
          <p:cNvPr id="16" name="Shape 14"/>
          <p:cNvSpPr/>
          <p:nvPr/>
        </p:nvSpPr>
        <p:spPr>
          <a:xfrm>
            <a:off x="6492240" y="4389120"/>
            <a:ext cx="4480560" cy="685800"/>
          </a:xfrm>
          <a:prstGeom prst="rect">
            <a:avLst/>
          </a:prstGeom>
          <a:solidFill>
            <a:srgbClr val="1C1F24"/>
          </a:solidFill>
          <a:ln w="25400">
            <a:solidFill>
              <a:srgbClr val="E8A33D"/>
            </a:solidFill>
            <a:prstDash val="solid"/>
          </a:ln>
        </p:spPr>
      </p:sp>
      <p:sp>
        <p:nvSpPr>
          <p:cNvPr id="17" name="Text 15"/>
          <p:cNvSpPr/>
          <p:nvPr/>
        </p:nvSpPr>
        <p:spPr>
          <a:xfrm>
            <a:off x="6675120" y="4498848"/>
            <a:ext cx="4114800" cy="228600"/>
          </a:xfrm>
          <a:prstGeom prst="rect">
            <a:avLst/>
          </a:prstGeom>
          <a:noFill/>
          <a:ln/>
        </p:spPr>
        <p:txBody>
          <a:bodyPr wrap="square" lIns="0" tIns="0" rIns="0" bIns="0" rtlCol="0" anchor="ctr"/>
          <a:lstStyle/>
          <a:p>
            <a:pPr indent="0" marL="0">
              <a:buNone/>
            </a:pPr>
            <a:r>
              <a:rPr lang="en-US" sz="1000" b="1" dirty="0">
                <a:solidFill>
                  <a:srgbClr val="E8A33D"/>
                </a:solidFill>
                <a:latin typeface="Consolas" pitchFamily="34" charset="0"/>
                <a:ea typeface="Consolas" pitchFamily="34" charset="-122"/>
                <a:cs typeface="Consolas" pitchFamily="34" charset="-120"/>
              </a:rPr>
              <a:t>SINK // lodash.merge [CVE-2020-8203]</a:t>
            </a:r>
            <a:endParaRPr lang="en-US" sz="1000" dirty="0"/>
          </a:p>
        </p:txBody>
      </p:sp>
      <p:sp>
        <p:nvSpPr>
          <p:cNvPr id="18" name="Text 16"/>
          <p:cNvSpPr/>
          <p:nvPr/>
        </p:nvSpPr>
        <p:spPr>
          <a:xfrm>
            <a:off x="6675120" y="4736592"/>
            <a:ext cx="4114800" cy="228600"/>
          </a:xfrm>
          <a:prstGeom prst="rect">
            <a:avLst/>
          </a:prstGeom>
          <a:noFill/>
          <a:ln/>
        </p:spPr>
        <p:txBody>
          <a:bodyPr wrap="square" lIns="0" tIns="0" rIns="0" bIns="0" rtlCol="0" anchor="ctr"/>
          <a:lstStyle/>
          <a:p>
            <a:pPr indent="0" marL="0">
              <a:buNone/>
            </a:pPr>
            <a:r>
              <a:rPr lang="en-US" sz="900" dirty="0">
                <a:solidFill>
                  <a:srgbClr val="8B949E"/>
                </a:solidFill>
                <a:latin typeface="Arial" pitchFamily="34" charset="0"/>
                <a:ea typeface="Arial" pitchFamily="34" charset="-122"/>
                <a:cs typeface="Arial" pitchFamily="34" charset="-120"/>
              </a:rPr>
              <a:t>Reachable exploit path verified • 12ms</a:t>
            </a:r>
            <a:endParaRPr lang="en-US" sz="900" dirty="0"/>
          </a:p>
        </p:txBody>
      </p:sp>
      <p:sp>
        <p:nvSpPr>
          <p:cNvPr id="19" name="Shape 17"/>
          <p:cNvSpPr/>
          <p:nvPr/>
        </p:nvSpPr>
        <p:spPr>
          <a:xfrm>
            <a:off x="6492240" y="5257800"/>
            <a:ext cx="4480560" cy="457200"/>
          </a:xfrm>
          <a:prstGeom prst="rect">
            <a:avLst/>
          </a:prstGeom>
          <a:solidFill>
            <a:srgbClr val="1C1F24"/>
          </a:solidFill>
          <a:ln w="10160">
            <a:solidFill>
              <a:srgbClr val="5B7C99"/>
            </a:solidFill>
            <a:prstDash val="dash"/>
          </a:ln>
        </p:spPr>
      </p:sp>
      <p:sp>
        <p:nvSpPr>
          <p:cNvPr id="20" name="Text 18"/>
          <p:cNvSpPr/>
          <p:nvPr/>
        </p:nvSpPr>
        <p:spPr>
          <a:xfrm>
            <a:off x="6675120" y="5376672"/>
            <a:ext cx="4114800" cy="228600"/>
          </a:xfrm>
          <a:prstGeom prst="rect">
            <a:avLst/>
          </a:prstGeom>
          <a:noFill/>
          <a:ln/>
        </p:spPr>
        <p:txBody>
          <a:bodyPr wrap="square" lIns="0" tIns="0" rIns="0" bIns="0" rtlCol="0" anchor="ctr"/>
          <a:lstStyle/>
          <a:p>
            <a:pPr indent="0" marL="0">
              <a:buNone/>
            </a:pPr>
            <a:r>
              <a:rPr lang="en-US" sz="900" dirty="0">
                <a:solidFill>
                  <a:srgbClr val="5B7C99"/>
                </a:solidFill>
                <a:latin typeface="Consolas" pitchFamily="34" charset="0"/>
                <a:ea typeface="Consolas" pitchFamily="34" charset="-122"/>
                <a:cs typeface="Consolas" pitchFamily="34" charset="-120"/>
              </a:rPr>
              <a:t>DORMANT // jsonwebtoken [CVE-2022-23529] · NO STATIC PATH</a:t>
            </a:r>
            <a:endParaRPr lang="en-US" sz="900" dirty="0"/>
          </a:p>
        </p:txBody>
      </p:sp>
      <p:sp>
        <p:nvSpPr>
          <p:cNvPr id="21" name="Text 19"/>
          <p:cNvSpPr/>
          <p:nvPr/>
        </p:nvSpPr>
        <p:spPr>
          <a:xfrm>
            <a:off x="914400" y="6400800"/>
            <a:ext cx="10332720" cy="228600"/>
          </a:xfrm>
          <a:prstGeom prst="rect">
            <a:avLst/>
          </a:prstGeom>
          <a:noFill/>
          <a:ln/>
        </p:spPr>
        <p:txBody>
          <a:bodyPr wrap="square" lIns="0" tIns="0" rIns="0" bIns="0" rtlCol="0" anchor="ctr"/>
          <a:lstStyle/>
          <a:p>
            <a:pPr indent="0" marL="0">
              <a:buNone/>
            </a:pPr>
            <a:r>
              <a:rPr lang="en-US" sz="900" dirty="0">
                <a:solidFill>
                  <a:srgbClr val="57606A"/>
                </a:solidFill>
                <a:latin typeface="Consolas" pitchFamily="34" charset="0"/>
                <a:ea typeface="Consolas" pitchFamily="34" charset="-122"/>
                <a:cs typeface="Consolas" pitchFamily="34" charset="-120"/>
              </a:rPr>
              <a:t>VIBELENS // INSPECTION BENCH // 100% LOCAL PRIVACY // ZERO CLOUD LEAKS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14400" y="548640"/>
            <a:ext cx="7315200" cy="274320"/>
          </a:xfrm>
          <a:prstGeom prst="rect">
            <a:avLst/>
          </a:prstGeom>
          <a:noFill/>
          <a:ln/>
        </p:spPr>
        <p:txBody>
          <a:bodyPr wrap="square" lIns="0" tIns="0" rIns="0" bIns="0" rtlCol="0" anchor="ctr"/>
          <a:lstStyle/>
          <a:p>
            <a:pPr indent="0" marL="0">
              <a:buNone/>
            </a:pPr>
            <a:r>
              <a:rPr lang="en-US" sz="1000" dirty="0">
                <a:solidFill>
                  <a:srgbClr val="5B7C99"/>
                </a:solidFill>
                <a:latin typeface="Consolas" pitchFamily="34" charset="0"/>
                <a:ea typeface="Consolas" pitchFamily="34" charset="-122"/>
                <a:cs typeface="Consolas" pitchFamily="34" charset="-120"/>
              </a:rPr>
              <a:t>[ HOW IT WORKS // THE TRANSFORMATION ]</a:t>
            </a:r>
            <a:endParaRPr lang="en-US" sz="1000" dirty="0"/>
          </a:p>
        </p:txBody>
      </p:sp>
      <p:sp>
        <p:nvSpPr>
          <p:cNvPr id="3" name="Text 1"/>
          <p:cNvSpPr/>
          <p:nvPr/>
        </p:nvSpPr>
        <p:spPr>
          <a:xfrm>
            <a:off x="9418320" y="548640"/>
            <a:ext cx="1828800" cy="274320"/>
          </a:xfrm>
          <a:prstGeom prst="rect">
            <a:avLst/>
          </a:prstGeom>
          <a:noFill/>
          <a:ln/>
        </p:spPr>
        <p:txBody>
          <a:bodyPr wrap="square" lIns="0" tIns="0" rIns="0" bIns="0" rtlCol="0" anchor="ctr"/>
          <a:lstStyle/>
          <a:p>
            <a:pPr algn="r" indent="0" marL="0">
              <a:buNone/>
            </a:pPr>
            <a:r>
              <a:rPr lang="en-US" sz="1000" dirty="0">
                <a:solidFill>
                  <a:srgbClr val="8C959F"/>
                </a:solidFill>
                <a:latin typeface="Consolas" pitchFamily="34" charset="0"/>
                <a:ea typeface="Consolas" pitchFamily="34" charset="-122"/>
                <a:cs typeface="Consolas" pitchFamily="34" charset="-120"/>
              </a:rPr>
              <a:t>SLIDE 04 / 12</a:t>
            </a:r>
            <a:endParaRPr lang="en-US" sz="1000" dirty="0"/>
          </a:p>
        </p:txBody>
      </p:sp>
      <p:sp>
        <p:nvSpPr>
          <p:cNvPr id="4" name="Text 2"/>
          <p:cNvSpPr/>
          <p:nvPr/>
        </p:nvSpPr>
        <p:spPr>
          <a:xfrm>
            <a:off x="914400" y="1097280"/>
            <a:ext cx="10332720" cy="457200"/>
          </a:xfrm>
          <a:prstGeom prst="rect">
            <a:avLst/>
          </a:prstGeom>
          <a:noFill/>
          <a:ln/>
        </p:spPr>
        <p:txBody>
          <a:bodyPr wrap="square" lIns="0" tIns="0" rIns="0" bIns="0" rtlCol="0" anchor="ctr"/>
          <a:lstStyle/>
          <a:p>
            <a:pPr indent="0" marL="0">
              <a:buNone/>
            </a:pPr>
            <a:r>
              <a:rPr lang="en-US" sz="2400" b="1" dirty="0">
                <a:solidFill>
                  <a:srgbClr val="1C1F24"/>
                </a:solidFill>
                <a:latin typeface="Georgia" pitchFamily="34" charset="0"/>
                <a:ea typeface="Georgia" pitchFamily="34" charset="-122"/>
                <a:cs typeface="Georgia" pitchFamily="34" charset="-120"/>
              </a:rPr>
              <a:t>From Raw Repository to Labeled Findings in Three Stages</a:t>
            </a:r>
            <a:endParaRPr lang="en-US" sz="2400" dirty="0"/>
          </a:p>
        </p:txBody>
      </p:sp>
      <p:sp>
        <p:nvSpPr>
          <p:cNvPr id="5" name="Shape 3"/>
          <p:cNvSpPr/>
          <p:nvPr/>
        </p:nvSpPr>
        <p:spPr>
          <a:xfrm>
            <a:off x="1371600" y="3383280"/>
            <a:ext cx="9418320" cy="0"/>
          </a:xfrm>
          <a:prstGeom prst="line">
            <a:avLst/>
          </a:prstGeom>
          <a:noFill/>
          <a:ln w="19050">
            <a:solidFill>
              <a:srgbClr val="D0CBC1"/>
            </a:solidFill>
            <a:prstDash val="solid"/>
          </a:ln>
        </p:spPr>
      </p:sp>
      <p:sp>
        <p:nvSpPr>
          <p:cNvPr id="6" name="Shape 4"/>
          <p:cNvSpPr/>
          <p:nvPr/>
        </p:nvSpPr>
        <p:spPr>
          <a:xfrm>
            <a:off x="914400" y="1828800"/>
            <a:ext cx="3017520" cy="4023360"/>
          </a:xfrm>
          <a:prstGeom prst="rect">
            <a:avLst/>
          </a:prstGeom>
          <a:solidFill>
            <a:srgbClr val="F4F1EA"/>
          </a:solidFill>
          <a:ln w="19050">
            <a:solidFill>
              <a:srgbClr val="D0CBC1"/>
            </a:solidFill>
            <a:prstDash val="solid"/>
          </a:ln>
        </p:spPr>
      </p:sp>
      <p:sp>
        <p:nvSpPr>
          <p:cNvPr id="7" name="Text 5"/>
          <p:cNvSpPr/>
          <p:nvPr/>
        </p:nvSpPr>
        <p:spPr>
          <a:xfrm>
            <a:off x="1188720" y="2057400"/>
            <a:ext cx="2468880" cy="228600"/>
          </a:xfrm>
          <a:prstGeom prst="rect">
            <a:avLst/>
          </a:prstGeom>
          <a:noFill/>
          <a:ln/>
        </p:spPr>
        <p:txBody>
          <a:bodyPr wrap="square" lIns="0" tIns="0" rIns="0" bIns="0" rtlCol="0" anchor="ctr"/>
          <a:lstStyle/>
          <a:p>
            <a:pPr indent="0" marL="0">
              <a:buNone/>
            </a:pPr>
            <a:r>
              <a:rPr lang="en-US" sz="1000" b="1" dirty="0">
                <a:solidFill>
                  <a:srgbClr val="5B7C99"/>
                </a:solidFill>
                <a:latin typeface="Consolas" pitchFamily="34" charset="0"/>
                <a:ea typeface="Consolas" pitchFamily="34" charset="-122"/>
                <a:cs typeface="Consolas" pitchFamily="34" charset="-120"/>
              </a:rPr>
              <a:t>STAGE 01</a:t>
            </a:r>
            <a:endParaRPr lang="en-US" sz="1000" dirty="0"/>
          </a:p>
        </p:txBody>
      </p:sp>
      <p:sp>
        <p:nvSpPr>
          <p:cNvPr id="8" name="Text 6"/>
          <p:cNvSpPr/>
          <p:nvPr/>
        </p:nvSpPr>
        <p:spPr>
          <a:xfrm>
            <a:off x="1188720" y="2286000"/>
            <a:ext cx="2468880" cy="320040"/>
          </a:xfrm>
          <a:prstGeom prst="rect">
            <a:avLst/>
          </a:prstGeom>
          <a:noFill/>
          <a:ln/>
        </p:spPr>
        <p:txBody>
          <a:bodyPr wrap="square" lIns="0" tIns="0" rIns="0" bIns="0" rtlCol="0" anchor="ctr"/>
          <a:lstStyle/>
          <a:p>
            <a:pPr indent="0" marL="0">
              <a:buNone/>
            </a:pPr>
            <a:r>
              <a:rPr lang="en-US" sz="1400" b="1" dirty="0">
                <a:solidFill>
                  <a:srgbClr val="1C1F24"/>
                </a:solidFill>
                <a:latin typeface="Georgia" pitchFamily="34" charset="0"/>
                <a:ea typeface="Georgia" pitchFamily="34" charset="-122"/>
                <a:cs typeface="Georgia" pitchFamily="34" charset="-120"/>
              </a:rPr>
              <a:t>THE FILE TREE</a:t>
            </a:r>
            <a:endParaRPr lang="en-US" sz="1400" dirty="0"/>
          </a:p>
        </p:txBody>
      </p:sp>
      <p:sp>
        <p:nvSpPr>
          <p:cNvPr id="9" name="Text 7"/>
          <p:cNvSpPr/>
          <p:nvPr/>
        </p:nvSpPr>
        <p:spPr>
          <a:xfrm>
            <a:off x="1188720" y="2606040"/>
            <a:ext cx="2468880" cy="228600"/>
          </a:xfrm>
          <a:prstGeom prst="rect">
            <a:avLst/>
          </a:prstGeom>
          <a:noFill/>
          <a:ln/>
        </p:spPr>
        <p:txBody>
          <a:bodyPr wrap="square" lIns="0" tIns="0" rIns="0" bIns="0" rtlCol="0" anchor="ctr"/>
          <a:lstStyle/>
          <a:p>
            <a:pPr indent="0" marL="0">
              <a:buNone/>
            </a:pPr>
            <a:r>
              <a:rPr lang="en-US" sz="1000" dirty="0">
                <a:solidFill>
                  <a:srgbClr val="57606A"/>
                </a:solidFill>
                <a:latin typeface="Arial" pitchFamily="34" charset="0"/>
                <a:ea typeface="Arial" pitchFamily="34" charset="-122"/>
                <a:cs typeface="Arial" pitchFamily="34" charset="-120"/>
              </a:rPr>
              <a:t>Raw Code On Disk</a:t>
            </a:r>
            <a:endParaRPr lang="en-US" sz="1000" dirty="0"/>
          </a:p>
        </p:txBody>
      </p:sp>
      <p:sp>
        <p:nvSpPr>
          <p:cNvPr id="10" name="Shape 8"/>
          <p:cNvSpPr/>
          <p:nvPr/>
        </p:nvSpPr>
        <p:spPr>
          <a:xfrm>
            <a:off x="1188720" y="2971800"/>
            <a:ext cx="2468880" cy="2560320"/>
          </a:xfrm>
          <a:prstGeom prst="rect">
            <a:avLst/>
          </a:prstGeom>
          <a:solidFill>
            <a:srgbClr val="ECE8E0"/>
          </a:solidFill>
          <a:ln w="10160">
            <a:solidFill>
              <a:srgbClr val="D0CBC1"/>
            </a:solidFill>
            <a:prstDash val="solid"/>
          </a:ln>
        </p:spPr>
      </p:sp>
      <p:sp>
        <p:nvSpPr>
          <p:cNvPr id="11" name="Text 9"/>
          <p:cNvSpPr/>
          <p:nvPr/>
        </p:nvSpPr>
        <p:spPr>
          <a:xfrm>
            <a:off x="1325880" y="3108960"/>
            <a:ext cx="2194560" cy="2286000"/>
          </a:xfrm>
          <a:prstGeom prst="rect">
            <a:avLst/>
          </a:prstGeom>
          <a:noFill/>
          <a:ln/>
        </p:spPr>
        <p:txBody>
          <a:bodyPr wrap="square" lIns="0" tIns="0" rIns="0" bIns="0" rtlCol="0" anchor="ctr"/>
          <a:lstStyle/>
          <a:p>
            <a:pPr indent="0" marL="0">
              <a:buNone/>
            </a:pPr>
            <a:r>
              <a:rPr lang="en-US" sz="1000" dirty="0">
                <a:solidFill>
                  <a:srgbClr val="57606A"/>
                </a:solidFill>
                <a:latin typeface="Consolas" pitchFamily="34" charset="0"/>
                <a:ea typeface="Consolas" pitchFamily="34" charset="-122"/>
                <a:cs typeface="Consolas" pitchFamily="34" charset="-120"/>
              </a:rPr>
              <a:t>app/</a:t>
            </a:r>
            <a:endParaRPr lang="en-US" sz="1000" dirty="0"/>
          </a:p>
          <a:p>
            <a:pPr indent="0" marL="0">
              <a:buNone/>
            </a:pPr>
            <a:r>
              <a:rPr lang="en-US" sz="1000" dirty="0">
                <a:solidFill>
                  <a:srgbClr val="57606A"/>
                </a:solidFill>
                <a:latin typeface="Consolas" pitchFamily="34" charset="0"/>
                <a:ea typeface="Consolas" pitchFamily="34" charset="-122"/>
                <a:cs typeface="Consolas" pitchFamily="34" charset="-120"/>
              </a:rPr>
              <a:t> └── api/</a:t>
            </a:r>
            <a:endParaRPr lang="en-US" sz="1000" dirty="0"/>
          </a:p>
          <a:p>
            <a:pPr indent="0" marL="0">
              <a:buNone/>
            </a:pPr>
            <a:r>
              <a:rPr lang="en-US" sz="1000" dirty="0">
                <a:solidFill>
                  <a:srgbClr val="57606A"/>
                </a:solidFill>
                <a:latin typeface="Consolas" pitchFamily="34" charset="0"/>
                <a:ea typeface="Consolas" pitchFamily="34" charset="-122"/>
                <a:cs typeface="Consolas" pitchFamily="34" charset="-120"/>
              </a:rPr>
              <a:t>      └── checkout/</a:t>
            </a:r>
            <a:endParaRPr lang="en-US" sz="1000" dirty="0"/>
          </a:p>
          <a:p>
            <a:pPr indent="0" marL="0">
              <a:buNone/>
            </a:pPr>
            <a:r>
              <a:rPr lang="en-US" sz="1000" dirty="0">
                <a:solidFill>
                  <a:srgbClr val="57606A"/>
                </a:solidFill>
                <a:latin typeface="Consolas" pitchFamily="34" charset="0"/>
                <a:ea typeface="Consolas" pitchFamily="34" charset="-122"/>
                <a:cs typeface="Consolas" pitchFamily="34" charset="-120"/>
              </a:rPr>
              <a:t>           └── route.ts</a:t>
            </a:r>
            <a:endParaRPr lang="en-US" sz="1000" dirty="0"/>
          </a:p>
          <a:p>
            <a:pPr indent="0" marL="0">
              <a:buNone/>
            </a:pPr>
            <a:r>
              <a:rPr lang="en-US" sz="1000" dirty="0">
                <a:solidFill>
                  <a:srgbClr val="57606A"/>
                </a:solidFill>
                <a:latin typeface="Consolas" pitchFamily="34" charset="0"/>
                <a:ea typeface="Consolas" pitchFamily="34" charset="-122"/>
                <a:cs typeface="Consolas" pitchFamily="34" charset="-120"/>
              </a:rPr>
              <a:t>src/</a:t>
            </a:r>
            <a:endParaRPr lang="en-US" sz="1000" dirty="0"/>
          </a:p>
          <a:p>
            <a:pPr indent="0" marL="0">
              <a:buNone/>
            </a:pPr>
            <a:r>
              <a:rPr lang="en-US" sz="1000" dirty="0">
                <a:solidFill>
                  <a:srgbClr val="57606A"/>
                </a:solidFill>
                <a:latin typeface="Consolas" pitchFamily="34" charset="0"/>
                <a:ea typeface="Consolas" pitchFamily="34" charset="-122"/>
                <a:cs typeface="Consolas" pitchFamily="34" charset="-120"/>
              </a:rPr>
              <a:t> ├── lib/order.ts</a:t>
            </a:r>
            <a:endParaRPr lang="en-US" sz="1000" dirty="0"/>
          </a:p>
          <a:p>
            <a:pPr indent="0" marL="0">
              <a:buNone/>
            </a:pPr>
            <a:r>
              <a:rPr lang="en-US" sz="1000" dirty="0">
                <a:solidFill>
                  <a:srgbClr val="57606A"/>
                </a:solidFill>
                <a:latin typeface="Consolas" pitchFamily="34" charset="0"/>
                <a:ea typeface="Consolas" pitchFamily="34" charset="-122"/>
                <a:cs typeface="Consolas" pitchFamily="34" charset="-120"/>
              </a:rPr>
              <a:t> └── utils/merge.ts</a:t>
            </a:r>
            <a:endParaRPr lang="en-US" sz="1000" dirty="0"/>
          </a:p>
          <a:p>
            <a:pPr indent="0" marL="0">
              <a:buNone/>
            </a:pPr>
            <a:r>
              <a:rPr lang="en-US" sz="1000" dirty="0">
                <a:solidFill>
                  <a:srgbClr val="57606A"/>
                </a:solidFill>
                <a:latin typeface="Consolas" pitchFamily="34" charset="0"/>
                <a:ea typeface="Consolas" pitchFamily="34" charset="-122"/>
                <a:cs typeface="Consolas" pitchFamily="34" charset="-120"/>
              </a:rPr>
              <a:t>node_modules/</a:t>
            </a:r>
            <a:endParaRPr lang="en-US" sz="1000" dirty="0"/>
          </a:p>
          <a:p>
            <a:pPr indent="0" marL="0">
              <a:buNone/>
            </a:pPr>
            <a:r>
              <a:rPr lang="en-US" sz="1000" dirty="0">
                <a:solidFill>
                  <a:srgbClr val="57606A"/>
                </a:solidFill>
                <a:latin typeface="Consolas" pitchFamily="34" charset="0"/>
                <a:ea typeface="Consolas" pitchFamily="34" charset="-122"/>
                <a:cs typeface="Consolas" pitchFamily="34" charset="-120"/>
              </a:rPr>
              <a:t> └── lodash/merge.js</a:t>
            </a:r>
            <a:endParaRPr lang="en-US" sz="1000" dirty="0"/>
          </a:p>
        </p:txBody>
      </p:sp>
      <p:sp>
        <p:nvSpPr>
          <p:cNvPr id="12" name="Shape 10"/>
          <p:cNvSpPr/>
          <p:nvPr/>
        </p:nvSpPr>
        <p:spPr>
          <a:xfrm>
            <a:off x="4572000" y="1828800"/>
            <a:ext cx="3017520" cy="4023360"/>
          </a:xfrm>
          <a:prstGeom prst="rect">
            <a:avLst/>
          </a:prstGeom>
          <a:solidFill>
            <a:srgbClr val="F4F1EA"/>
          </a:solidFill>
          <a:ln w="19050">
            <a:solidFill>
              <a:srgbClr val="D0CBC1"/>
            </a:solidFill>
            <a:prstDash val="solid"/>
          </a:ln>
        </p:spPr>
      </p:sp>
      <p:sp>
        <p:nvSpPr>
          <p:cNvPr id="13" name="Text 11"/>
          <p:cNvSpPr/>
          <p:nvPr/>
        </p:nvSpPr>
        <p:spPr>
          <a:xfrm>
            <a:off x="4846320" y="2057400"/>
            <a:ext cx="2468880" cy="228600"/>
          </a:xfrm>
          <a:prstGeom prst="rect">
            <a:avLst/>
          </a:prstGeom>
          <a:noFill/>
          <a:ln/>
        </p:spPr>
        <p:txBody>
          <a:bodyPr wrap="square" lIns="0" tIns="0" rIns="0" bIns="0" rtlCol="0" anchor="ctr"/>
          <a:lstStyle/>
          <a:p>
            <a:pPr indent="0" marL="0">
              <a:buNone/>
            </a:pPr>
            <a:r>
              <a:rPr lang="en-US" sz="1000" b="1" dirty="0">
                <a:solidFill>
                  <a:srgbClr val="5B7C99"/>
                </a:solidFill>
                <a:latin typeface="Consolas" pitchFamily="34" charset="0"/>
                <a:ea typeface="Consolas" pitchFamily="34" charset="-122"/>
                <a:cs typeface="Consolas" pitchFamily="34" charset="-120"/>
              </a:rPr>
              <a:t>STAGE 02</a:t>
            </a:r>
            <a:endParaRPr lang="en-US" sz="1000" dirty="0"/>
          </a:p>
        </p:txBody>
      </p:sp>
      <p:sp>
        <p:nvSpPr>
          <p:cNvPr id="14" name="Text 12"/>
          <p:cNvSpPr/>
          <p:nvPr/>
        </p:nvSpPr>
        <p:spPr>
          <a:xfrm>
            <a:off x="4846320" y="2286000"/>
            <a:ext cx="2468880" cy="320040"/>
          </a:xfrm>
          <a:prstGeom prst="rect">
            <a:avLst/>
          </a:prstGeom>
          <a:noFill/>
          <a:ln/>
        </p:spPr>
        <p:txBody>
          <a:bodyPr wrap="square" lIns="0" tIns="0" rIns="0" bIns="0" rtlCol="0" anchor="ctr"/>
          <a:lstStyle/>
          <a:p>
            <a:pPr indent="0" marL="0">
              <a:buNone/>
            </a:pPr>
            <a:r>
              <a:rPr lang="en-US" sz="1400" b="1" dirty="0">
                <a:solidFill>
                  <a:srgbClr val="1C1F24"/>
                </a:solidFill>
                <a:latin typeface="Georgia" pitchFamily="34" charset="0"/>
                <a:ea typeface="Georgia" pitchFamily="34" charset="-122"/>
                <a:cs typeface="Georgia" pitchFamily="34" charset="-120"/>
              </a:rPr>
              <a:t>THE 2D IMPORT GRAPH</a:t>
            </a:r>
            <a:endParaRPr lang="en-US" sz="1400" dirty="0"/>
          </a:p>
        </p:txBody>
      </p:sp>
      <p:sp>
        <p:nvSpPr>
          <p:cNvPr id="15" name="Text 13"/>
          <p:cNvSpPr/>
          <p:nvPr/>
        </p:nvSpPr>
        <p:spPr>
          <a:xfrm>
            <a:off x="4846320" y="2606040"/>
            <a:ext cx="2468880" cy="228600"/>
          </a:xfrm>
          <a:prstGeom prst="rect">
            <a:avLst/>
          </a:prstGeom>
          <a:noFill/>
          <a:ln/>
        </p:spPr>
        <p:txBody>
          <a:bodyPr wrap="square" lIns="0" tIns="0" rIns="0" bIns="0" rtlCol="0" anchor="ctr"/>
          <a:lstStyle/>
          <a:p>
            <a:pPr indent="0" marL="0">
              <a:buNone/>
            </a:pPr>
            <a:r>
              <a:rPr lang="en-US" sz="1000" dirty="0">
                <a:solidFill>
                  <a:srgbClr val="57606A"/>
                </a:solidFill>
                <a:latin typeface="Arial" pitchFamily="34" charset="0"/>
                <a:ea typeface="Arial" pitchFamily="34" charset="-122"/>
                <a:cs typeface="Arial" pitchFamily="34" charset="-120"/>
              </a:rPr>
              <a:t>AST Graph Traversal</a:t>
            </a:r>
            <a:endParaRPr lang="en-US" sz="1000" dirty="0"/>
          </a:p>
        </p:txBody>
      </p:sp>
      <p:sp>
        <p:nvSpPr>
          <p:cNvPr id="16" name="Shape 14"/>
          <p:cNvSpPr/>
          <p:nvPr/>
        </p:nvSpPr>
        <p:spPr>
          <a:xfrm>
            <a:off x="4846320" y="2971800"/>
            <a:ext cx="2468880" cy="2560320"/>
          </a:xfrm>
          <a:prstGeom prst="rect">
            <a:avLst/>
          </a:prstGeom>
          <a:solidFill>
            <a:srgbClr val="ECE8E0"/>
          </a:solidFill>
          <a:ln w="10160">
            <a:solidFill>
              <a:srgbClr val="D0CBC1"/>
            </a:solidFill>
            <a:prstDash val="solid"/>
          </a:ln>
        </p:spPr>
      </p:sp>
      <p:sp>
        <p:nvSpPr>
          <p:cNvPr id="17" name="Text 15"/>
          <p:cNvSpPr/>
          <p:nvPr/>
        </p:nvSpPr>
        <p:spPr>
          <a:xfrm>
            <a:off x="4983480" y="3108960"/>
            <a:ext cx="2194560" cy="2286000"/>
          </a:xfrm>
          <a:prstGeom prst="rect">
            <a:avLst/>
          </a:prstGeom>
          <a:noFill/>
          <a:ln/>
        </p:spPr>
        <p:txBody>
          <a:bodyPr wrap="square" lIns="0" tIns="0" rIns="0" bIns="0" rtlCol="0" anchor="ctr"/>
          <a:lstStyle/>
          <a:p>
            <a:pPr indent="0" marL="0">
              <a:buNone/>
            </a:pPr>
            <a:r>
              <a:rPr lang="en-US" sz="1000" dirty="0">
                <a:solidFill>
                  <a:srgbClr val="57606A"/>
                </a:solidFill>
                <a:latin typeface="Consolas" pitchFamily="34" charset="0"/>
                <a:ea typeface="Consolas" pitchFamily="34" charset="-122"/>
                <a:cs typeface="Consolas" pitchFamily="34" charset="-120"/>
              </a:rPr>
              <a:t>[route.ts]</a:t>
            </a:r>
            <a:endParaRPr lang="en-US" sz="1000" dirty="0"/>
          </a:p>
          <a:p>
            <a:pPr indent="0" marL="0">
              <a:buNone/>
            </a:pPr>
            <a:r>
              <a:rPr lang="en-US" sz="1000" dirty="0">
                <a:solidFill>
                  <a:srgbClr val="57606A"/>
                </a:solidFill>
                <a:latin typeface="Consolas" pitchFamily="34" charset="0"/>
                <a:ea typeface="Consolas" pitchFamily="34" charset="-122"/>
                <a:cs typeface="Consolas" pitchFamily="34" charset="-120"/>
              </a:rPr>
              <a:t>    ↓ imports</a:t>
            </a:r>
            <a:endParaRPr lang="en-US" sz="1000" dirty="0"/>
          </a:p>
          <a:p>
            <a:pPr indent="0" marL="0">
              <a:buNone/>
            </a:pPr>
            <a:r>
              <a:rPr lang="en-US" sz="1000" dirty="0">
                <a:solidFill>
                  <a:srgbClr val="57606A"/>
                </a:solidFill>
                <a:latin typeface="Consolas" pitchFamily="34" charset="0"/>
                <a:ea typeface="Consolas" pitchFamily="34" charset="-122"/>
                <a:cs typeface="Consolas" pitchFamily="34" charset="-120"/>
              </a:rPr>
              <a:t>[order.ts]</a:t>
            </a:r>
            <a:endParaRPr lang="en-US" sz="1000" dirty="0"/>
          </a:p>
          <a:p>
            <a:pPr indent="0" marL="0">
              <a:buNone/>
            </a:pPr>
            <a:r>
              <a:rPr lang="en-US" sz="1000" dirty="0">
                <a:solidFill>
                  <a:srgbClr val="57606A"/>
                </a:solidFill>
                <a:latin typeface="Consolas" pitchFamily="34" charset="0"/>
                <a:ea typeface="Consolas" pitchFamily="34" charset="-122"/>
                <a:cs typeface="Consolas" pitchFamily="34" charset="-120"/>
              </a:rPr>
              <a:t>    ↓ imports</a:t>
            </a:r>
            <a:endParaRPr lang="en-US" sz="1000" dirty="0"/>
          </a:p>
          <a:p>
            <a:pPr indent="0" marL="0">
              <a:buNone/>
            </a:pPr>
            <a:r>
              <a:rPr lang="en-US" sz="1000" dirty="0">
                <a:solidFill>
                  <a:srgbClr val="57606A"/>
                </a:solidFill>
                <a:latin typeface="Consolas" pitchFamily="34" charset="0"/>
                <a:ea typeface="Consolas" pitchFamily="34" charset="-122"/>
                <a:cs typeface="Consolas" pitchFamily="34" charset="-120"/>
              </a:rPr>
              <a:t>[merge.ts]</a:t>
            </a:r>
            <a:endParaRPr lang="en-US" sz="1000" dirty="0"/>
          </a:p>
          <a:p>
            <a:pPr indent="0" marL="0">
              <a:buNone/>
            </a:pPr>
            <a:r>
              <a:rPr lang="en-US" sz="1000" dirty="0">
                <a:solidFill>
                  <a:srgbClr val="57606A"/>
                </a:solidFill>
                <a:latin typeface="Consolas" pitchFamily="34" charset="0"/>
                <a:ea typeface="Consolas" pitchFamily="34" charset="-122"/>
                <a:cs typeface="Consolas" pitchFamily="34" charset="-120"/>
              </a:rPr>
              <a:t>    ↓ imports</a:t>
            </a:r>
            <a:endParaRPr lang="en-US" sz="1000" dirty="0"/>
          </a:p>
          <a:p>
            <a:pPr indent="0" marL="0">
              <a:buNone/>
            </a:pPr>
            <a:r>
              <a:rPr lang="en-US" sz="1000" dirty="0">
                <a:solidFill>
                  <a:srgbClr val="57606A"/>
                </a:solidFill>
                <a:latin typeface="Consolas" pitchFamily="34" charset="0"/>
                <a:ea typeface="Consolas" pitchFamily="34" charset="-122"/>
                <a:cs typeface="Consolas" pitchFamily="34" charset="-120"/>
              </a:rPr>
              <a:t>[lodash.merge]</a:t>
            </a:r>
            <a:endParaRPr lang="en-US" sz="1000" dirty="0"/>
          </a:p>
        </p:txBody>
      </p:sp>
      <p:sp>
        <p:nvSpPr>
          <p:cNvPr id="18" name="Shape 16"/>
          <p:cNvSpPr/>
          <p:nvPr/>
        </p:nvSpPr>
        <p:spPr>
          <a:xfrm>
            <a:off x="8229600" y="1828800"/>
            <a:ext cx="3017520" cy="4023360"/>
          </a:xfrm>
          <a:prstGeom prst="rect">
            <a:avLst/>
          </a:prstGeom>
          <a:solidFill>
            <a:srgbClr val="F4F1EA"/>
          </a:solidFill>
          <a:ln w="19050">
            <a:solidFill>
              <a:srgbClr val="E8A33D"/>
            </a:solidFill>
            <a:prstDash val="solid"/>
          </a:ln>
        </p:spPr>
      </p:sp>
      <p:sp>
        <p:nvSpPr>
          <p:cNvPr id="19" name="Text 17"/>
          <p:cNvSpPr/>
          <p:nvPr/>
        </p:nvSpPr>
        <p:spPr>
          <a:xfrm>
            <a:off x="8503920" y="2057400"/>
            <a:ext cx="2468880" cy="228600"/>
          </a:xfrm>
          <a:prstGeom prst="rect">
            <a:avLst/>
          </a:prstGeom>
          <a:noFill/>
          <a:ln/>
        </p:spPr>
        <p:txBody>
          <a:bodyPr wrap="square" lIns="0" tIns="0" rIns="0" bIns="0" rtlCol="0" anchor="ctr"/>
          <a:lstStyle/>
          <a:p>
            <a:pPr indent="0" marL="0">
              <a:buNone/>
            </a:pPr>
            <a:r>
              <a:rPr lang="en-US" sz="1000" b="1" dirty="0">
                <a:solidFill>
                  <a:srgbClr val="E8A33D"/>
                </a:solidFill>
                <a:latin typeface="Consolas" pitchFamily="34" charset="0"/>
                <a:ea typeface="Consolas" pitchFamily="34" charset="-122"/>
                <a:cs typeface="Consolas" pitchFamily="34" charset="-120"/>
              </a:rPr>
              <a:t>STAGE 03</a:t>
            </a:r>
            <a:endParaRPr lang="en-US" sz="1000" dirty="0"/>
          </a:p>
        </p:txBody>
      </p:sp>
      <p:sp>
        <p:nvSpPr>
          <p:cNvPr id="20" name="Text 18"/>
          <p:cNvSpPr/>
          <p:nvPr/>
        </p:nvSpPr>
        <p:spPr>
          <a:xfrm>
            <a:off x="8503920" y="2286000"/>
            <a:ext cx="2468880" cy="320040"/>
          </a:xfrm>
          <a:prstGeom prst="rect">
            <a:avLst/>
          </a:prstGeom>
          <a:noFill/>
          <a:ln/>
        </p:spPr>
        <p:txBody>
          <a:bodyPr wrap="square" lIns="0" tIns="0" rIns="0" bIns="0" rtlCol="0" anchor="ctr"/>
          <a:lstStyle/>
          <a:p>
            <a:pPr indent="0" marL="0">
              <a:buNone/>
            </a:pPr>
            <a:r>
              <a:rPr lang="en-US" sz="1400" b="1" dirty="0">
                <a:solidFill>
                  <a:srgbClr val="1C1F24"/>
                </a:solidFill>
                <a:latin typeface="Georgia" pitchFamily="34" charset="0"/>
                <a:ea typeface="Georgia" pitchFamily="34" charset="-122"/>
                <a:cs typeface="Georgia" pitchFamily="34" charset="-120"/>
              </a:rPr>
              <a:t>THE LABELED RESULT</a:t>
            </a:r>
            <a:endParaRPr lang="en-US" sz="1400" dirty="0"/>
          </a:p>
        </p:txBody>
      </p:sp>
      <p:sp>
        <p:nvSpPr>
          <p:cNvPr id="21" name="Text 19"/>
          <p:cNvSpPr/>
          <p:nvPr/>
        </p:nvSpPr>
        <p:spPr>
          <a:xfrm>
            <a:off x="8503920" y="2606040"/>
            <a:ext cx="2468880" cy="228600"/>
          </a:xfrm>
          <a:prstGeom prst="rect">
            <a:avLst/>
          </a:prstGeom>
          <a:noFill/>
          <a:ln/>
        </p:spPr>
        <p:txBody>
          <a:bodyPr wrap="square" lIns="0" tIns="0" rIns="0" bIns="0" rtlCol="0" anchor="ctr"/>
          <a:lstStyle/>
          <a:p>
            <a:pPr indent="0" marL="0">
              <a:buNone/>
            </a:pPr>
            <a:r>
              <a:rPr lang="en-US" sz="1000" dirty="0">
                <a:solidFill>
                  <a:srgbClr val="57606A"/>
                </a:solidFill>
                <a:latin typeface="Arial" pitchFamily="34" charset="0"/>
                <a:ea typeface="Arial" pitchFamily="34" charset="-122"/>
                <a:cs typeface="Arial" pitchFamily="34" charset="-120"/>
              </a:rPr>
              <a:t>Reachability Verdict</a:t>
            </a:r>
            <a:endParaRPr lang="en-US" sz="1000" dirty="0"/>
          </a:p>
        </p:txBody>
      </p:sp>
      <p:sp>
        <p:nvSpPr>
          <p:cNvPr id="22" name="Shape 20"/>
          <p:cNvSpPr/>
          <p:nvPr/>
        </p:nvSpPr>
        <p:spPr>
          <a:xfrm>
            <a:off x="8503920" y="2971800"/>
            <a:ext cx="2468880" cy="2560320"/>
          </a:xfrm>
          <a:prstGeom prst="rect">
            <a:avLst/>
          </a:prstGeom>
          <a:solidFill>
            <a:srgbClr val="ECE8E0"/>
          </a:solidFill>
          <a:ln w="10160">
            <a:solidFill>
              <a:srgbClr val="D0CBC1"/>
            </a:solidFill>
            <a:prstDash val="solid"/>
          </a:ln>
        </p:spPr>
      </p:sp>
      <p:sp>
        <p:nvSpPr>
          <p:cNvPr id="23" name="Text 21"/>
          <p:cNvSpPr/>
          <p:nvPr/>
        </p:nvSpPr>
        <p:spPr>
          <a:xfrm>
            <a:off x="8641080" y="3108960"/>
            <a:ext cx="2194560" cy="2286000"/>
          </a:xfrm>
          <a:prstGeom prst="rect">
            <a:avLst/>
          </a:prstGeom>
          <a:noFill/>
          <a:ln/>
        </p:spPr>
        <p:txBody>
          <a:bodyPr wrap="square" lIns="0" tIns="0" rIns="0" bIns="0" rtlCol="0" anchor="ctr"/>
          <a:lstStyle/>
          <a:p>
            <a:pPr indent="0" marL="0">
              <a:buNone/>
            </a:pPr>
            <a:r>
              <a:rPr lang="en-US" sz="1000" dirty="0">
                <a:solidFill>
                  <a:srgbClr val="1C1F24"/>
                </a:solidFill>
                <a:latin typeface="Consolas" pitchFamily="34" charset="0"/>
                <a:ea typeface="Consolas" pitchFamily="34" charset="-122"/>
                <a:cs typeface="Consolas" pitchFamily="34" charset="-120"/>
              </a:rPr>
              <a:t>● REACHABLE:</a:t>
            </a:r>
            <a:endParaRPr lang="en-US" sz="1000" dirty="0"/>
          </a:p>
          <a:p>
            <a:pPr indent="0" marL="0">
              <a:buNone/>
            </a:pPr>
            <a:r>
              <a:rPr lang="en-US" sz="1000" dirty="0">
                <a:solidFill>
                  <a:srgbClr val="1C1F24"/>
                </a:solidFill>
                <a:latin typeface="Consolas" pitchFamily="34" charset="0"/>
                <a:ea typeface="Consolas" pitchFamily="34" charset="-122"/>
                <a:cs typeface="Consolas" pitchFamily="34" charset="-120"/>
              </a:rPr>
              <a:t>  lodash.merge</a:t>
            </a:r>
            <a:endParaRPr lang="en-US" sz="1000" dirty="0"/>
          </a:p>
          <a:p>
            <a:pPr indent="0" marL="0">
              <a:buNone/>
            </a:pPr>
            <a:r>
              <a:rPr lang="en-US" sz="1000" dirty="0">
                <a:solidFill>
                  <a:srgbClr val="1C1F24"/>
                </a:solidFill>
                <a:latin typeface="Consolas" pitchFamily="34" charset="0"/>
                <a:ea typeface="Consolas" pitchFamily="34" charset="-122"/>
                <a:cs typeface="Consolas" pitchFamily="34" charset="-120"/>
              </a:rPr>
              <a:t>  (CVE-2020-8203)</a:t>
            </a:r>
            <a:endParaRPr lang="en-US" sz="1000" dirty="0"/>
          </a:p>
          <a:p>
            <a:pPr indent="0" marL="0">
              <a:buNone/>
            </a:pPr>
            <a:endParaRPr lang="en-US" sz="1000" dirty="0"/>
          </a:p>
          <a:p>
            <a:pPr indent="0" marL="0">
              <a:buNone/>
            </a:pPr>
            <a:r>
              <a:rPr lang="en-US" sz="1000" dirty="0">
                <a:solidFill>
                  <a:srgbClr val="1C1F24"/>
                </a:solidFill>
                <a:latin typeface="Consolas" pitchFamily="34" charset="0"/>
                <a:ea typeface="Consolas" pitchFamily="34" charset="-122"/>
                <a:cs typeface="Consolas" pitchFamily="34" charset="-120"/>
              </a:rPr>
              <a:t>○ SILENCED (34):</a:t>
            </a:r>
            <a:endParaRPr lang="en-US" sz="1000" dirty="0"/>
          </a:p>
          <a:p>
            <a:pPr indent="0" marL="0">
              <a:buNone/>
            </a:pPr>
            <a:r>
              <a:rPr lang="en-US" sz="1000" dirty="0">
                <a:solidFill>
                  <a:srgbClr val="1C1F24"/>
                </a:solidFill>
                <a:latin typeface="Consolas" pitchFamily="34" charset="0"/>
                <a:ea typeface="Consolas" pitchFamily="34" charset="-122"/>
                <a:cs typeface="Consolas" pitchFamily="34" charset="-120"/>
              </a:rPr>
              <a:t>  jsonwebtoken</a:t>
            </a:r>
            <a:endParaRPr lang="en-US" sz="1000" dirty="0"/>
          </a:p>
          <a:p>
            <a:pPr indent="0" marL="0">
              <a:buNone/>
            </a:pPr>
            <a:r>
              <a:rPr lang="en-US" sz="1000" dirty="0">
                <a:solidFill>
                  <a:srgbClr val="1C1F24"/>
                </a:solidFill>
                <a:latin typeface="Consolas" pitchFamily="34" charset="0"/>
                <a:ea typeface="Consolas" pitchFamily="34" charset="-122"/>
                <a:cs typeface="Consolas" pitchFamily="34" charset="-120"/>
              </a:rPr>
              <a:t>  semver, minimist</a:t>
            </a:r>
            <a:endParaRPr lang="en-US" sz="1000" dirty="0"/>
          </a:p>
        </p:txBody>
      </p:sp>
      <p:sp>
        <p:nvSpPr>
          <p:cNvPr id="24" name="Text 22"/>
          <p:cNvSpPr/>
          <p:nvPr/>
        </p:nvSpPr>
        <p:spPr>
          <a:xfrm>
            <a:off x="914400" y="6400800"/>
            <a:ext cx="10332720" cy="228600"/>
          </a:xfrm>
          <a:prstGeom prst="rect">
            <a:avLst/>
          </a:prstGeom>
          <a:noFill/>
          <a:ln/>
        </p:spPr>
        <p:txBody>
          <a:bodyPr wrap="square" lIns="0" tIns="0" rIns="0" bIns="0" rtlCol="0" anchor="ctr"/>
          <a:lstStyle/>
          <a:p>
            <a:pPr indent="0" marL="0">
              <a:buNone/>
            </a:pPr>
            <a:r>
              <a:rPr lang="en-US" sz="900" dirty="0">
                <a:solidFill>
                  <a:srgbClr val="8C959F"/>
                </a:solidFill>
                <a:latin typeface="Consolas" pitchFamily="34" charset="0"/>
                <a:ea typeface="Consolas" pitchFamily="34" charset="-122"/>
                <a:cs typeface="Consolas" pitchFamily="34" charset="-120"/>
              </a:rPr>
              <a:t>VIBELENS // INSPECTION BENCH // 100% LOCAL PRIVACY // ZERO CLOUD LEAKS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C1F24"/>
        </a:solidFill>
      </p:bgPr>
    </p:bg>
    <p:spTree>
      <p:nvGrpSpPr>
        <p:cNvPr id="1" name=""/>
        <p:cNvGrpSpPr/>
        <p:nvPr/>
      </p:nvGrpSpPr>
      <p:grpSpPr>
        <a:xfrm>
          <a:off x="0" y="0"/>
          <a:ext cx="0" cy="0"/>
          <a:chOff x="0" y="0"/>
          <a:chExt cx="0" cy="0"/>
        </a:xfrm>
      </p:grpSpPr>
      <p:sp>
        <p:nvSpPr>
          <p:cNvPr id="2" name="Text 0"/>
          <p:cNvSpPr/>
          <p:nvPr/>
        </p:nvSpPr>
        <p:spPr>
          <a:xfrm>
            <a:off x="914400" y="548640"/>
            <a:ext cx="7315200" cy="274320"/>
          </a:xfrm>
          <a:prstGeom prst="rect">
            <a:avLst/>
          </a:prstGeom>
          <a:noFill/>
          <a:ln/>
        </p:spPr>
        <p:txBody>
          <a:bodyPr wrap="square" lIns="0" tIns="0" rIns="0" bIns="0" rtlCol="0" anchor="ctr"/>
          <a:lstStyle/>
          <a:p>
            <a:pPr indent="0" marL="0">
              <a:buNone/>
            </a:pPr>
            <a:r>
              <a:rPr lang="en-US" sz="1000" dirty="0">
                <a:solidFill>
                  <a:srgbClr val="5B7C99"/>
                </a:solidFill>
                <a:latin typeface="Consolas" pitchFamily="34" charset="0"/>
                <a:ea typeface="Consolas" pitchFamily="34" charset="-122"/>
                <a:cs typeface="Consolas" pitchFamily="34" charset="-120"/>
              </a:rPr>
              <a:t>[ LIVE EXAMPLE // REAL CLI EXECUTION ]</a:t>
            </a:r>
            <a:endParaRPr lang="en-US" sz="1000" dirty="0"/>
          </a:p>
        </p:txBody>
      </p:sp>
      <p:sp>
        <p:nvSpPr>
          <p:cNvPr id="3" name="Text 1"/>
          <p:cNvSpPr/>
          <p:nvPr/>
        </p:nvSpPr>
        <p:spPr>
          <a:xfrm>
            <a:off x="9418320" y="548640"/>
            <a:ext cx="1828800" cy="274320"/>
          </a:xfrm>
          <a:prstGeom prst="rect">
            <a:avLst/>
          </a:prstGeom>
          <a:noFill/>
          <a:ln/>
        </p:spPr>
        <p:txBody>
          <a:bodyPr wrap="square" lIns="0" tIns="0" rIns="0" bIns="0" rtlCol="0" anchor="ctr"/>
          <a:lstStyle/>
          <a:p>
            <a:pPr algn="r" indent="0" marL="0">
              <a:buNone/>
            </a:pPr>
            <a:r>
              <a:rPr lang="en-US" sz="1000" dirty="0">
                <a:solidFill>
                  <a:srgbClr val="57606A"/>
                </a:solidFill>
                <a:latin typeface="Consolas" pitchFamily="34" charset="0"/>
                <a:ea typeface="Consolas" pitchFamily="34" charset="-122"/>
                <a:cs typeface="Consolas" pitchFamily="34" charset="-120"/>
              </a:rPr>
              <a:t>SLIDE 05 / 12</a:t>
            </a:r>
            <a:endParaRPr lang="en-US" sz="1000" dirty="0"/>
          </a:p>
        </p:txBody>
      </p:sp>
      <p:sp>
        <p:nvSpPr>
          <p:cNvPr id="4" name="Text 2"/>
          <p:cNvSpPr/>
          <p:nvPr/>
        </p:nvSpPr>
        <p:spPr>
          <a:xfrm>
            <a:off x="914400" y="1005840"/>
            <a:ext cx="10332720" cy="411480"/>
          </a:xfrm>
          <a:prstGeom prst="rect">
            <a:avLst/>
          </a:prstGeom>
          <a:noFill/>
          <a:ln/>
        </p:spPr>
        <p:txBody>
          <a:bodyPr wrap="square" lIns="0" tIns="0" rIns="0" bIns="0" rtlCol="0" anchor="ctr"/>
          <a:lstStyle/>
          <a:p>
            <a:pPr indent="0" marL="0">
              <a:buNone/>
            </a:pPr>
            <a:r>
              <a:rPr lang="en-US" sz="2200" b="1" dirty="0">
                <a:solidFill>
                  <a:srgbClr val="F4F1EA"/>
                </a:solidFill>
                <a:latin typeface="Georgia" pitchFamily="34" charset="0"/>
                <a:ea typeface="Georgia" pitchFamily="34" charset="-122"/>
                <a:cs typeface="Georgia" pitchFamily="34" charset="-120"/>
              </a:rPr>
              <a:t>Verified Terminal Output: Exploit Path Traced in 12ms</a:t>
            </a:r>
            <a:endParaRPr lang="en-US" sz="2200" dirty="0"/>
          </a:p>
        </p:txBody>
      </p:sp>
      <p:sp>
        <p:nvSpPr>
          <p:cNvPr id="5" name="Shape 3"/>
          <p:cNvSpPr/>
          <p:nvPr/>
        </p:nvSpPr>
        <p:spPr>
          <a:xfrm>
            <a:off x="914400" y="1554480"/>
            <a:ext cx="10332720" cy="4480560"/>
          </a:xfrm>
          <a:prstGeom prst="rect">
            <a:avLst/>
          </a:prstGeom>
          <a:solidFill>
            <a:srgbClr val="141619"/>
          </a:solidFill>
          <a:ln w="12700">
            <a:solidFill>
              <a:srgbClr val="2D333B"/>
            </a:solidFill>
            <a:prstDash val="solid"/>
          </a:ln>
        </p:spPr>
      </p:sp>
      <p:sp>
        <p:nvSpPr>
          <p:cNvPr id="6" name="Shape 4"/>
          <p:cNvSpPr/>
          <p:nvPr/>
        </p:nvSpPr>
        <p:spPr>
          <a:xfrm>
            <a:off x="914400" y="1554480"/>
            <a:ext cx="10332720" cy="365760"/>
          </a:xfrm>
          <a:prstGeom prst="rect">
            <a:avLst/>
          </a:prstGeom>
          <a:solidFill>
            <a:srgbClr val="1C1F24"/>
          </a:solidFill>
          <a:ln w="12700">
            <a:solidFill>
              <a:srgbClr val="2D333B"/>
            </a:solidFill>
            <a:prstDash val="solid"/>
          </a:ln>
        </p:spPr>
      </p:sp>
      <p:sp>
        <p:nvSpPr>
          <p:cNvPr id="7" name="Text 5"/>
          <p:cNvSpPr/>
          <p:nvPr/>
        </p:nvSpPr>
        <p:spPr>
          <a:xfrm>
            <a:off x="1188720" y="1627632"/>
            <a:ext cx="5486400" cy="228600"/>
          </a:xfrm>
          <a:prstGeom prst="rect">
            <a:avLst/>
          </a:prstGeom>
          <a:noFill/>
          <a:ln/>
        </p:spPr>
        <p:txBody>
          <a:bodyPr wrap="square" lIns="0" tIns="0" rIns="0" bIns="0" rtlCol="0" anchor="ctr"/>
          <a:lstStyle/>
          <a:p>
            <a:pPr indent="0" marL="0">
              <a:buNone/>
            </a:pPr>
            <a:r>
              <a:rPr lang="en-US" sz="1000" dirty="0">
                <a:solidFill>
                  <a:srgbClr val="57606A"/>
                </a:solidFill>
                <a:latin typeface="Consolas" pitchFamily="34" charset="0"/>
                <a:ea typeface="Consolas" pitchFamily="34" charset="-122"/>
                <a:cs typeface="Consolas" pitchFamily="34" charset="-120"/>
              </a:rPr>
              <a:t>● ● ●   terminal // vibelens scan --reachability</a:t>
            </a:r>
            <a:endParaRPr lang="en-US" sz="1000" dirty="0"/>
          </a:p>
        </p:txBody>
      </p:sp>
      <p:sp>
        <p:nvSpPr>
          <p:cNvPr id="8" name="Text 6"/>
          <p:cNvSpPr/>
          <p:nvPr/>
        </p:nvSpPr>
        <p:spPr>
          <a:xfrm>
            <a:off x="1188720" y="2057400"/>
            <a:ext cx="9784080" cy="237744"/>
          </a:xfrm>
          <a:prstGeom prst="rect">
            <a:avLst/>
          </a:prstGeom>
          <a:noFill/>
          <a:ln/>
        </p:spPr>
        <p:txBody>
          <a:bodyPr wrap="square" lIns="0" tIns="0" rIns="0" bIns="0" rtlCol="0" anchor="ctr"/>
          <a:lstStyle/>
          <a:p>
            <a:pPr indent="0" marL="0">
              <a:buNone/>
            </a:pPr>
            <a:r>
              <a:rPr lang="en-US" sz="1000" b="1" dirty="0">
                <a:solidFill>
                  <a:srgbClr val="F4F1EA"/>
                </a:solidFill>
                <a:latin typeface="Consolas" pitchFamily="34" charset="0"/>
                <a:ea typeface="Consolas" pitchFamily="34" charset="-122"/>
                <a:cs typeface="Consolas" pitchFamily="34" charset="-120"/>
              </a:rPr>
              <a:t>$ npx vibelens scan --entrypoints=app/api/**/route.ts</a:t>
            </a:r>
            <a:endParaRPr lang="en-US" sz="1000" dirty="0"/>
          </a:p>
        </p:txBody>
      </p:sp>
      <p:sp>
        <p:nvSpPr>
          <p:cNvPr id="9" name="Text 7"/>
          <p:cNvSpPr/>
          <p:nvPr/>
        </p:nvSpPr>
        <p:spPr>
          <a:xfrm>
            <a:off x="1188720" y="2313432"/>
            <a:ext cx="9784080" cy="237744"/>
          </a:xfrm>
          <a:prstGeom prst="rect">
            <a:avLst/>
          </a:prstGeom>
          <a:noFill/>
          <a:ln/>
        </p:spPr>
        <p:txBody>
          <a:bodyPr wrap="square" lIns="0" tIns="0" rIns="0" bIns="0" rtlCol="0" anchor="ctr"/>
          <a:lstStyle/>
          <a:p>
            <a:pPr indent="0" marL="0">
              <a:buNone/>
            </a:pPr>
            <a:r>
              <a:rPr lang="en-US" sz="1000" dirty="0">
                <a:solidFill>
                  <a:srgbClr val="8B949E"/>
                </a:solidFill>
                <a:latin typeface="Consolas" pitchFamily="34" charset="0"/>
                <a:ea typeface="Consolas" pitchFamily="34" charset="-122"/>
                <a:cs typeface="Consolas" pitchFamily="34" charset="-120"/>
              </a:rPr>
              <a:t>[VibeLens] Ingesting 36 CVE findings from npm-audit.json...</a:t>
            </a:r>
            <a:endParaRPr lang="en-US" sz="1000" dirty="0"/>
          </a:p>
        </p:txBody>
      </p:sp>
      <p:sp>
        <p:nvSpPr>
          <p:cNvPr id="10" name="Text 8"/>
          <p:cNvSpPr/>
          <p:nvPr/>
        </p:nvSpPr>
        <p:spPr>
          <a:xfrm>
            <a:off x="1188720" y="2569464"/>
            <a:ext cx="9784080" cy="237744"/>
          </a:xfrm>
          <a:prstGeom prst="rect">
            <a:avLst/>
          </a:prstGeom>
          <a:noFill/>
          <a:ln/>
        </p:spPr>
        <p:txBody>
          <a:bodyPr wrap="square" lIns="0" tIns="0" rIns="0" bIns="0" rtlCol="0" anchor="ctr"/>
          <a:lstStyle/>
          <a:p>
            <a:pPr indent="0" marL="0">
              <a:buNone/>
            </a:pPr>
            <a:r>
              <a:rPr lang="en-US" sz="1000" dirty="0">
                <a:solidFill>
                  <a:srgbClr val="8B949E"/>
                </a:solidFill>
                <a:latin typeface="Consolas" pitchFamily="34" charset="0"/>
                <a:ea typeface="Consolas" pitchFamily="34" charset="-122"/>
                <a:cs typeface="Consolas" pitchFamily="34" charset="-120"/>
              </a:rPr>
              <a:t>[VibeLens] Constructing local AST call-graph across 72 files in 11.8ms...</a:t>
            </a:r>
            <a:endParaRPr lang="en-US" sz="1000" dirty="0"/>
          </a:p>
        </p:txBody>
      </p:sp>
      <p:sp>
        <p:nvSpPr>
          <p:cNvPr id="11" name="Text 9"/>
          <p:cNvSpPr/>
          <p:nvPr/>
        </p:nvSpPr>
        <p:spPr>
          <a:xfrm>
            <a:off x="1188720" y="2825496"/>
            <a:ext cx="9784080" cy="237744"/>
          </a:xfrm>
          <a:prstGeom prst="rect">
            <a:avLst/>
          </a:prstGeom>
          <a:noFill/>
          <a:ln/>
        </p:spPr>
        <p:txBody>
          <a:bodyPr wrap="square" lIns="0" tIns="0" rIns="0" bIns="0" rtlCol="0" anchor="ctr"/>
          <a:lstStyle/>
          <a:p>
            <a:pPr indent="0" marL="0">
              <a:buNone/>
            </a:pPr>
            <a:r>
              <a:rPr lang="en-US" sz="1000" dirty="0">
                <a:solidFill>
                  <a:srgbClr val="8B949E"/>
                </a:solidFill>
                <a:latin typeface="Consolas" pitchFamily="34" charset="0"/>
                <a:ea typeface="Consolas" pitchFamily="34" charset="-122"/>
                <a:cs typeface="Consolas" pitchFamily="34" charset="-120"/>
              </a:rPr>
              <a:t> </a:t>
            </a:r>
            <a:endParaRPr lang="en-US" sz="1000" dirty="0"/>
          </a:p>
        </p:txBody>
      </p:sp>
      <p:sp>
        <p:nvSpPr>
          <p:cNvPr id="12" name="Text 10"/>
          <p:cNvSpPr/>
          <p:nvPr/>
        </p:nvSpPr>
        <p:spPr>
          <a:xfrm>
            <a:off x="1188720" y="3081528"/>
            <a:ext cx="9784080" cy="237744"/>
          </a:xfrm>
          <a:prstGeom prst="rect">
            <a:avLst/>
          </a:prstGeom>
          <a:noFill/>
          <a:ln/>
        </p:spPr>
        <p:txBody>
          <a:bodyPr wrap="square" lIns="0" tIns="0" rIns="0" bIns="0" rtlCol="0" anchor="ctr"/>
          <a:lstStyle/>
          <a:p>
            <a:pPr indent="0" marL="0">
              <a:buNone/>
            </a:pPr>
            <a:r>
              <a:rPr lang="en-US" sz="1000" b="1" dirty="0">
                <a:solidFill>
                  <a:srgbClr val="E8A33D"/>
                </a:solidFill>
                <a:latin typeface="Consolas" pitchFamily="34" charset="0"/>
                <a:ea typeface="Consolas" pitchFamily="34" charset="-122"/>
                <a:cs typeface="Consolas" pitchFamily="34" charset="-120"/>
              </a:rPr>
              <a:t>──▶ TRACED EXECUTION PATH [EXPLOIT CONFIRMED]:</a:t>
            </a:r>
            <a:endParaRPr lang="en-US" sz="1000" dirty="0"/>
          </a:p>
        </p:txBody>
      </p:sp>
      <p:sp>
        <p:nvSpPr>
          <p:cNvPr id="13" name="Text 11"/>
          <p:cNvSpPr/>
          <p:nvPr/>
        </p:nvSpPr>
        <p:spPr>
          <a:xfrm>
            <a:off x="1188720" y="3337560"/>
            <a:ext cx="9784080" cy="237744"/>
          </a:xfrm>
          <a:prstGeom prst="rect">
            <a:avLst/>
          </a:prstGeom>
          <a:noFill/>
          <a:ln/>
        </p:spPr>
        <p:txBody>
          <a:bodyPr wrap="square" lIns="0" tIns="0" rIns="0" bIns="0" rtlCol="0" anchor="ctr"/>
          <a:lstStyle/>
          <a:p>
            <a:pPr indent="0" marL="0">
              <a:buNone/>
            </a:pPr>
            <a:r>
              <a:rPr lang="en-US" sz="1000" dirty="0">
                <a:solidFill>
                  <a:srgbClr val="F4F1EA"/>
                </a:solidFill>
                <a:latin typeface="Consolas" pitchFamily="34" charset="0"/>
                <a:ea typeface="Consolas" pitchFamily="34" charset="-122"/>
                <a:cs typeface="Consolas" pitchFamily="34" charset="-120"/>
              </a:rPr>
              <a:t>   ├── [ENTRY] app/api/checkout/route.ts:L14 (HTTP POST /api/checkout)</a:t>
            </a:r>
            <a:endParaRPr lang="en-US" sz="1000" dirty="0"/>
          </a:p>
        </p:txBody>
      </p:sp>
      <p:sp>
        <p:nvSpPr>
          <p:cNvPr id="14" name="Text 12"/>
          <p:cNvSpPr/>
          <p:nvPr/>
        </p:nvSpPr>
        <p:spPr>
          <a:xfrm>
            <a:off x="1188720" y="3593592"/>
            <a:ext cx="9784080" cy="237744"/>
          </a:xfrm>
          <a:prstGeom prst="rect">
            <a:avLst/>
          </a:prstGeom>
          <a:noFill/>
          <a:ln/>
        </p:spPr>
        <p:txBody>
          <a:bodyPr wrap="square" lIns="0" tIns="0" rIns="0" bIns="0" rtlCol="0" anchor="ctr"/>
          <a:lstStyle/>
          <a:p>
            <a:pPr indent="0" marL="0">
              <a:buNone/>
            </a:pPr>
            <a:r>
              <a:rPr lang="en-US" sz="1000" dirty="0">
                <a:solidFill>
                  <a:srgbClr val="8B949E"/>
                </a:solidFill>
                <a:latin typeface="Consolas" pitchFamily="34" charset="0"/>
                <a:ea typeface="Consolas" pitchFamily="34" charset="-122"/>
                <a:cs typeface="Consolas" pitchFamily="34" charset="-120"/>
              </a:rPr>
              <a:t>   │    └── calls processOrder() in src/lib/order/processor.ts:L38</a:t>
            </a:r>
            <a:endParaRPr lang="en-US" sz="1000" dirty="0"/>
          </a:p>
        </p:txBody>
      </p:sp>
      <p:sp>
        <p:nvSpPr>
          <p:cNvPr id="15" name="Text 13"/>
          <p:cNvSpPr/>
          <p:nvPr/>
        </p:nvSpPr>
        <p:spPr>
          <a:xfrm>
            <a:off x="1188720" y="3849624"/>
            <a:ext cx="9784080" cy="237744"/>
          </a:xfrm>
          <a:prstGeom prst="rect">
            <a:avLst/>
          </a:prstGeom>
          <a:noFill/>
          <a:ln/>
        </p:spPr>
        <p:txBody>
          <a:bodyPr wrap="square" lIns="0" tIns="0" rIns="0" bIns="0" rtlCol="0" anchor="ctr"/>
          <a:lstStyle/>
          <a:p>
            <a:pPr indent="0" marL="0">
              <a:buNone/>
            </a:pPr>
            <a:r>
              <a:rPr lang="en-US" sz="1000" dirty="0">
                <a:solidFill>
                  <a:srgbClr val="8B949E"/>
                </a:solidFill>
                <a:latin typeface="Consolas" pitchFamily="34" charset="0"/>
                <a:ea typeface="Consolas" pitchFamily="34" charset="-122"/>
                <a:cs typeface="Consolas" pitchFamily="34" charset="-120"/>
              </a:rPr>
              <a:t>   │         └── calls sanitizeMerge() in src/utils/sanitize-merge.ts:L12</a:t>
            </a:r>
            <a:endParaRPr lang="en-US" sz="1000" dirty="0"/>
          </a:p>
        </p:txBody>
      </p:sp>
      <p:sp>
        <p:nvSpPr>
          <p:cNvPr id="16" name="Text 14"/>
          <p:cNvSpPr/>
          <p:nvPr/>
        </p:nvSpPr>
        <p:spPr>
          <a:xfrm>
            <a:off x="1188720" y="4105656"/>
            <a:ext cx="9784080" cy="237744"/>
          </a:xfrm>
          <a:prstGeom prst="rect">
            <a:avLst/>
          </a:prstGeom>
          <a:noFill/>
          <a:ln/>
        </p:spPr>
        <p:txBody>
          <a:bodyPr wrap="square" lIns="0" tIns="0" rIns="0" bIns="0" rtlCol="0" anchor="ctr"/>
          <a:lstStyle/>
          <a:p>
            <a:pPr indent="0" marL="0">
              <a:buNone/>
            </a:pPr>
            <a:r>
              <a:rPr lang="en-US" sz="1000" b="1" dirty="0">
                <a:solidFill>
                  <a:srgbClr val="E8A33D"/>
                </a:solidFill>
                <a:latin typeface="Consolas" pitchFamily="34" charset="0"/>
                <a:ea typeface="Consolas" pitchFamily="34" charset="-122"/>
                <a:cs typeface="Consolas" pitchFamily="34" charset="-120"/>
              </a:rPr>
              <a:t>   └── [SINK]  node_modules/lodash/merge.js</a:t>
            </a:r>
            <a:endParaRPr lang="en-US" sz="1000" dirty="0"/>
          </a:p>
        </p:txBody>
      </p:sp>
      <p:sp>
        <p:nvSpPr>
          <p:cNvPr id="17" name="Text 15"/>
          <p:cNvSpPr/>
          <p:nvPr/>
        </p:nvSpPr>
        <p:spPr>
          <a:xfrm>
            <a:off x="1188720" y="4361688"/>
            <a:ext cx="9784080" cy="237744"/>
          </a:xfrm>
          <a:prstGeom prst="rect">
            <a:avLst/>
          </a:prstGeom>
          <a:noFill/>
          <a:ln/>
        </p:spPr>
        <p:txBody>
          <a:bodyPr wrap="square" lIns="0" tIns="0" rIns="0" bIns="0" rtlCol="0" anchor="ctr"/>
          <a:lstStyle/>
          <a:p>
            <a:pPr indent="0" marL="0">
              <a:buNone/>
            </a:pPr>
            <a:r>
              <a:rPr lang="en-US" sz="1000" dirty="0">
                <a:solidFill>
                  <a:srgbClr val="E8A33D"/>
                </a:solidFill>
                <a:latin typeface="Consolas" pitchFamily="34" charset="0"/>
                <a:ea typeface="Consolas" pitchFamily="34" charset="-122"/>
                <a:cs typeface="Consolas" pitchFamily="34" charset="-120"/>
              </a:rPr>
              <a:t>               └── 🚨 CVE-2020-8203: Prototype Pollution via Object.prototype</a:t>
            </a:r>
            <a:endParaRPr lang="en-US" sz="1000" dirty="0"/>
          </a:p>
        </p:txBody>
      </p:sp>
      <p:sp>
        <p:nvSpPr>
          <p:cNvPr id="18" name="Text 16"/>
          <p:cNvSpPr/>
          <p:nvPr/>
        </p:nvSpPr>
        <p:spPr>
          <a:xfrm>
            <a:off x="1188720" y="4617720"/>
            <a:ext cx="9784080" cy="237744"/>
          </a:xfrm>
          <a:prstGeom prst="rect">
            <a:avLst/>
          </a:prstGeom>
          <a:noFill/>
          <a:ln/>
        </p:spPr>
        <p:txBody>
          <a:bodyPr wrap="square" lIns="0" tIns="0" rIns="0" bIns="0" rtlCol="0" anchor="ctr"/>
          <a:lstStyle/>
          <a:p>
            <a:pPr indent="0" marL="0">
              <a:buNone/>
            </a:pPr>
            <a:r>
              <a:rPr lang="en-US" sz="1000" dirty="0">
                <a:solidFill>
                  <a:srgbClr val="8B949E"/>
                </a:solidFill>
                <a:latin typeface="Consolas" pitchFamily="34" charset="0"/>
                <a:ea typeface="Consolas" pitchFamily="34" charset="-122"/>
                <a:cs typeface="Consolas" pitchFamily="34" charset="-120"/>
              </a:rPr>
              <a:t> </a:t>
            </a:r>
            <a:endParaRPr lang="en-US" sz="1000" dirty="0"/>
          </a:p>
        </p:txBody>
      </p:sp>
      <p:sp>
        <p:nvSpPr>
          <p:cNvPr id="19" name="Text 17"/>
          <p:cNvSpPr/>
          <p:nvPr/>
        </p:nvSpPr>
        <p:spPr>
          <a:xfrm>
            <a:off x="1188720" y="4873752"/>
            <a:ext cx="9784080" cy="237744"/>
          </a:xfrm>
          <a:prstGeom prst="rect">
            <a:avLst/>
          </a:prstGeom>
          <a:noFill/>
          <a:ln/>
        </p:spPr>
        <p:txBody>
          <a:bodyPr wrap="square" lIns="0" tIns="0" rIns="0" bIns="0" rtlCol="0" anchor="ctr"/>
          <a:lstStyle/>
          <a:p>
            <a:pPr indent="0" marL="0">
              <a:buNone/>
            </a:pPr>
            <a:r>
              <a:rPr lang="en-US" sz="1000" b="1" dirty="0">
                <a:solidFill>
                  <a:srgbClr val="F4F1EA"/>
                </a:solidFill>
                <a:latin typeface="Consolas" pitchFamily="34" charset="0"/>
                <a:ea typeface="Consolas" pitchFamily="34" charset="-122"/>
                <a:cs typeface="Consolas" pitchFamily="34" charset="-120"/>
              </a:rPr>
              <a:t>[VibeLens] SUMMARY VERDICT:</a:t>
            </a:r>
            <a:endParaRPr lang="en-US" sz="1000" dirty="0"/>
          </a:p>
        </p:txBody>
      </p:sp>
      <p:sp>
        <p:nvSpPr>
          <p:cNvPr id="20" name="Text 18"/>
          <p:cNvSpPr/>
          <p:nvPr/>
        </p:nvSpPr>
        <p:spPr>
          <a:xfrm>
            <a:off x="1188720" y="5129784"/>
            <a:ext cx="9784080" cy="237744"/>
          </a:xfrm>
          <a:prstGeom prst="rect">
            <a:avLst/>
          </a:prstGeom>
          <a:noFill/>
          <a:ln/>
        </p:spPr>
        <p:txBody>
          <a:bodyPr wrap="square" lIns="0" tIns="0" rIns="0" bIns="0" rtlCol="0" anchor="ctr"/>
          <a:lstStyle/>
          <a:p>
            <a:pPr indent="0" marL="0">
              <a:buNone/>
            </a:pPr>
            <a:r>
              <a:rPr lang="en-US" sz="1000" dirty="0">
                <a:solidFill>
                  <a:srgbClr val="E8A33D"/>
                </a:solidFill>
                <a:latin typeface="Consolas" pitchFamily="34" charset="0"/>
                <a:ea typeface="Consolas" pitchFamily="34" charset="-122"/>
                <a:cs typeface="Consolas" pitchFamily="34" charset="-120"/>
              </a:rPr>
              <a:t>  • Verified Reachable: 2 CVEs (lodash, qs)</a:t>
            </a:r>
            <a:endParaRPr lang="en-US" sz="1000" dirty="0"/>
          </a:p>
        </p:txBody>
      </p:sp>
      <p:sp>
        <p:nvSpPr>
          <p:cNvPr id="21" name="Text 19"/>
          <p:cNvSpPr/>
          <p:nvPr/>
        </p:nvSpPr>
        <p:spPr>
          <a:xfrm>
            <a:off x="1188720" y="5385816"/>
            <a:ext cx="9784080" cy="237744"/>
          </a:xfrm>
          <a:prstGeom prst="rect">
            <a:avLst/>
          </a:prstGeom>
          <a:noFill/>
          <a:ln/>
        </p:spPr>
        <p:txBody>
          <a:bodyPr wrap="square" lIns="0" tIns="0" rIns="0" bIns="0" rtlCol="0" anchor="ctr"/>
          <a:lstStyle/>
          <a:p>
            <a:pPr indent="0" marL="0">
              <a:buNone/>
            </a:pPr>
            <a:r>
              <a:rPr lang="en-US" sz="1000" dirty="0">
                <a:solidFill>
                  <a:srgbClr val="8B949E"/>
                </a:solidFill>
                <a:latin typeface="Consolas" pitchFamily="34" charset="0"/>
                <a:ea typeface="Consolas" pitchFamily="34" charset="-122"/>
                <a:cs typeface="Consolas" pitchFamily="34" charset="-120"/>
              </a:rPr>
              <a:t>  • Unknown (Dynamic):  0 CVEs</a:t>
            </a:r>
            <a:endParaRPr lang="en-US" sz="1000" dirty="0"/>
          </a:p>
        </p:txBody>
      </p:sp>
      <p:sp>
        <p:nvSpPr>
          <p:cNvPr id="22" name="Text 20"/>
          <p:cNvSpPr/>
          <p:nvPr/>
        </p:nvSpPr>
        <p:spPr>
          <a:xfrm>
            <a:off x="1188720" y="5641848"/>
            <a:ext cx="9784080" cy="237744"/>
          </a:xfrm>
          <a:prstGeom prst="rect">
            <a:avLst/>
          </a:prstGeom>
          <a:noFill/>
          <a:ln/>
        </p:spPr>
        <p:txBody>
          <a:bodyPr wrap="square" lIns="0" tIns="0" rIns="0" bIns="0" rtlCol="0" anchor="ctr"/>
          <a:lstStyle/>
          <a:p>
            <a:pPr indent="0" marL="0">
              <a:buNone/>
            </a:pPr>
            <a:r>
              <a:rPr lang="en-US" sz="1000" dirty="0">
                <a:solidFill>
                  <a:srgbClr val="5B7C99"/>
                </a:solidFill>
                <a:latin typeface="Consolas" pitchFamily="34" charset="0"/>
                <a:ea typeface="Consolas" pitchFamily="34" charset="-122"/>
                <a:cs typeface="Consolas" pitchFamily="34" charset="-120"/>
              </a:rPr>
              <a:t>  • Silenced Phantoms:  34 CVEs (jsonwebtoken, semver, minimist...)</a:t>
            </a:r>
            <a:endParaRPr lang="en-US" sz="1000" dirty="0"/>
          </a:p>
        </p:txBody>
      </p:sp>
      <p:sp>
        <p:nvSpPr>
          <p:cNvPr id="23" name="Text 21"/>
          <p:cNvSpPr/>
          <p:nvPr/>
        </p:nvSpPr>
        <p:spPr>
          <a:xfrm>
            <a:off x="1188720" y="5897880"/>
            <a:ext cx="9784080" cy="237744"/>
          </a:xfrm>
          <a:prstGeom prst="rect">
            <a:avLst/>
          </a:prstGeom>
          <a:noFill/>
          <a:ln/>
        </p:spPr>
        <p:txBody>
          <a:bodyPr wrap="square" lIns="0" tIns="0" rIns="0" bIns="0" rtlCol="0" anchor="ctr"/>
          <a:lstStyle/>
          <a:p>
            <a:pPr indent="0" marL="0">
              <a:buNone/>
            </a:pPr>
            <a:r>
              <a:rPr lang="en-US" sz="1000" dirty="0">
                <a:solidFill>
                  <a:srgbClr val="8B949E"/>
                </a:solidFill>
                <a:latin typeface="Consolas" pitchFamily="34" charset="0"/>
                <a:ea typeface="Consolas" pitchFamily="34" charset="-122"/>
                <a:cs typeface="Consolas" pitchFamily="34" charset="-120"/>
              </a:rPr>
              <a:t>  • Time Elapsed:       12.4ms (100% on-device, 0 bytes uploaded)</a:t>
            </a:r>
            <a:endParaRPr lang="en-US" sz="1000" dirty="0"/>
          </a:p>
        </p:txBody>
      </p:sp>
      <p:sp>
        <p:nvSpPr>
          <p:cNvPr id="24" name="Text 22"/>
          <p:cNvSpPr/>
          <p:nvPr/>
        </p:nvSpPr>
        <p:spPr>
          <a:xfrm>
            <a:off x="914400" y="6400800"/>
            <a:ext cx="10332720" cy="228600"/>
          </a:xfrm>
          <a:prstGeom prst="rect">
            <a:avLst/>
          </a:prstGeom>
          <a:noFill/>
          <a:ln/>
        </p:spPr>
        <p:txBody>
          <a:bodyPr wrap="square" lIns="0" tIns="0" rIns="0" bIns="0" rtlCol="0" anchor="ctr"/>
          <a:lstStyle/>
          <a:p>
            <a:pPr indent="0" marL="0">
              <a:buNone/>
            </a:pPr>
            <a:r>
              <a:rPr lang="en-US" sz="900" dirty="0">
                <a:solidFill>
                  <a:srgbClr val="57606A"/>
                </a:solidFill>
                <a:latin typeface="Consolas" pitchFamily="34" charset="0"/>
                <a:ea typeface="Consolas" pitchFamily="34" charset="-122"/>
                <a:cs typeface="Consolas" pitchFamily="34" charset="-120"/>
              </a:rPr>
              <a:t>VIBELENS // INSPECTION BENCH // 100% LOCAL PRIVACY // ZERO CLOUD LEAKS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C1F24"/>
        </a:solidFill>
      </p:bgPr>
    </p:bg>
    <p:spTree>
      <p:nvGrpSpPr>
        <p:cNvPr id="1" name=""/>
        <p:cNvGrpSpPr/>
        <p:nvPr/>
      </p:nvGrpSpPr>
      <p:grpSpPr>
        <a:xfrm>
          <a:off x="0" y="0"/>
          <a:ext cx="0" cy="0"/>
          <a:chOff x="0" y="0"/>
          <a:chExt cx="0" cy="0"/>
        </a:xfrm>
      </p:grpSpPr>
      <p:sp>
        <p:nvSpPr>
          <p:cNvPr id="2" name="Text 0"/>
          <p:cNvSpPr/>
          <p:nvPr/>
        </p:nvSpPr>
        <p:spPr>
          <a:xfrm>
            <a:off x="914400" y="548640"/>
            <a:ext cx="7315200" cy="274320"/>
          </a:xfrm>
          <a:prstGeom prst="rect">
            <a:avLst/>
          </a:prstGeom>
          <a:noFill/>
          <a:ln/>
        </p:spPr>
        <p:txBody>
          <a:bodyPr wrap="square" lIns="0" tIns="0" rIns="0" bIns="0" rtlCol="0" anchor="ctr"/>
          <a:lstStyle/>
          <a:p>
            <a:pPr indent="0" marL="0">
              <a:buNone/>
            </a:pPr>
            <a:r>
              <a:rPr lang="en-US" sz="1000" dirty="0">
                <a:solidFill>
                  <a:srgbClr val="5B7C99"/>
                </a:solidFill>
                <a:latin typeface="Consolas" pitchFamily="34" charset="0"/>
                <a:ea typeface="Consolas" pitchFamily="34" charset="-122"/>
                <a:cs typeface="Consolas" pitchFamily="34" charset="-120"/>
              </a:rPr>
              <a:t>[ SPATIAL COCKPIT // CIRCULAR LENS APERTURE ]</a:t>
            </a:r>
            <a:endParaRPr lang="en-US" sz="1000" dirty="0"/>
          </a:p>
        </p:txBody>
      </p:sp>
      <p:sp>
        <p:nvSpPr>
          <p:cNvPr id="3" name="Text 1"/>
          <p:cNvSpPr/>
          <p:nvPr/>
        </p:nvSpPr>
        <p:spPr>
          <a:xfrm>
            <a:off x="9418320" y="548640"/>
            <a:ext cx="1828800" cy="274320"/>
          </a:xfrm>
          <a:prstGeom prst="rect">
            <a:avLst/>
          </a:prstGeom>
          <a:noFill/>
          <a:ln/>
        </p:spPr>
        <p:txBody>
          <a:bodyPr wrap="square" lIns="0" tIns="0" rIns="0" bIns="0" rtlCol="0" anchor="ctr"/>
          <a:lstStyle/>
          <a:p>
            <a:pPr algn="r" indent="0" marL="0">
              <a:buNone/>
            </a:pPr>
            <a:r>
              <a:rPr lang="en-US" sz="1000" dirty="0">
                <a:solidFill>
                  <a:srgbClr val="57606A"/>
                </a:solidFill>
                <a:latin typeface="Consolas" pitchFamily="34" charset="0"/>
                <a:ea typeface="Consolas" pitchFamily="34" charset="-122"/>
                <a:cs typeface="Consolas" pitchFamily="34" charset="-120"/>
              </a:rPr>
              <a:t>SLIDE 06 / 12</a:t>
            </a:r>
            <a:endParaRPr lang="en-US" sz="1000" dirty="0"/>
          </a:p>
        </p:txBody>
      </p:sp>
      <p:sp>
        <p:nvSpPr>
          <p:cNvPr id="4" name="Text 2"/>
          <p:cNvSpPr/>
          <p:nvPr/>
        </p:nvSpPr>
        <p:spPr>
          <a:xfrm>
            <a:off x="914400" y="1005840"/>
            <a:ext cx="10332720" cy="411480"/>
          </a:xfrm>
          <a:prstGeom prst="rect">
            <a:avLst/>
          </a:prstGeom>
          <a:noFill/>
          <a:ln/>
        </p:spPr>
        <p:txBody>
          <a:bodyPr wrap="square" lIns="0" tIns="0" rIns="0" bIns="0" rtlCol="0" anchor="ctr"/>
          <a:lstStyle/>
          <a:p>
            <a:pPr indent="0" marL="0">
              <a:buNone/>
            </a:pPr>
            <a:r>
              <a:rPr lang="en-US" sz="2200" b="1" dirty="0">
                <a:solidFill>
                  <a:srgbClr val="F4F1EA"/>
                </a:solidFill>
                <a:latin typeface="Georgia" pitchFamily="34" charset="0"/>
                <a:ea typeface="Georgia" pitchFamily="34" charset="-122"/>
                <a:cs typeface="Georgia" pitchFamily="34" charset="-120"/>
              </a:rPr>
              <a:t>The 3D X-Ray: Spatial Architecture Under the Lens</a:t>
            </a:r>
            <a:endParaRPr lang="en-US" sz="2200" dirty="0"/>
          </a:p>
        </p:txBody>
      </p:sp>
      <p:sp>
        <p:nvSpPr>
          <p:cNvPr id="5" name="Shape 3"/>
          <p:cNvSpPr/>
          <p:nvPr/>
        </p:nvSpPr>
        <p:spPr>
          <a:xfrm>
            <a:off x="3840480" y="1645920"/>
            <a:ext cx="4389120" cy="4389120"/>
          </a:xfrm>
          <a:prstGeom prst="ellipse">
            <a:avLst/>
          </a:prstGeom>
          <a:solidFill>
            <a:srgbClr val="141619"/>
          </a:solidFill>
          <a:ln w="25400">
            <a:solidFill>
              <a:srgbClr val="E8A33D"/>
            </a:solidFill>
            <a:prstDash val="solid"/>
          </a:ln>
        </p:spPr>
      </p:sp>
      <p:sp>
        <p:nvSpPr>
          <p:cNvPr id="6" name="Shape 4"/>
          <p:cNvSpPr/>
          <p:nvPr/>
        </p:nvSpPr>
        <p:spPr>
          <a:xfrm>
            <a:off x="4069080" y="1874520"/>
            <a:ext cx="3931920" cy="3931920"/>
          </a:xfrm>
          <a:prstGeom prst="ellipse">
            <a:avLst/>
          </a:prstGeom>
          <a:noFill/>
          <a:ln w="12700">
            <a:solidFill>
              <a:srgbClr val="2D333B"/>
            </a:solidFill>
            <a:prstDash val="dash"/>
          </a:ln>
        </p:spPr>
      </p:sp>
      <p:sp>
        <p:nvSpPr>
          <p:cNvPr id="7" name="Shape 5"/>
          <p:cNvSpPr/>
          <p:nvPr/>
        </p:nvSpPr>
        <p:spPr>
          <a:xfrm>
            <a:off x="5120640" y="2651760"/>
            <a:ext cx="1005840" cy="365760"/>
          </a:xfrm>
          <a:prstGeom prst="line">
            <a:avLst/>
          </a:prstGeom>
          <a:noFill/>
          <a:ln w="31750">
            <a:solidFill>
              <a:srgbClr val="E8A33D"/>
            </a:solidFill>
            <a:prstDash val="solid"/>
          </a:ln>
        </p:spPr>
      </p:sp>
      <p:sp>
        <p:nvSpPr>
          <p:cNvPr id="8" name="Shape 6"/>
          <p:cNvSpPr/>
          <p:nvPr/>
        </p:nvSpPr>
        <p:spPr>
          <a:xfrm>
            <a:off x="6126480" y="3200400"/>
            <a:ext cx="274320" cy="822960"/>
          </a:xfrm>
          <a:prstGeom prst="line">
            <a:avLst/>
          </a:prstGeom>
          <a:noFill/>
          <a:ln w="31750">
            <a:solidFill>
              <a:srgbClr val="E8A33D"/>
            </a:solidFill>
            <a:prstDash val="solid"/>
          </a:ln>
        </p:spPr>
      </p:sp>
      <p:sp>
        <p:nvSpPr>
          <p:cNvPr id="9" name="Shape 7"/>
          <p:cNvSpPr/>
          <p:nvPr/>
        </p:nvSpPr>
        <p:spPr>
          <a:xfrm>
            <a:off x="4937760" y="2651760"/>
            <a:ext cx="-457200" cy="1188720"/>
          </a:xfrm>
          <a:prstGeom prst="line">
            <a:avLst/>
          </a:prstGeom>
          <a:noFill/>
          <a:ln w="10160">
            <a:solidFill>
              <a:srgbClr val="2D333B"/>
            </a:solidFill>
            <a:prstDash val="solid"/>
          </a:ln>
        </p:spPr>
      </p:sp>
      <p:sp>
        <p:nvSpPr>
          <p:cNvPr id="10" name="Shape 8"/>
          <p:cNvSpPr/>
          <p:nvPr/>
        </p:nvSpPr>
        <p:spPr>
          <a:xfrm>
            <a:off x="4828032" y="2359152"/>
            <a:ext cx="219456" cy="219456"/>
          </a:xfrm>
          <a:prstGeom prst="ellipse">
            <a:avLst/>
          </a:prstGeom>
          <a:solidFill>
            <a:srgbClr val="F4F1EA"/>
          </a:solidFill>
          <a:ln/>
        </p:spPr>
      </p:sp>
      <p:sp>
        <p:nvSpPr>
          <p:cNvPr id="11" name="Text 9"/>
          <p:cNvSpPr/>
          <p:nvPr/>
        </p:nvSpPr>
        <p:spPr>
          <a:xfrm>
            <a:off x="5102352" y="2359152"/>
            <a:ext cx="1097280" cy="228600"/>
          </a:xfrm>
          <a:prstGeom prst="rect">
            <a:avLst/>
          </a:prstGeom>
          <a:noFill/>
          <a:ln/>
        </p:spPr>
        <p:txBody>
          <a:bodyPr wrap="square" lIns="0" tIns="0" rIns="0" bIns="0" rtlCol="0" anchor="ctr"/>
          <a:lstStyle/>
          <a:p>
            <a:pPr indent="0" marL="0">
              <a:buNone/>
            </a:pPr>
            <a:r>
              <a:rPr lang="en-US" sz="900" dirty="0">
                <a:solidFill>
                  <a:srgbClr val="F4F1EA"/>
                </a:solidFill>
                <a:latin typeface="Consolas" pitchFamily="34" charset="0"/>
                <a:ea typeface="Consolas" pitchFamily="34" charset="-122"/>
                <a:cs typeface="Consolas" pitchFamily="34" charset="-120"/>
              </a:rPr>
              <a:t>route.ts</a:t>
            </a:r>
            <a:endParaRPr lang="en-US" sz="900" dirty="0"/>
          </a:p>
        </p:txBody>
      </p:sp>
      <p:sp>
        <p:nvSpPr>
          <p:cNvPr id="12" name="Shape 10"/>
          <p:cNvSpPr/>
          <p:nvPr/>
        </p:nvSpPr>
        <p:spPr>
          <a:xfrm>
            <a:off x="6016752" y="2907792"/>
            <a:ext cx="219456" cy="219456"/>
          </a:xfrm>
          <a:prstGeom prst="ellipse">
            <a:avLst/>
          </a:prstGeom>
          <a:solidFill>
            <a:srgbClr val="F4F1EA"/>
          </a:solidFill>
          <a:ln/>
        </p:spPr>
      </p:sp>
      <p:sp>
        <p:nvSpPr>
          <p:cNvPr id="13" name="Text 11"/>
          <p:cNvSpPr/>
          <p:nvPr/>
        </p:nvSpPr>
        <p:spPr>
          <a:xfrm>
            <a:off x="6291072" y="2907792"/>
            <a:ext cx="1097280" cy="228600"/>
          </a:xfrm>
          <a:prstGeom prst="rect">
            <a:avLst/>
          </a:prstGeom>
          <a:noFill/>
          <a:ln/>
        </p:spPr>
        <p:txBody>
          <a:bodyPr wrap="square" lIns="0" tIns="0" rIns="0" bIns="0" rtlCol="0" anchor="ctr"/>
          <a:lstStyle/>
          <a:p>
            <a:pPr indent="0" marL="0">
              <a:buNone/>
            </a:pPr>
            <a:r>
              <a:rPr lang="en-US" sz="900" dirty="0">
                <a:solidFill>
                  <a:srgbClr val="F4F1EA"/>
                </a:solidFill>
                <a:latin typeface="Consolas" pitchFamily="34" charset="0"/>
                <a:ea typeface="Consolas" pitchFamily="34" charset="-122"/>
                <a:cs typeface="Consolas" pitchFamily="34" charset="-120"/>
              </a:rPr>
              <a:t>order.ts</a:t>
            </a:r>
            <a:endParaRPr lang="en-US" sz="900" dirty="0"/>
          </a:p>
        </p:txBody>
      </p:sp>
      <p:sp>
        <p:nvSpPr>
          <p:cNvPr id="14" name="Shape 12"/>
          <p:cNvSpPr/>
          <p:nvPr/>
        </p:nvSpPr>
        <p:spPr>
          <a:xfrm>
            <a:off x="6291072" y="3913632"/>
            <a:ext cx="219456" cy="219456"/>
          </a:xfrm>
          <a:prstGeom prst="ellipse">
            <a:avLst/>
          </a:prstGeom>
          <a:solidFill>
            <a:srgbClr val="E8A33D"/>
          </a:solidFill>
          <a:ln/>
        </p:spPr>
      </p:sp>
      <p:sp>
        <p:nvSpPr>
          <p:cNvPr id="15" name="Text 13"/>
          <p:cNvSpPr/>
          <p:nvPr/>
        </p:nvSpPr>
        <p:spPr>
          <a:xfrm>
            <a:off x="6565392" y="3913632"/>
            <a:ext cx="1097280" cy="228600"/>
          </a:xfrm>
          <a:prstGeom prst="rect">
            <a:avLst/>
          </a:prstGeom>
          <a:noFill/>
          <a:ln/>
        </p:spPr>
        <p:txBody>
          <a:bodyPr wrap="square" lIns="0" tIns="0" rIns="0" bIns="0" rtlCol="0" anchor="ctr"/>
          <a:lstStyle/>
          <a:p>
            <a:pPr indent="0" marL="0">
              <a:buNone/>
            </a:pPr>
            <a:r>
              <a:rPr lang="en-US" sz="900" dirty="0">
                <a:solidFill>
                  <a:srgbClr val="E8A33D"/>
                </a:solidFill>
                <a:latin typeface="Consolas" pitchFamily="34" charset="0"/>
                <a:ea typeface="Consolas" pitchFamily="34" charset="-122"/>
                <a:cs typeface="Consolas" pitchFamily="34" charset="-120"/>
              </a:rPr>
              <a:t>merge.js</a:t>
            </a:r>
            <a:endParaRPr lang="en-US" sz="900" dirty="0"/>
          </a:p>
        </p:txBody>
      </p:sp>
      <p:sp>
        <p:nvSpPr>
          <p:cNvPr id="16" name="Shape 14"/>
          <p:cNvSpPr/>
          <p:nvPr/>
        </p:nvSpPr>
        <p:spPr>
          <a:xfrm>
            <a:off x="4370832" y="3730752"/>
            <a:ext cx="219456" cy="219456"/>
          </a:xfrm>
          <a:prstGeom prst="ellipse">
            <a:avLst/>
          </a:prstGeom>
          <a:solidFill>
            <a:srgbClr val="5B7C99"/>
          </a:solidFill>
          <a:ln/>
        </p:spPr>
      </p:sp>
      <p:sp>
        <p:nvSpPr>
          <p:cNvPr id="17" name="Text 15"/>
          <p:cNvSpPr/>
          <p:nvPr/>
        </p:nvSpPr>
        <p:spPr>
          <a:xfrm>
            <a:off x="4645152" y="3730752"/>
            <a:ext cx="1097280" cy="228600"/>
          </a:xfrm>
          <a:prstGeom prst="rect">
            <a:avLst/>
          </a:prstGeom>
          <a:noFill/>
          <a:ln/>
        </p:spPr>
        <p:txBody>
          <a:bodyPr wrap="square" lIns="0" tIns="0" rIns="0" bIns="0" rtlCol="0" anchor="ctr"/>
          <a:lstStyle/>
          <a:p>
            <a:pPr indent="0" marL="0">
              <a:buNone/>
            </a:pPr>
            <a:r>
              <a:rPr lang="en-US" sz="900" dirty="0">
                <a:solidFill>
                  <a:srgbClr val="5B7C99"/>
                </a:solidFill>
                <a:latin typeface="Consolas" pitchFamily="34" charset="0"/>
                <a:ea typeface="Consolas" pitchFamily="34" charset="-122"/>
                <a:cs typeface="Consolas" pitchFamily="34" charset="-120"/>
              </a:rPr>
              <a:t>jwt.js</a:t>
            </a:r>
            <a:endParaRPr lang="en-US" sz="900" dirty="0"/>
          </a:p>
        </p:txBody>
      </p:sp>
      <p:sp>
        <p:nvSpPr>
          <p:cNvPr id="18" name="Shape 16"/>
          <p:cNvSpPr/>
          <p:nvPr/>
        </p:nvSpPr>
        <p:spPr>
          <a:xfrm>
            <a:off x="6656832" y="2267712"/>
            <a:ext cx="219456" cy="219456"/>
          </a:xfrm>
          <a:prstGeom prst="ellipse">
            <a:avLst/>
          </a:prstGeom>
          <a:solidFill>
            <a:srgbClr val="8B949E"/>
          </a:solidFill>
          <a:ln/>
        </p:spPr>
      </p:sp>
      <p:sp>
        <p:nvSpPr>
          <p:cNvPr id="19" name="Text 17"/>
          <p:cNvSpPr/>
          <p:nvPr/>
        </p:nvSpPr>
        <p:spPr>
          <a:xfrm>
            <a:off x="6931152" y="2267712"/>
            <a:ext cx="1097280" cy="228600"/>
          </a:xfrm>
          <a:prstGeom prst="rect">
            <a:avLst/>
          </a:prstGeom>
          <a:noFill/>
          <a:ln/>
        </p:spPr>
        <p:txBody>
          <a:bodyPr wrap="square" lIns="0" tIns="0" rIns="0" bIns="0" rtlCol="0" anchor="ctr"/>
          <a:lstStyle/>
          <a:p>
            <a:pPr indent="0" marL="0">
              <a:buNone/>
            </a:pPr>
            <a:r>
              <a:rPr lang="en-US" sz="900" dirty="0">
                <a:solidFill>
                  <a:srgbClr val="8B949E"/>
                </a:solidFill>
                <a:latin typeface="Consolas" pitchFamily="34" charset="0"/>
                <a:ea typeface="Consolas" pitchFamily="34" charset="-122"/>
                <a:cs typeface="Consolas" pitchFamily="34" charset="-120"/>
              </a:rPr>
              <a:t>auth.ts</a:t>
            </a:r>
            <a:endParaRPr lang="en-US" sz="900" dirty="0"/>
          </a:p>
        </p:txBody>
      </p:sp>
      <p:sp>
        <p:nvSpPr>
          <p:cNvPr id="20" name="Shape 18"/>
          <p:cNvSpPr/>
          <p:nvPr/>
        </p:nvSpPr>
        <p:spPr>
          <a:xfrm>
            <a:off x="5376672" y="4645152"/>
            <a:ext cx="219456" cy="219456"/>
          </a:xfrm>
          <a:prstGeom prst="ellipse">
            <a:avLst/>
          </a:prstGeom>
          <a:solidFill>
            <a:srgbClr val="8B949E"/>
          </a:solidFill>
          <a:ln/>
        </p:spPr>
      </p:sp>
      <p:sp>
        <p:nvSpPr>
          <p:cNvPr id="21" name="Text 19"/>
          <p:cNvSpPr/>
          <p:nvPr/>
        </p:nvSpPr>
        <p:spPr>
          <a:xfrm>
            <a:off x="5650992" y="4645152"/>
            <a:ext cx="1097280" cy="228600"/>
          </a:xfrm>
          <a:prstGeom prst="rect">
            <a:avLst/>
          </a:prstGeom>
          <a:noFill/>
          <a:ln/>
        </p:spPr>
        <p:txBody>
          <a:bodyPr wrap="square" lIns="0" tIns="0" rIns="0" bIns="0" rtlCol="0" anchor="ctr"/>
          <a:lstStyle/>
          <a:p>
            <a:pPr indent="0" marL="0">
              <a:buNone/>
            </a:pPr>
            <a:r>
              <a:rPr lang="en-US" sz="900" dirty="0">
                <a:solidFill>
                  <a:srgbClr val="8B949E"/>
                </a:solidFill>
                <a:latin typeface="Consolas" pitchFamily="34" charset="0"/>
                <a:ea typeface="Consolas" pitchFamily="34" charset="-122"/>
                <a:cs typeface="Consolas" pitchFamily="34" charset="-120"/>
              </a:rPr>
              <a:t>utils.ts</a:t>
            </a:r>
            <a:endParaRPr lang="en-US" sz="900" dirty="0"/>
          </a:p>
        </p:txBody>
      </p:sp>
      <p:sp>
        <p:nvSpPr>
          <p:cNvPr id="22" name="Shape 20"/>
          <p:cNvSpPr/>
          <p:nvPr/>
        </p:nvSpPr>
        <p:spPr>
          <a:xfrm>
            <a:off x="2194560" y="3200400"/>
            <a:ext cx="2560320" cy="0"/>
          </a:xfrm>
          <a:prstGeom prst="line">
            <a:avLst/>
          </a:prstGeom>
          <a:noFill/>
          <a:ln w="12700">
            <a:solidFill>
              <a:srgbClr val="E8A33D"/>
            </a:solidFill>
            <a:prstDash val="solid"/>
          </a:ln>
        </p:spPr>
      </p:sp>
      <p:sp>
        <p:nvSpPr>
          <p:cNvPr id="23" name="Shape 21"/>
          <p:cNvSpPr/>
          <p:nvPr/>
        </p:nvSpPr>
        <p:spPr>
          <a:xfrm>
            <a:off x="4754880" y="3200400"/>
            <a:ext cx="731520" cy="-365760"/>
          </a:xfrm>
          <a:prstGeom prst="line">
            <a:avLst/>
          </a:prstGeom>
          <a:noFill/>
          <a:ln w="12700">
            <a:solidFill>
              <a:srgbClr val="E8A33D"/>
            </a:solidFill>
            <a:prstDash val="solid"/>
          </a:ln>
        </p:spPr>
      </p:sp>
      <p:sp>
        <p:nvSpPr>
          <p:cNvPr id="24" name="Text 22"/>
          <p:cNvSpPr/>
          <p:nvPr/>
        </p:nvSpPr>
        <p:spPr>
          <a:xfrm>
            <a:off x="914400" y="2834640"/>
            <a:ext cx="2560320" cy="822960"/>
          </a:xfrm>
          <a:prstGeom prst="rect">
            <a:avLst/>
          </a:prstGeom>
          <a:noFill/>
          <a:ln/>
        </p:spPr>
        <p:txBody>
          <a:bodyPr wrap="square" lIns="0" tIns="0" rIns="0" bIns="0" rtlCol="0" anchor="ctr"/>
          <a:lstStyle/>
          <a:p>
            <a:pPr indent="0" marL="0">
              <a:buNone/>
            </a:pPr>
            <a:r>
              <a:rPr lang="en-US" sz="1000" dirty="0">
                <a:solidFill>
                  <a:srgbClr val="E8A33D"/>
                </a:solidFill>
                <a:latin typeface="Consolas" pitchFamily="34" charset="0"/>
                <a:ea typeface="Consolas" pitchFamily="34" charset="-122"/>
                <a:cs typeface="Consolas" pitchFamily="34" charset="-120"/>
              </a:rPr>
              <a:t>REACHABLE EXPLOIT PATH</a:t>
            </a:r>
            <a:endParaRPr lang="en-US" sz="1000" dirty="0"/>
          </a:p>
          <a:p>
            <a:pPr indent="0" marL="0">
              <a:buNone/>
            </a:pPr>
            <a:r>
              <a:rPr lang="en-US" sz="1000" dirty="0">
                <a:solidFill>
                  <a:srgbClr val="E8A33D"/>
                </a:solidFill>
                <a:latin typeface="Consolas" pitchFamily="34" charset="0"/>
                <a:ea typeface="Consolas" pitchFamily="34" charset="-122"/>
                <a:cs typeface="Consolas" pitchFamily="34" charset="-120"/>
              </a:rPr>
              <a:t>Amber laser arc traces entry route directly to vulnerable sink.</a:t>
            </a:r>
            <a:endParaRPr lang="en-US" sz="1000" dirty="0"/>
          </a:p>
        </p:txBody>
      </p:sp>
      <p:sp>
        <p:nvSpPr>
          <p:cNvPr id="25" name="Shape 23"/>
          <p:cNvSpPr/>
          <p:nvPr/>
        </p:nvSpPr>
        <p:spPr>
          <a:xfrm>
            <a:off x="7955280" y="3931920"/>
            <a:ext cx="1828800" cy="0"/>
          </a:xfrm>
          <a:prstGeom prst="line">
            <a:avLst/>
          </a:prstGeom>
          <a:noFill/>
          <a:ln w="12700">
            <a:solidFill>
              <a:srgbClr val="5B7C99"/>
            </a:solidFill>
            <a:prstDash val="solid"/>
          </a:ln>
        </p:spPr>
      </p:sp>
      <p:sp>
        <p:nvSpPr>
          <p:cNvPr id="26" name="Shape 24"/>
          <p:cNvSpPr/>
          <p:nvPr/>
        </p:nvSpPr>
        <p:spPr>
          <a:xfrm>
            <a:off x="6766560" y="4023360"/>
            <a:ext cx="1188720" cy="-91440"/>
          </a:xfrm>
          <a:prstGeom prst="line">
            <a:avLst/>
          </a:prstGeom>
          <a:noFill/>
          <a:ln w="12700">
            <a:solidFill>
              <a:srgbClr val="5B7C99"/>
            </a:solidFill>
            <a:prstDash val="solid"/>
          </a:ln>
        </p:spPr>
      </p:sp>
      <p:sp>
        <p:nvSpPr>
          <p:cNvPr id="27" name="Text 25"/>
          <p:cNvSpPr/>
          <p:nvPr/>
        </p:nvSpPr>
        <p:spPr>
          <a:xfrm>
            <a:off x="8778240" y="3566160"/>
            <a:ext cx="2468880" cy="822960"/>
          </a:xfrm>
          <a:prstGeom prst="rect">
            <a:avLst/>
          </a:prstGeom>
          <a:noFill/>
          <a:ln/>
        </p:spPr>
        <p:txBody>
          <a:bodyPr wrap="square" lIns="0" tIns="0" rIns="0" bIns="0" rtlCol="0" anchor="ctr"/>
          <a:lstStyle/>
          <a:p>
            <a:pPr indent="0" marL="0">
              <a:buNone/>
            </a:pPr>
            <a:r>
              <a:rPr lang="en-US" sz="1000" dirty="0">
                <a:solidFill>
                  <a:srgbClr val="5B7C99"/>
                </a:solidFill>
                <a:latin typeface="Consolas" pitchFamily="34" charset="0"/>
                <a:ea typeface="Consolas" pitchFamily="34" charset="-122"/>
                <a:cs typeface="Consolas" pitchFamily="34" charset="-120"/>
              </a:rPr>
              <a:t>SILENCED PHANTOM NODES</a:t>
            </a:r>
            <a:endParaRPr lang="en-US" sz="1000" dirty="0"/>
          </a:p>
          <a:p>
            <a:pPr indent="0" marL="0">
              <a:buNone/>
            </a:pPr>
            <a:r>
              <a:rPr lang="en-US" sz="1000" dirty="0">
                <a:solidFill>
                  <a:srgbClr val="5B7C99"/>
                </a:solidFill>
                <a:latin typeface="Consolas" pitchFamily="34" charset="0"/>
                <a:ea typeface="Consolas" pitchFamily="34" charset="-122"/>
                <a:cs typeface="Consolas" pitchFamily="34" charset="-120"/>
              </a:rPr>
              <a:t>34 dormant dependencies stay dark; zero visual noise.</a:t>
            </a:r>
            <a:endParaRPr lang="en-US" sz="1000" dirty="0"/>
          </a:p>
        </p:txBody>
      </p:sp>
      <p:sp>
        <p:nvSpPr>
          <p:cNvPr id="28" name="Text 26"/>
          <p:cNvSpPr/>
          <p:nvPr/>
        </p:nvSpPr>
        <p:spPr>
          <a:xfrm>
            <a:off x="914400" y="6035040"/>
            <a:ext cx="10332720" cy="274320"/>
          </a:xfrm>
          <a:prstGeom prst="rect">
            <a:avLst/>
          </a:prstGeom>
          <a:noFill/>
          <a:ln/>
        </p:spPr>
        <p:txBody>
          <a:bodyPr wrap="square" lIns="0" tIns="0" rIns="0" bIns="0" rtlCol="0" anchor="ctr"/>
          <a:lstStyle/>
          <a:p>
            <a:pPr algn="ctr" indent="0" marL="0">
              <a:buNone/>
            </a:pPr>
            <a:r>
              <a:rPr lang="en-US" sz="1100" i="1" dirty="0">
                <a:solidFill>
                  <a:srgbClr val="8B949E"/>
                </a:solidFill>
                <a:latin typeface="Georgia" pitchFamily="34" charset="0"/>
                <a:ea typeface="Georgia" pitchFamily="34" charset="-122"/>
                <a:cs typeface="Georgia" pitchFamily="34" charset="-120"/>
              </a:rPr>
              <a:t>"Click a finding to light up its path through the codebase."</a:t>
            </a:r>
            <a:endParaRPr lang="en-US" sz="1100" dirty="0"/>
          </a:p>
        </p:txBody>
      </p:sp>
      <p:sp>
        <p:nvSpPr>
          <p:cNvPr id="29" name="Text 27"/>
          <p:cNvSpPr/>
          <p:nvPr/>
        </p:nvSpPr>
        <p:spPr>
          <a:xfrm>
            <a:off x="914400" y="6400800"/>
            <a:ext cx="10332720" cy="228600"/>
          </a:xfrm>
          <a:prstGeom prst="rect">
            <a:avLst/>
          </a:prstGeom>
          <a:noFill/>
          <a:ln/>
        </p:spPr>
        <p:txBody>
          <a:bodyPr wrap="square" lIns="0" tIns="0" rIns="0" bIns="0" rtlCol="0" anchor="ctr"/>
          <a:lstStyle/>
          <a:p>
            <a:pPr indent="0" marL="0">
              <a:buNone/>
            </a:pPr>
            <a:r>
              <a:rPr lang="en-US" sz="900" dirty="0">
                <a:solidFill>
                  <a:srgbClr val="57606A"/>
                </a:solidFill>
                <a:latin typeface="Consolas" pitchFamily="34" charset="0"/>
                <a:ea typeface="Consolas" pitchFamily="34" charset="-122"/>
                <a:cs typeface="Consolas" pitchFamily="34" charset="-120"/>
              </a:rPr>
              <a:t>VIBELENS // INSPECTION BENCH // 100% LOCAL PRIVACY // ZERO CLOUD LEAKS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14400" y="548640"/>
            <a:ext cx="7315200" cy="274320"/>
          </a:xfrm>
          <a:prstGeom prst="rect">
            <a:avLst/>
          </a:prstGeom>
          <a:noFill/>
          <a:ln/>
        </p:spPr>
        <p:txBody>
          <a:bodyPr wrap="square" lIns="0" tIns="0" rIns="0" bIns="0" rtlCol="0" anchor="ctr"/>
          <a:lstStyle/>
          <a:p>
            <a:pPr indent="0" marL="0">
              <a:buNone/>
            </a:pPr>
            <a:r>
              <a:rPr lang="en-US" sz="1000" dirty="0">
                <a:solidFill>
                  <a:srgbClr val="5B7C99"/>
                </a:solidFill>
                <a:latin typeface="Consolas" pitchFamily="34" charset="0"/>
                <a:ea typeface="Consolas" pitchFamily="34" charset="-122"/>
                <a:cs typeface="Consolas" pitchFamily="34" charset="-120"/>
              </a:rPr>
              <a:t>[ HONEST LABELS // SCIENTIFIC RIGOR ]</a:t>
            </a:r>
            <a:endParaRPr lang="en-US" sz="1000" dirty="0"/>
          </a:p>
        </p:txBody>
      </p:sp>
      <p:sp>
        <p:nvSpPr>
          <p:cNvPr id="3" name="Text 1"/>
          <p:cNvSpPr/>
          <p:nvPr/>
        </p:nvSpPr>
        <p:spPr>
          <a:xfrm>
            <a:off x="9418320" y="548640"/>
            <a:ext cx="1828800" cy="274320"/>
          </a:xfrm>
          <a:prstGeom prst="rect">
            <a:avLst/>
          </a:prstGeom>
          <a:noFill/>
          <a:ln/>
        </p:spPr>
        <p:txBody>
          <a:bodyPr wrap="square" lIns="0" tIns="0" rIns="0" bIns="0" rtlCol="0" anchor="ctr"/>
          <a:lstStyle/>
          <a:p>
            <a:pPr algn="r" indent="0" marL="0">
              <a:buNone/>
            </a:pPr>
            <a:r>
              <a:rPr lang="en-US" sz="1000" dirty="0">
                <a:solidFill>
                  <a:srgbClr val="8C959F"/>
                </a:solidFill>
                <a:latin typeface="Consolas" pitchFamily="34" charset="0"/>
                <a:ea typeface="Consolas" pitchFamily="34" charset="-122"/>
                <a:cs typeface="Consolas" pitchFamily="34" charset="-120"/>
              </a:rPr>
              <a:t>SLIDE 07 / 12</a:t>
            </a:r>
            <a:endParaRPr lang="en-US" sz="1000" dirty="0"/>
          </a:p>
        </p:txBody>
      </p:sp>
      <p:sp>
        <p:nvSpPr>
          <p:cNvPr id="4" name="Text 2"/>
          <p:cNvSpPr/>
          <p:nvPr/>
        </p:nvSpPr>
        <p:spPr>
          <a:xfrm>
            <a:off x="914400" y="1280160"/>
            <a:ext cx="10332720" cy="548640"/>
          </a:xfrm>
          <a:prstGeom prst="rect">
            <a:avLst/>
          </a:prstGeom>
          <a:noFill/>
          <a:ln/>
        </p:spPr>
        <p:txBody>
          <a:bodyPr wrap="square" lIns="0" tIns="0" rIns="0" bIns="0" rtlCol="0" anchor="ctr"/>
          <a:lstStyle/>
          <a:p>
            <a:pPr indent="0" marL="0">
              <a:buNone/>
            </a:pPr>
            <a:r>
              <a:rPr lang="en-US" sz="3200" b="1" dirty="0">
                <a:solidFill>
                  <a:srgbClr val="1C1F24"/>
                </a:solidFill>
                <a:latin typeface="Georgia" pitchFamily="34" charset="0"/>
                <a:ea typeface="Georgia" pitchFamily="34" charset="-122"/>
                <a:cs typeface="Georgia" pitchFamily="34" charset="-120"/>
              </a:rPr>
              <a:t>Three Honest Classifications. Zero Guesses.</a:t>
            </a:r>
            <a:endParaRPr lang="en-US" sz="3200" dirty="0"/>
          </a:p>
        </p:txBody>
      </p:sp>
      <p:sp>
        <p:nvSpPr>
          <p:cNvPr id="5" name="Shape 3"/>
          <p:cNvSpPr/>
          <p:nvPr/>
        </p:nvSpPr>
        <p:spPr>
          <a:xfrm>
            <a:off x="914400" y="2286000"/>
            <a:ext cx="3017520" cy="594360"/>
          </a:xfrm>
          <a:prstGeom prst="roundRect">
            <a:avLst>
              <a:gd name="adj" fmla="val 12308"/>
            </a:avLst>
          </a:prstGeom>
          <a:solidFill>
            <a:srgbClr val="F4F1EA"/>
          </a:solidFill>
          <a:ln w="19050">
            <a:solidFill>
              <a:srgbClr val="E8A33D"/>
            </a:solidFill>
            <a:prstDash val="solid"/>
          </a:ln>
        </p:spPr>
      </p:sp>
      <p:sp>
        <p:nvSpPr>
          <p:cNvPr id="6" name="Text 4"/>
          <p:cNvSpPr/>
          <p:nvPr/>
        </p:nvSpPr>
        <p:spPr>
          <a:xfrm>
            <a:off x="1097280" y="2450592"/>
            <a:ext cx="2651760" cy="274320"/>
          </a:xfrm>
          <a:prstGeom prst="rect">
            <a:avLst/>
          </a:prstGeom>
          <a:noFill/>
          <a:ln/>
        </p:spPr>
        <p:txBody>
          <a:bodyPr wrap="square" lIns="0" tIns="0" rIns="0" bIns="0" rtlCol="0" anchor="ctr"/>
          <a:lstStyle/>
          <a:p>
            <a:pPr indent="0" marL="0">
              <a:buNone/>
            </a:pPr>
            <a:r>
              <a:rPr lang="en-US" sz="1100" b="1" dirty="0">
                <a:solidFill>
                  <a:srgbClr val="E8A33D"/>
                </a:solidFill>
                <a:latin typeface="Consolas" pitchFamily="34" charset="0"/>
                <a:ea typeface="Consolas" pitchFamily="34" charset="-122"/>
                <a:cs typeface="Consolas" pitchFamily="34" charset="-120"/>
              </a:rPr>
              <a:t>●  REACHABLE</a:t>
            </a:r>
            <a:endParaRPr lang="en-US" sz="1100" dirty="0"/>
          </a:p>
        </p:txBody>
      </p:sp>
      <p:sp>
        <p:nvSpPr>
          <p:cNvPr id="7" name="Text 5"/>
          <p:cNvSpPr/>
          <p:nvPr/>
        </p:nvSpPr>
        <p:spPr>
          <a:xfrm>
            <a:off x="914400" y="3063240"/>
            <a:ext cx="3017520" cy="1097280"/>
          </a:xfrm>
          <a:prstGeom prst="rect">
            <a:avLst/>
          </a:prstGeom>
          <a:noFill/>
          <a:ln/>
        </p:spPr>
        <p:txBody>
          <a:bodyPr wrap="square" lIns="0" tIns="0" rIns="0" bIns="0" rtlCol="0" anchor="ctr"/>
          <a:lstStyle/>
          <a:p>
            <a:pPr indent="0" marL="0">
              <a:buNone/>
            </a:pPr>
            <a:r>
              <a:rPr lang="en-US" sz="1200" dirty="0">
                <a:solidFill>
                  <a:srgbClr val="57606A"/>
                </a:solidFill>
                <a:latin typeface="Arial" pitchFamily="34" charset="0"/>
                <a:ea typeface="Arial" pitchFamily="34" charset="-122"/>
                <a:cs typeface="Arial" pitchFamily="34" charset="-120"/>
              </a:rPr>
              <a:t>A verified static call-path exists from an entry point to the vulnerable symbol. Fix immediately.</a:t>
            </a:r>
            <a:endParaRPr lang="en-US" sz="1200" dirty="0"/>
          </a:p>
        </p:txBody>
      </p:sp>
      <p:sp>
        <p:nvSpPr>
          <p:cNvPr id="8" name="Shape 6"/>
          <p:cNvSpPr/>
          <p:nvPr/>
        </p:nvSpPr>
        <p:spPr>
          <a:xfrm>
            <a:off x="4572000" y="2286000"/>
            <a:ext cx="3017520" cy="594360"/>
          </a:xfrm>
          <a:prstGeom prst="roundRect">
            <a:avLst>
              <a:gd name="adj" fmla="val 12308"/>
            </a:avLst>
          </a:prstGeom>
          <a:solidFill>
            <a:srgbClr val="F4F1EA"/>
          </a:solidFill>
          <a:ln w="19050">
            <a:solidFill>
              <a:srgbClr val="5B7C99"/>
            </a:solidFill>
            <a:prstDash val="solid"/>
          </a:ln>
        </p:spPr>
      </p:sp>
      <p:sp>
        <p:nvSpPr>
          <p:cNvPr id="9" name="Text 7"/>
          <p:cNvSpPr/>
          <p:nvPr/>
        </p:nvSpPr>
        <p:spPr>
          <a:xfrm>
            <a:off x="4754880" y="2450592"/>
            <a:ext cx="2651760" cy="274320"/>
          </a:xfrm>
          <a:prstGeom prst="rect">
            <a:avLst/>
          </a:prstGeom>
          <a:noFill/>
          <a:ln/>
        </p:spPr>
        <p:txBody>
          <a:bodyPr wrap="square" lIns="0" tIns="0" rIns="0" bIns="0" rtlCol="0" anchor="ctr"/>
          <a:lstStyle/>
          <a:p>
            <a:pPr indent="0" marL="0">
              <a:buNone/>
            </a:pPr>
            <a:r>
              <a:rPr lang="en-US" sz="1100" b="1" dirty="0">
                <a:solidFill>
                  <a:srgbClr val="5B7C99"/>
                </a:solidFill>
                <a:latin typeface="Consolas" pitchFamily="34" charset="0"/>
                <a:ea typeface="Consolas" pitchFamily="34" charset="-122"/>
                <a:cs typeface="Consolas" pitchFamily="34" charset="-120"/>
              </a:rPr>
              <a:t>●  POSSIBLY REACHABLE</a:t>
            </a:r>
            <a:endParaRPr lang="en-US" sz="1100" dirty="0"/>
          </a:p>
        </p:txBody>
      </p:sp>
      <p:sp>
        <p:nvSpPr>
          <p:cNvPr id="10" name="Text 8"/>
          <p:cNvSpPr/>
          <p:nvPr/>
        </p:nvSpPr>
        <p:spPr>
          <a:xfrm>
            <a:off x="4572000" y="3063240"/>
            <a:ext cx="3017520" cy="1097280"/>
          </a:xfrm>
          <a:prstGeom prst="rect">
            <a:avLst/>
          </a:prstGeom>
          <a:noFill/>
          <a:ln/>
        </p:spPr>
        <p:txBody>
          <a:bodyPr wrap="square" lIns="0" tIns="0" rIns="0" bIns="0" rtlCol="0" anchor="ctr"/>
          <a:lstStyle/>
          <a:p>
            <a:pPr indent="0" marL="0">
              <a:buNone/>
            </a:pPr>
            <a:r>
              <a:rPr lang="en-US" sz="1200" dirty="0">
                <a:solidFill>
                  <a:srgbClr val="57606A"/>
                </a:solidFill>
                <a:latin typeface="Arial" pitchFamily="34" charset="0"/>
                <a:ea typeface="Arial" pitchFamily="34" charset="-122"/>
                <a:cs typeface="Arial" pitchFamily="34" charset="-120"/>
              </a:rPr>
              <a:t>Dynamic require(variable), eval(), or runtime reflection detected. Flagged honestly for manual review.</a:t>
            </a:r>
            <a:endParaRPr lang="en-US" sz="1200" dirty="0"/>
          </a:p>
        </p:txBody>
      </p:sp>
      <p:sp>
        <p:nvSpPr>
          <p:cNvPr id="11" name="Shape 9"/>
          <p:cNvSpPr/>
          <p:nvPr/>
        </p:nvSpPr>
        <p:spPr>
          <a:xfrm>
            <a:off x="8229600" y="2286000"/>
            <a:ext cx="3017520" cy="594360"/>
          </a:xfrm>
          <a:prstGeom prst="roundRect">
            <a:avLst>
              <a:gd name="adj" fmla="val 12308"/>
            </a:avLst>
          </a:prstGeom>
          <a:solidFill>
            <a:srgbClr val="F4F1EA"/>
          </a:solidFill>
          <a:ln w="19050">
            <a:solidFill>
              <a:srgbClr val="D0CBC1"/>
            </a:solidFill>
            <a:prstDash val="solid"/>
          </a:ln>
        </p:spPr>
      </p:sp>
      <p:sp>
        <p:nvSpPr>
          <p:cNvPr id="12" name="Text 10"/>
          <p:cNvSpPr/>
          <p:nvPr/>
        </p:nvSpPr>
        <p:spPr>
          <a:xfrm>
            <a:off x="8412480" y="2450592"/>
            <a:ext cx="2651760" cy="274320"/>
          </a:xfrm>
          <a:prstGeom prst="rect">
            <a:avLst/>
          </a:prstGeom>
          <a:noFill/>
          <a:ln/>
        </p:spPr>
        <p:txBody>
          <a:bodyPr wrap="square" lIns="0" tIns="0" rIns="0" bIns="0" rtlCol="0" anchor="ctr"/>
          <a:lstStyle/>
          <a:p>
            <a:pPr indent="0" marL="0">
              <a:buNone/>
            </a:pPr>
            <a:r>
              <a:rPr lang="en-US" sz="1100" b="1" dirty="0">
                <a:solidFill>
                  <a:srgbClr val="57606A"/>
                </a:solidFill>
                <a:latin typeface="Consolas" pitchFamily="34" charset="0"/>
                <a:ea typeface="Consolas" pitchFamily="34" charset="-122"/>
                <a:cs typeface="Consolas" pitchFamily="34" charset="-120"/>
              </a:rPr>
              <a:t>●  NO STATIC PATH FOUND</a:t>
            </a:r>
            <a:endParaRPr lang="en-US" sz="1100" dirty="0"/>
          </a:p>
        </p:txBody>
      </p:sp>
      <p:sp>
        <p:nvSpPr>
          <p:cNvPr id="13" name="Text 11"/>
          <p:cNvSpPr/>
          <p:nvPr/>
        </p:nvSpPr>
        <p:spPr>
          <a:xfrm>
            <a:off x="8229600" y="3063240"/>
            <a:ext cx="3017520" cy="1097280"/>
          </a:xfrm>
          <a:prstGeom prst="rect">
            <a:avLst/>
          </a:prstGeom>
          <a:noFill/>
          <a:ln/>
        </p:spPr>
        <p:txBody>
          <a:bodyPr wrap="square" lIns="0" tIns="0" rIns="0" bIns="0" rtlCol="0" anchor="ctr"/>
          <a:lstStyle/>
          <a:p>
            <a:pPr indent="0" marL="0">
              <a:buNone/>
            </a:pPr>
            <a:r>
              <a:rPr lang="en-US" sz="1200" dirty="0">
                <a:solidFill>
                  <a:srgbClr val="57606A"/>
                </a:solidFill>
                <a:latin typeface="Arial" pitchFamily="34" charset="0"/>
                <a:ea typeface="Arial" pitchFamily="34" charset="-122"/>
                <a:cs typeface="Arial" pitchFamily="34" charset="-120"/>
              </a:rPr>
              <a:t>No static execution path leads from any public entry point. Silenced from triage queue.</a:t>
            </a:r>
            <a:endParaRPr lang="en-US" sz="1200" dirty="0"/>
          </a:p>
        </p:txBody>
      </p:sp>
      <p:sp>
        <p:nvSpPr>
          <p:cNvPr id="14" name="Shape 12"/>
          <p:cNvSpPr/>
          <p:nvPr/>
        </p:nvSpPr>
        <p:spPr>
          <a:xfrm>
            <a:off x="914400" y="4389120"/>
            <a:ext cx="10332720" cy="1463040"/>
          </a:xfrm>
          <a:prstGeom prst="rect">
            <a:avLst/>
          </a:prstGeom>
          <a:solidFill>
            <a:srgbClr val="ECE8E0"/>
          </a:solidFill>
          <a:ln w="12700">
            <a:solidFill>
              <a:srgbClr val="D0CBC1"/>
            </a:solidFill>
            <a:prstDash val="solid"/>
          </a:ln>
        </p:spPr>
      </p:sp>
      <p:sp>
        <p:nvSpPr>
          <p:cNvPr id="15" name="Text 13"/>
          <p:cNvSpPr/>
          <p:nvPr/>
        </p:nvSpPr>
        <p:spPr>
          <a:xfrm>
            <a:off x="1188720" y="4617720"/>
            <a:ext cx="9784080" cy="320040"/>
          </a:xfrm>
          <a:prstGeom prst="rect">
            <a:avLst/>
          </a:prstGeom>
          <a:noFill/>
          <a:ln/>
        </p:spPr>
        <p:txBody>
          <a:bodyPr wrap="square" lIns="0" tIns="0" rIns="0" bIns="0" rtlCol="0" anchor="ctr"/>
          <a:lstStyle/>
          <a:p>
            <a:pPr indent="0" marL="0">
              <a:buNone/>
            </a:pPr>
            <a:r>
              <a:rPr lang="en-US" sz="1800" b="1" dirty="0">
                <a:solidFill>
                  <a:srgbClr val="1C1F24"/>
                </a:solidFill>
                <a:latin typeface="Georgia" pitchFamily="34" charset="0"/>
                <a:ea typeface="Georgia" pitchFamily="34" charset="-122"/>
                <a:cs typeface="Georgia" pitchFamily="34" charset="-120"/>
              </a:rPr>
              <a:t>VibeLens never says  </a:t>
            </a:r>
            <a:pPr indent="0" marL="0">
              <a:buNone/>
            </a:pPr>
            <a:r>
              <a:rPr lang="en-US" sz="1800" b="1" strike="sngStrike" dirty="0">
                <a:solidFill>
                  <a:srgbClr val="E8A33D"/>
                </a:solidFill>
                <a:latin typeface="Georgia" pitchFamily="34" charset="0"/>
                <a:ea typeface="Georgia" pitchFamily="34" charset="-122"/>
                <a:cs typeface="Georgia" pitchFamily="34" charset="-120"/>
              </a:rPr>
              <a:t>"safe"</a:t>
            </a:r>
            <a:pPr indent="0" marL="0">
              <a:buNone/>
            </a:pPr>
            <a:r>
              <a:rPr lang="en-US" sz="1800" b="1" dirty="0">
                <a:solidFill>
                  <a:srgbClr val="1C1F24"/>
                </a:solidFill>
                <a:latin typeface="Georgia" pitchFamily="34" charset="0"/>
                <a:ea typeface="Georgia" pitchFamily="34" charset="-122"/>
                <a:cs typeface="Georgia" pitchFamily="34" charset="-120"/>
              </a:rPr>
              <a:t>.</a:t>
            </a:r>
            <a:endParaRPr lang="en-US" sz="1800" dirty="0"/>
          </a:p>
        </p:txBody>
      </p:sp>
      <p:sp>
        <p:nvSpPr>
          <p:cNvPr id="16" name="Text 14"/>
          <p:cNvSpPr/>
          <p:nvPr/>
        </p:nvSpPr>
        <p:spPr>
          <a:xfrm>
            <a:off x="1188720" y="5029200"/>
            <a:ext cx="9601200" cy="640080"/>
          </a:xfrm>
          <a:prstGeom prst="rect">
            <a:avLst/>
          </a:prstGeom>
          <a:noFill/>
          <a:ln/>
        </p:spPr>
        <p:txBody>
          <a:bodyPr wrap="square" lIns="0" tIns="0" rIns="0" bIns="0" rtlCol="0" anchor="ctr"/>
          <a:lstStyle/>
          <a:p>
            <a:pPr indent="0" marL="0">
              <a:buNone/>
            </a:pPr>
            <a:r>
              <a:rPr lang="en-US" sz="1300" dirty="0">
                <a:solidFill>
                  <a:srgbClr val="57606A"/>
                </a:solidFill>
                <a:latin typeface="Arial" pitchFamily="34" charset="0"/>
                <a:ea typeface="Arial" pitchFamily="34" charset="-122"/>
                <a:cs typeface="Arial" pitchFamily="34" charset="-120"/>
              </a:rPr>
              <a:t>Security tools that promise '100% safe' on dynamic JavaScript are mathematically misleading. VibeLens maintains strict compiler credibility: deterministic paths are proven; dynamic code is honestly classified as unknown.</a:t>
            </a:r>
            <a:endParaRPr lang="en-US" sz="1300" dirty="0"/>
          </a:p>
        </p:txBody>
      </p:sp>
      <p:sp>
        <p:nvSpPr>
          <p:cNvPr id="17" name="Text 15"/>
          <p:cNvSpPr/>
          <p:nvPr/>
        </p:nvSpPr>
        <p:spPr>
          <a:xfrm>
            <a:off x="914400" y="6400800"/>
            <a:ext cx="10332720" cy="228600"/>
          </a:xfrm>
          <a:prstGeom prst="rect">
            <a:avLst/>
          </a:prstGeom>
          <a:noFill/>
          <a:ln/>
        </p:spPr>
        <p:txBody>
          <a:bodyPr wrap="square" lIns="0" tIns="0" rIns="0" bIns="0" rtlCol="0" anchor="ctr"/>
          <a:lstStyle/>
          <a:p>
            <a:pPr indent="0" marL="0">
              <a:buNone/>
            </a:pPr>
            <a:r>
              <a:rPr lang="en-US" sz="900" dirty="0">
                <a:solidFill>
                  <a:srgbClr val="8C959F"/>
                </a:solidFill>
                <a:latin typeface="Consolas" pitchFamily="34" charset="0"/>
                <a:ea typeface="Consolas" pitchFamily="34" charset="-122"/>
                <a:cs typeface="Consolas" pitchFamily="34" charset="-120"/>
              </a:rPr>
              <a:t>VIBELENS // INSPECTION BENCH // 100% LOCAL PRIVACY // ZERO CLOUD LEAKS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14400" y="548640"/>
            <a:ext cx="7315200" cy="274320"/>
          </a:xfrm>
          <a:prstGeom prst="rect">
            <a:avLst/>
          </a:prstGeom>
          <a:noFill/>
          <a:ln/>
        </p:spPr>
        <p:txBody>
          <a:bodyPr wrap="square" lIns="0" tIns="0" rIns="0" bIns="0" rtlCol="0" anchor="ctr"/>
          <a:lstStyle/>
          <a:p>
            <a:pPr indent="0" marL="0">
              <a:buNone/>
            </a:pPr>
            <a:r>
              <a:rPr lang="en-US" sz="1000" dirty="0">
                <a:solidFill>
                  <a:srgbClr val="5B7C99"/>
                </a:solidFill>
                <a:latin typeface="Consolas" pitchFamily="34" charset="0"/>
                <a:ea typeface="Consolas" pitchFamily="34" charset="-122"/>
                <a:cs typeface="Consolas" pitchFamily="34" charset="-120"/>
              </a:rPr>
              <a:t>[ EMPIRICAL BENCHMARK // REAL REPO RUN ]</a:t>
            </a:r>
            <a:endParaRPr lang="en-US" sz="1000" dirty="0"/>
          </a:p>
        </p:txBody>
      </p:sp>
      <p:sp>
        <p:nvSpPr>
          <p:cNvPr id="3" name="Text 1"/>
          <p:cNvSpPr/>
          <p:nvPr/>
        </p:nvSpPr>
        <p:spPr>
          <a:xfrm>
            <a:off x="9418320" y="548640"/>
            <a:ext cx="1828800" cy="274320"/>
          </a:xfrm>
          <a:prstGeom prst="rect">
            <a:avLst/>
          </a:prstGeom>
          <a:noFill/>
          <a:ln/>
        </p:spPr>
        <p:txBody>
          <a:bodyPr wrap="square" lIns="0" tIns="0" rIns="0" bIns="0" rtlCol="0" anchor="ctr"/>
          <a:lstStyle/>
          <a:p>
            <a:pPr algn="r" indent="0" marL="0">
              <a:buNone/>
            </a:pPr>
            <a:r>
              <a:rPr lang="en-US" sz="1000" dirty="0">
                <a:solidFill>
                  <a:srgbClr val="8C959F"/>
                </a:solidFill>
                <a:latin typeface="Consolas" pitchFamily="34" charset="0"/>
                <a:ea typeface="Consolas" pitchFamily="34" charset="-122"/>
                <a:cs typeface="Consolas" pitchFamily="34" charset="-120"/>
              </a:rPr>
              <a:t>SLIDE 08 / 12</a:t>
            </a:r>
            <a:endParaRPr lang="en-US" sz="1000" dirty="0"/>
          </a:p>
        </p:txBody>
      </p:sp>
      <p:sp>
        <p:nvSpPr>
          <p:cNvPr id="4" name="Text 2"/>
          <p:cNvSpPr/>
          <p:nvPr/>
        </p:nvSpPr>
        <p:spPr>
          <a:xfrm>
            <a:off x="914400" y="1188720"/>
            <a:ext cx="5486400" cy="1463040"/>
          </a:xfrm>
          <a:prstGeom prst="rect">
            <a:avLst/>
          </a:prstGeom>
          <a:noFill/>
          <a:ln/>
        </p:spPr>
        <p:txBody>
          <a:bodyPr wrap="square" lIns="0" tIns="0" rIns="0" bIns="0" rtlCol="0" anchor="ctr"/>
          <a:lstStyle/>
          <a:p>
            <a:pPr indent="0" marL="0">
              <a:buNone/>
            </a:pPr>
            <a:r>
              <a:rPr lang="en-US" sz="11000" b="1" dirty="0">
                <a:solidFill>
                  <a:srgbClr val="E8A33D"/>
                </a:solidFill>
                <a:latin typeface="Georgia" pitchFamily="34" charset="0"/>
                <a:ea typeface="Georgia" pitchFamily="34" charset="-122"/>
                <a:cs typeface="Georgia" pitchFamily="34" charset="-120"/>
              </a:rPr>
              <a:t>-94.4%</a:t>
            </a:r>
            <a:endParaRPr lang="en-US" sz="11000" dirty="0"/>
          </a:p>
        </p:txBody>
      </p:sp>
      <p:sp>
        <p:nvSpPr>
          <p:cNvPr id="5" name="Text 3"/>
          <p:cNvSpPr/>
          <p:nvPr/>
        </p:nvSpPr>
        <p:spPr>
          <a:xfrm>
            <a:off x="914400" y="2743200"/>
            <a:ext cx="5486400" cy="411480"/>
          </a:xfrm>
          <a:prstGeom prst="rect">
            <a:avLst/>
          </a:prstGeom>
          <a:noFill/>
          <a:ln/>
        </p:spPr>
        <p:txBody>
          <a:bodyPr wrap="square" lIns="0" tIns="0" rIns="0" bIns="0" rtlCol="0" anchor="ctr"/>
          <a:lstStyle/>
          <a:p>
            <a:pPr indent="0" marL="0">
              <a:buNone/>
            </a:pPr>
            <a:r>
              <a:rPr lang="en-US" sz="2000" b="1" dirty="0">
                <a:solidFill>
                  <a:srgbClr val="1C1F24"/>
                </a:solidFill>
                <a:latin typeface="Georgia" pitchFamily="34" charset="0"/>
                <a:ea typeface="Georgia" pitchFamily="34" charset="-122"/>
                <a:cs typeface="Georgia" pitchFamily="34" charset="-120"/>
              </a:rPr>
              <a:t>Triage Noise Reduction on Live Repository</a:t>
            </a:r>
            <a:endParaRPr lang="en-US" sz="2000" dirty="0"/>
          </a:p>
        </p:txBody>
      </p:sp>
      <p:sp>
        <p:nvSpPr>
          <p:cNvPr id="6" name="Text 4"/>
          <p:cNvSpPr/>
          <p:nvPr/>
        </p:nvSpPr>
        <p:spPr>
          <a:xfrm>
            <a:off x="914400" y="3291840"/>
            <a:ext cx="5029200" cy="2194560"/>
          </a:xfrm>
          <a:prstGeom prst="rect">
            <a:avLst/>
          </a:prstGeom>
          <a:noFill/>
          <a:ln/>
        </p:spPr>
        <p:txBody>
          <a:bodyPr wrap="square" lIns="0" tIns="0" rIns="0" bIns="0" rtlCol="0" anchor="ctr"/>
          <a:lstStyle/>
          <a:p>
            <a:pPr indent="0" marL="0">
              <a:buNone/>
            </a:pPr>
            <a:r>
              <a:rPr lang="en-US" sz="1300" dirty="0">
                <a:solidFill>
                  <a:srgbClr val="57606A"/>
                </a:solidFill>
                <a:latin typeface="Arial" pitchFamily="34" charset="0"/>
                <a:ea typeface="Arial" pitchFamily="34" charset="-122"/>
                <a:cs typeface="Arial" pitchFamily="34" charset="-120"/>
              </a:rPr>
              <a:t>Tested on open-source Next.js testbed with 72 AST files and 36 raw npm audit alarms.</a:t>
            </a:r>
            <a:endParaRPr lang="en-US" sz="1300" dirty="0"/>
          </a:p>
          <a:p>
            <a:pPr indent="0" marL="0">
              <a:buNone/>
            </a:pPr>
            <a:endParaRPr lang="en-US" sz="1300" dirty="0"/>
          </a:p>
          <a:p>
            <a:pPr indent="0" marL="0">
              <a:buNone/>
            </a:pPr>
            <a:r>
              <a:rPr lang="en-US" sz="1300" dirty="0">
                <a:solidFill>
                  <a:srgbClr val="57606A"/>
                </a:solidFill>
                <a:latin typeface="Arial" pitchFamily="34" charset="0"/>
                <a:ea typeface="Arial" pitchFamily="34" charset="-122"/>
                <a:cs typeface="Arial" pitchFamily="34" charset="-120"/>
              </a:rPr>
              <a:t>34 phantom alerts eliminated from developer attention.</a:t>
            </a:r>
            <a:endParaRPr lang="en-US" sz="1300" dirty="0"/>
          </a:p>
          <a:p>
            <a:pPr indent="0" marL="0">
              <a:buNone/>
            </a:pPr>
            <a:r>
              <a:rPr lang="en-US" sz="1300" dirty="0">
                <a:solidFill>
                  <a:srgbClr val="57606A"/>
                </a:solidFill>
                <a:latin typeface="Arial" pitchFamily="34" charset="0"/>
                <a:ea typeface="Arial" pitchFamily="34" charset="-122"/>
                <a:cs typeface="Arial" pitchFamily="34" charset="-120"/>
              </a:rPr>
              <a:t>2 true reachable vulnerabilities isolated in 12.4ms.</a:t>
            </a:r>
            <a:endParaRPr lang="en-US" sz="1300" dirty="0"/>
          </a:p>
          <a:p>
            <a:pPr indent="0" marL="0">
              <a:buNone/>
            </a:pPr>
            <a:r>
              <a:rPr lang="en-US" sz="1300" dirty="0">
                <a:solidFill>
                  <a:srgbClr val="57606A"/>
                </a:solidFill>
                <a:latin typeface="Arial" pitchFamily="34" charset="0"/>
                <a:ea typeface="Arial" pitchFamily="34" charset="-122"/>
                <a:cs typeface="Arial" pitchFamily="34" charset="-120"/>
              </a:rPr>
              <a:t>0 false negatives on static execution paths.</a:t>
            </a:r>
            <a:endParaRPr lang="en-US" sz="1300" dirty="0"/>
          </a:p>
        </p:txBody>
      </p:sp>
      <p:sp>
        <p:nvSpPr>
          <p:cNvPr id="7" name="Shape 5"/>
          <p:cNvSpPr/>
          <p:nvPr/>
        </p:nvSpPr>
        <p:spPr>
          <a:xfrm>
            <a:off x="6583680" y="1463040"/>
            <a:ext cx="4663440" cy="4389120"/>
          </a:xfrm>
          <a:prstGeom prst="rect">
            <a:avLst/>
          </a:prstGeom>
          <a:solidFill>
            <a:srgbClr val="ECE8E0"/>
          </a:solidFill>
          <a:ln w="12700">
            <a:solidFill>
              <a:srgbClr val="D0CBC1"/>
            </a:solidFill>
            <a:prstDash val="solid"/>
          </a:ln>
        </p:spPr>
      </p:sp>
      <p:sp>
        <p:nvSpPr>
          <p:cNvPr id="8" name="Text 6"/>
          <p:cNvSpPr/>
          <p:nvPr/>
        </p:nvSpPr>
        <p:spPr>
          <a:xfrm>
            <a:off x="6858000" y="1737360"/>
            <a:ext cx="4114800" cy="228600"/>
          </a:xfrm>
          <a:prstGeom prst="rect">
            <a:avLst/>
          </a:prstGeom>
          <a:noFill/>
          <a:ln/>
        </p:spPr>
        <p:txBody>
          <a:bodyPr wrap="square" lIns="0" tIns="0" rIns="0" bIns="0" rtlCol="0" anchor="ctr"/>
          <a:lstStyle/>
          <a:p>
            <a:pPr indent="0" marL="0">
              <a:buNone/>
            </a:pPr>
            <a:r>
              <a:rPr lang="en-US" sz="1000" dirty="0">
                <a:solidFill>
                  <a:srgbClr val="5B7C99"/>
                </a:solidFill>
                <a:latin typeface="Consolas" pitchFamily="34" charset="0"/>
                <a:ea typeface="Consolas" pitchFamily="34" charset="-122"/>
                <a:cs typeface="Consolas" pitchFamily="34" charset="-120"/>
              </a:rPr>
              <a:t>[ ALERT COUNT COMPARISON // REAL AUDIT DATA ]</a:t>
            </a:r>
            <a:endParaRPr lang="en-US" sz="1000" dirty="0"/>
          </a:p>
        </p:txBody>
      </p:sp>
      <p:sp>
        <p:nvSpPr>
          <p:cNvPr id="9" name="Shape 7"/>
          <p:cNvSpPr/>
          <p:nvPr/>
        </p:nvSpPr>
        <p:spPr>
          <a:xfrm>
            <a:off x="7315200" y="2377440"/>
            <a:ext cx="1280160" cy="2743200"/>
          </a:xfrm>
          <a:prstGeom prst="rect">
            <a:avLst/>
          </a:prstGeom>
          <a:solidFill>
            <a:srgbClr val="5B7C99"/>
          </a:solidFill>
          <a:ln w="12700">
            <a:solidFill>
              <a:srgbClr val="5B7C99"/>
            </a:solidFill>
            <a:prstDash val="solid"/>
          </a:ln>
        </p:spPr>
      </p:sp>
      <p:sp>
        <p:nvSpPr>
          <p:cNvPr id="10" name="Text 8"/>
          <p:cNvSpPr/>
          <p:nvPr/>
        </p:nvSpPr>
        <p:spPr>
          <a:xfrm>
            <a:off x="7315200" y="2011680"/>
            <a:ext cx="1280160" cy="365760"/>
          </a:xfrm>
          <a:prstGeom prst="rect">
            <a:avLst/>
          </a:prstGeom>
          <a:noFill/>
          <a:ln/>
        </p:spPr>
        <p:txBody>
          <a:bodyPr wrap="square" lIns="0" tIns="0" rIns="0" bIns="0" rtlCol="0" anchor="ctr"/>
          <a:lstStyle/>
          <a:p>
            <a:pPr algn="ctr" indent="0" marL="0">
              <a:buNone/>
            </a:pPr>
            <a:r>
              <a:rPr lang="en-US" sz="2200" b="1" dirty="0">
                <a:solidFill>
                  <a:srgbClr val="1C1F24"/>
                </a:solidFill>
                <a:latin typeface="Consolas" pitchFamily="34" charset="0"/>
                <a:ea typeface="Consolas" pitchFamily="34" charset="-122"/>
                <a:cs typeface="Consolas" pitchFamily="34" charset="-120"/>
              </a:rPr>
              <a:t>36</a:t>
            </a:r>
            <a:endParaRPr lang="en-US" sz="2200" dirty="0"/>
          </a:p>
        </p:txBody>
      </p:sp>
      <p:sp>
        <p:nvSpPr>
          <p:cNvPr id="11" name="Text 9"/>
          <p:cNvSpPr/>
          <p:nvPr/>
        </p:nvSpPr>
        <p:spPr>
          <a:xfrm>
            <a:off x="7132320" y="5212080"/>
            <a:ext cx="1645920" cy="457200"/>
          </a:xfrm>
          <a:prstGeom prst="rect">
            <a:avLst/>
          </a:prstGeom>
          <a:noFill/>
          <a:ln/>
        </p:spPr>
        <p:txBody>
          <a:bodyPr wrap="square" lIns="0" tIns="0" rIns="0" bIns="0" rtlCol="0" anchor="ctr"/>
          <a:lstStyle/>
          <a:p>
            <a:pPr algn="ctr" indent="0" marL="0">
              <a:buNone/>
            </a:pPr>
            <a:r>
              <a:rPr lang="en-US" sz="1000" dirty="0">
                <a:solidFill>
                  <a:srgbClr val="57606A"/>
                </a:solidFill>
                <a:latin typeface="Consolas" pitchFamily="34" charset="0"/>
                <a:ea typeface="Consolas" pitchFamily="34" charset="-122"/>
                <a:cs typeface="Consolas" pitchFamily="34" charset="-120"/>
              </a:rPr>
              <a:t>npm audit</a:t>
            </a:r>
            <a:endParaRPr lang="en-US" sz="1000" dirty="0"/>
          </a:p>
          <a:p>
            <a:pPr algn="ctr" indent="0" marL="0">
              <a:buNone/>
            </a:pPr>
            <a:r>
              <a:rPr lang="en-US" sz="1000" dirty="0">
                <a:solidFill>
                  <a:srgbClr val="57606A"/>
                </a:solidFill>
                <a:latin typeface="Consolas" pitchFamily="34" charset="0"/>
                <a:ea typeface="Consolas" pitchFamily="34" charset="-122"/>
                <a:cs typeface="Consolas" pitchFamily="34" charset="-120"/>
              </a:rPr>
              <a:t>(Raw Alarms)</a:t>
            </a:r>
            <a:endParaRPr lang="en-US" sz="1000" dirty="0"/>
          </a:p>
        </p:txBody>
      </p:sp>
      <p:sp>
        <p:nvSpPr>
          <p:cNvPr id="12" name="Shape 10"/>
          <p:cNvSpPr/>
          <p:nvPr/>
        </p:nvSpPr>
        <p:spPr>
          <a:xfrm>
            <a:off x="9235440" y="4846320"/>
            <a:ext cx="1280160" cy="274320"/>
          </a:xfrm>
          <a:prstGeom prst="rect">
            <a:avLst/>
          </a:prstGeom>
          <a:solidFill>
            <a:srgbClr val="E8A33D"/>
          </a:solidFill>
          <a:ln w="12700">
            <a:solidFill>
              <a:srgbClr val="E8A33D"/>
            </a:solidFill>
            <a:prstDash val="solid"/>
          </a:ln>
        </p:spPr>
      </p:sp>
      <p:sp>
        <p:nvSpPr>
          <p:cNvPr id="13" name="Text 11"/>
          <p:cNvSpPr/>
          <p:nvPr/>
        </p:nvSpPr>
        <p:spPr>
          <a:xfrm>
            <a:off x="9235440" y="4434840"/>
            <a:ext cx="1280160" cy="365760"/>
          </a:xfrm>
          <a:prstGeom prst="rect">
            <a:avLst/>
          </a:prstGeom>
          <a:noFill/>
          <a:ln/>
        </p:spPr>
        <p:txBody>
          <a:bodyPr wrap="square" lIns="0" tIns="0" rIns="0" bIns="0" rtlCol="0" anchor="ctr"/>
          <a:lstStyle/>
          <a:p>
            <a:pPr algn="ctr" indent="0" marL="0">
              <a:buNone/>
            </a:pPr>
            <a:r>
              <a:rPr lang="en-US" sz="2200" b="1" dirty="0">
                <a:solidFill>
                  <a:srgbClr val="E8A33D"/>
                </a:solidFill>
                <a:latin typeface="Consolas" pitchFamily="34" charset="0"/>
                <a:ea typeface="Consolas" pitchFamily="34" charset="-122"/>
                <a:cs typeface="Consolas" pitchFamily="34" charset="-120"/>
              </a:rPr>
              <a:t>2</a:t>
            </a:r>
            <a:endParaRPr lang="en-US" sz="2200" dirty="0"/>
          </a:p>
        </p:txBody>
      </p:sp>
      <p:sp>
        <p:nvSpPr>
          <p:cNvPr id="14" name="Text 12"/>
          <p:cNvSpPr/>
          <p:nvPr/>
        </p:nvSpPr>
        <p:spPr>
          <a:xfrm>
            <a:off x="9052560" y="5212080"/>
            <a:ext cx="1645920" cy="457200"/>
          </a:xfrm>
          <a:prstGeom prst="rect">
            <a:avLst/>
          </a:prstGeom>
          <a:noFill/>
          <a:ln/>
        </p:spPr>
        <p:txBody>
          <a:bodyPr wrap="square" lIns="0" tIns="0" rIns="0" bIns="0" rtlCol="0" anchor="ctr"/>
          <a:lstStyle/>
          <a:p>
            <a:pPr algn="ctr" indent="0" marL="0">
              <a:buNone/>
            </a:pPr>
            <a:r>
              <a:rPr lang="en-US" sz="1000" b="1" dirty="0">
                <a:solidFill>
                  <a:srgbClr val="E8A33D"/>
                </a:solidFill>
                <a:latin typeface="Consolas" pitchFamily="34" charset="0"/>
                <a:ea typeface="Consolas" pitchFamily="34" charset="-122"/>
                <a:cs typeface="Consolas" pitchFamily="34" charset="-120"/>
              </a:rPr>
              <a:t>VibeLens</a:t>
            </a:r>
            <a:endParaRPr lang="en-US" sz="1000" dirty="0"/>
          </a:p>
          <a:p>
            <a:pPr algn="ctr" indent="0" marL="0">
              <a:buNone/>
            </a:pPr>
            <a:r>
              <a:rPr lang="en-US" sz="1000" b="1" dirty="0">
                <a:solidFill>
                  <a:srgbClr val="E8A33D"/>
                </a:solidFill>
                <a:latin typeface="Consolas" pitchFamily="34" charset="0"/>
                <a:ea typeface="Consolas" pitchFamily="34" charset="-122"/>
                <a:cs typeface="Consolas" pitchFamily="34" charset="-120"/>
              </a:rPr>
              <a:t>(Reachable)</a:t>
            </a:r>
            <a:endParaRPr lang="en-US" sz="1000" dirty="0"/>
          </a:p>
        </p:txBody>
      </p:sp>
      <p:sp>
        <p:nvSpPr>
          <p:cNvPr id="15" name="Text 13"/>
          <p:cNvSpPr/>
          <p:nvPr/>
        </p:nvSpPr>
        <p:spPr>
          <a:xfrm>
            <a:off x="914400" y="6400800"/>
            <a:ext cx="10332720" cy="228600"/>
          </a:xfrm>
          <a:prstGeom prst="rect">
            <a:avLst/>
          </a:prstGeom>
          <a:noFill/>
          <a:ln/>
        </p:spPr>
        <p:txBody>
          <a:bodyPr wrap="square" lIns="0" tIns="0" rIns="0" bIns="0" rtlCol="0" anchor="ctr"/>
          <a:lstStyle/>
          <a:p>
            <a:pPr indent="0" marL="0">
              <a:buNone/>
            </a:pPr>
            <a:r>
              <a:rPr lang="en-US" sz="900" dirty="0">
                <a:solidFill>
                  <a:srgbClr val="8C959F"/>
                </a:solidFill>
                <a:latin typeface="Consolas" pitchFamily="34" charset="0"/>
                <a:ea typeface="Consolas" pitchFamily="34" charset="-122"/>
                <a:cs typeface="Consolas" pitchFamily="34" charset="-120"/>
              </a:rPr>
              <a:t>VIBELENS // INSPECTION BENCH // 100% LOCAL PRIVACY // ZERO CLOUD LEAKS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C1F24"/>
        </a:solidFill>
      </p:bgPr>
    </p:bg>
    <p:spTree>
      <p:nvGrpSpPr>
        <p:cNvPr id="1" name=""/>
        <p:cNvGrpSpPr/>
        <p:nvPr/>
      </p:nvGrpSpPr>
      <p:grpSpPr>
        <a:xfrm>
          <a:off x="0" y="0"/>
          <a:ext cx="0" cy="0"/>
          <a:chOff x="0" y="0"/>
          <a:chExt cx="0" cy="0"/>
        </a:xfrm>
      </p:grpSpPr>
      <p:sp>
        <p:nvSpPr>
          <p:cNvPr id="2" name="Text 0"/>
          <p:cNvSpPr/>
          <p:nvPr/>
        </p:nvSpPr>
        <p:spPr>
          <a:xfrm>
            <a:off x="914400" y="548640"/>
            <a:ext cx="7315200" cy="274320"/>
          </a:xfrm>
          <a:prstGeom prst="rect">
            <a:avLst/>
          </a:prstGeom>
          <a:noFill/>
          <a:ln/>
        </p:spPr>
        <p:txBody>
          <a:bodyPr wrap="square" lIns="0" tIns="0" rIns="0" bIns="0" rtlCol="0" anchor="ctr"/>
          <a:lstStyle/>
          <a:p>
            <a:pPr indent="0" marL="0">
              <a:buNone/>
            </a:pPr>
            <a:r>
              <a:rPr lang="en-US" sz="1000" dirty="0">
                <a:solidFill>
                  <a:srgbClr val="5B7C99"/>
                </a:solidFill>
                <a:latin typeface="Consolas" pitchFamily="34" charset="0"/>
                <a:ea typeface="Consolas" pitchFamily="34" charset="-122"/>
                <a:cs typeface="Consolas" pitchFamily="34" charset="-120"/>
              </a:rPr>
              <a:t>[ POSITIONING MAP // WHO IT IS FOR ]</a:t>
            </a:r>
            <a:endParaRPr lang="en-US" sz="1000" dirty="0"/>
          </a:p>
        </p:txBody>
      </p:sp>
      <p:sp>
        <p:nvSpPr>
          <p:cNvPr id="3" name="Text 1"/>
          <p:cNvSpPr/>
          <p:nvPr/>
        </p:nvSpPr>
        <p:spPr>
          <a:xfrm>
            <a:off x="9418320" y="548640"/>
            <a:ext cx="1828800" cy="274320"/>
          </a:xfrm>
          <a:prstGeom prst="rect">
            <a:avLst/>
          </a:prstGeom>
          <a:noFill/>
          <a:ln/>
        </p:spPr>
        <p:txBody>
          <a:bodyPr wrap="square" lIns="0" tIns="0" rIns="0" bIns="0" rtlCol="0" anchor="ctr"/>
          <a:lstStyle/>
          <a:p>
            <a:pPr algn="r" indent="0" marL="0">
              <a:buNone/>
            </a:pPr>
            <a:r>
              <a:rPr lang="en-US" sz="1000" dirty="0">
                <a:solidFill>
                  <a:srgbClr val="57606A"/>
                </a:solidFill>
                <a:latin typeface="Consolas" pitchFamily="34" charset="0"/>
                <a:ea typeface="Consolas" pitchFamily="34" charset="-122"/>
                <a:cs typeface="Consolas" pitchFamily="34" charset="-120"/>
              </a:rPr>
              <a:t>SLIDE 09 / 12</a:t>
            </a:r>
            <a:endParaRPr lang="en-US" sz="1000" dirty="0"/>
          </a:p>
        </p:txBody>
      </p:sp>
      <p:sp>
        <p:nvSpPr>
          <p:cNvPr id="4" name="Text 2"/>
          <p:cNvSpPr/>
          <p:nvPr/>
        </p:nvSpPr>
        <p:spPr>
          <a:xfrm>
            <a:off x="914400" y="1005840"/>
            <a:ext cx="10332720" cy="411480"/>
          </a:xfrm>
          <a:prstGeom prst="rect">
            <a:avLst/>
          </a:prstGeom>
          <a:noFill/>
          <a:ln/>
        </p:spPr>
        <p:txBody>
          <a:bodyPr wrap="square" lIns="0" tIns="0" rIns="0" bIns="0" rtlCol="0" anchor="ctr"/>
          <a:lstStyle/>
          <a:p>
            <a:pPr indent="0" marL="0">
              <a:buNone/>
            </a:pPr>
            <a:r>
              <a:rPr lang="en-US" sz="2200" b="1" dirty="0">
                <a:solidFill>
                  <a:srgbClr val="F4F1EA"/>
                </a:solidFill>
                <a:latin typeface="Georgia" pitchFamily="34" charset="0"/>
                <a:ea typeface="Georgia" pitchFamily="34" charset="-122"/>
                <a:cs typeface="Georgia" pitchFamily="34" charset="-120"/>
              </a:rPr>
              <a:t>Where VibeLens Sits in the Developer Security Landscape</a:t>
            </a:r>
            <a:endParaRPr lang="en-US" sz="2200" dirty="0"/>
          </a:p>
        </p:txBody>
      </p:sp>
      <p:sp>
        <p:nvSpPr>
          <p:cNvPr id="5" name="Shape 3"/>
          <p:cNvSpPr/>
          <p:nvPr/>
        </p:nvSpPr>
        <p:spPr>
          <a:xfrm>
            <a:off x="1828800" y="1737360"/>
            <a:ext cx="8503920" cy="4206240"/>
          </a:xfrm>
          <a:prstGeom prst="rect">
            <a:avLst/>
          </a:prstGeom>
          <a:solidFill>
            <a:srgbClr val="22262C"/>
          </a:solidFill>
          <a:ln w="12700">
            <a:solidFill>
              <a:srgbClr val="2D333B"/>
            </a:solidFill>
            <a:prstDash val="solid"/>
          </a:ln>
        </p:spPr>
      </p:sp>
      <p:sp>
        <p:nvSpPr>
          <p:cNvPr id="6" name="Shape 4"/>
          <p:cNvSpPr/>
          <p:nvPr/>
        </p:nvSpPr>
        <p:spPr>
          <a:xfrm>
            <a:off x="1828800" y="3840480"/>
            <a:ext cx="8503920" cy="0"/>
          </a:xfrm>
          <a:prstGeom prst="line">
            <a:avLst/>
          </a:prstGeom>
          <a:noFill/>
          <a:ln w="12700">
            <a:solidFill>
              <a:srgbClr val="2D333B"/>
            </a:solidFill>
            <a:prstDash val="dash"/>
          </a:ln>
        </p:spPr>
      </p:sp>
      <p:sp>
        <p:nvSpPr>
          <p:cNvPr id="7" name="Shape 5"/>
          <p:cNvSpPr/>
          <p:nvPr/>
        </p:nvSpPr>
        <p:spPr>
          <a:xfrm>
            <a:off x="6080760" y="1737360"/>
            <a:ext cx="0" cy="4206240"/>
          </a:xfrm>
          <a:prstGeom prst="line">
            <a:avLst/>
          </a:prstGeom>
          <a:noFill/>
          <a:ln w="12700">
            <a:solidFill>
              <a:srgbClr val="2D333B"/>
            </a:solidFill>
            <a:prstDash val="dash"/>
          </a:ln>
        </p:spPr>
      </p:sp>
      <p:sp>
        <p:nvSpPr>
          <p:cNvPr id="8" name="Text 6"/>
          <p:cNvSpPr/>
          <p:nvPr/>
        </p:nvSpPr>
        <p:spPr>
          <a:xfrm>
            <a:off x="2103120" y="1874520"/>
            <a:ext cx="3657600" cy="228600"/>
          </a:xfrm>
          <a:prstGeom prst="rect">
            <a:avLst/>
          </a:prstGeom>
          <a:noFill/>
          <a:ln/>
        </p:spPr>
        <p:txBody>
          <a:bodyPr wrap="square" lIns="0" tIns="0" rIns="0" bIns="0" rtlCol="0" anchor="ctr"/>
          <a:lstStyle/>
          <a:p>
            <a:pPr indent="0" marL="0">
              <a:buNone/>
            </a:pPr>
            <a:r>
              <a:rPr lang="en-US" sz="900" dirty="0">
                <a:solidFill>
                  <a:srgbClr val="5B7C99"/>
                </a:solidFill>
                <a:latin typeface="Consolas" pitchFamily="34" charset="0"/>
                <a:ea typeface="Consolas" pitchFamily="34" charset="-122"/>
                <a:cs typeface="Consolas" pitchFamily="34" charset="-120"/>
              </a:rPr>
              <a:t>HIGH AI CODE VELOCITY ▲</a:t>
            </a:r>
            <a:endParaRPr lang="en-US" sz="900" dirty="0"/>
          </a:p>
        </p:txBody>
      </p:sp>
      <p:sp>
        <p:nvSpPr>
          <p:cNvPr id="9" name="Text 7"/>
          <p:cNvSpPr/>
          <p:nvPr/>
        </p:nvSpPr>
        <p:spPr>
          <a:xfrm>
            <a:off x="2103120" y="5623560"/>
            <a:ext cx="3657600" cy="228600"/>
          </a:xfrm>
          <a:prstGeom prst="rect">
            <a:avLst/>
          </a:prstGeom>
          <a:noFill/>
          <a:ln/>
        </p:spPr>
        <p:txBody>
          <a:bodyPr wrap="square" lIns="0" tIns="0" rIns="0" bIns="0" rtlCol="0" anchor="ctr"/>
          <a:lstStyle/>
          <a:p>
            <a:pPr indent="0" marL="0">
              <a:buNone/>
            </a:pPr>
            <a:r>
              <a:rPr lang="en-US" sz="900" dirty="0">
                <a:solidFill>
                  <a:srgbClr val="57606A"/>
                </a:solidFill>
                <a:latin typeface="Consolas" pitchFamily="34" charset="0"/>
                <a:ea typeface="Consolas" pitchFamily="34" charset="-122"/>
                <a:cs typeface="Consolas" pitchFamily="34" charset="-120"/>
              </a:rPr>
              <a:t>LOW AI CODE VELOCITY ▼</a:t>
            </a:r>
            <a:endParaRPr lang="en-US" sz="900" dirty="0"/>
          </a:p>
        </p:txBody>
      </p:sp>
      <p:sp>
        <p:nvSpPr>
          <p:cNvPr id="10" name="Text 8"/>
          <p:cNvSpPr/>
          <p:nvPr/>
        </p:nvSpPr>
        <p:spPr>
          <a:xfrm>
            <a:off x="2103120" y="3931920"/>
            <a:ext cx="3657600" cy="228600"/>
          </a:xfrm>
          <a:prstGeom prst="rect">
            <a:avLst/>
          </a:prstGeom>
          <a:noFill/>
          <a:ln/>
        </p:spPr>
        <p:txBody>
          <a:bodyPr wrap="square" lIns="0" tIns="0" rIns="0" bIns="0" rtlCol="0" anchor="ctr"/>
          <a:lstStyle/>
          <a:p>
            <a:pPr indent="0" marL="0">
              <a:buNone/>
            </a:pPr>
            <a:r>
              <a:rPr lang="en-US" sz="900" dirty="0">
                <a:solidFill>
                  <a:srgbClr val="57606A"/>
                </a:solidFill>
                <a:latin typeface="Consolas" pitchFamily="34" charset="0"/>
                <a:ea typeface="Consolas" pitchFamily="34" charset="-122"/>
                <a:cs typeface="Consolas" pitchFamily="34" charset="-120"/>
              </a:rPr>
              <a:t>◀ LOW TEAM SECURITY EXPERTISE</a:t>
            </a:r>
            <a:endParaRPr lang="en-US" sz="900" dirty="0"/>
          </a:p>
        </p:txBody>
      </p:sp>
      <p:sp>
        <p:nvSpPr>
          <p:cNvPr id="11" name="Text 9"/>
          <p:cNvSpPr/>
          <p:nvPr/>
        </p:nvSpPr>
        <p:spPr>
          <a:xfrm>
            <a:off x="6400800" y="3931920"/>
            <a:ext cx="3657600" cy="228600"/>
          </a:xfrm>
          <a:prstGeom prst="rect">
            <a:avLst/>
          </a:prstGeom>
          <a:noFill/>
          <a:ln/>
        </p:spPr>
        <p:txBody>
          <a:bodyPr wrap="square" lIns="0" tIns="0" rIns="0" bIns="0" rtlCol="0" anchor="ctr"/>
          <a:lstStyle/>
          <a:p>
            <a:pPr algn="r" indent="0" marL="0">
              <a:buNone/>
            </a:pPr>
            <a:r>
              <a:rPr lang="en-US" sz="900" dirty="0">
                <a:solidFill>
                  <a:srgbClr val="57606A"/>
                </a:solidFill>
                <a:latin typeface="Consolas" pitchFamily="34" charset="0"/>
                <a:ea typeface="Consolas" pitchFamily="34" charset="-122"/>
                <a:cs typeface="Consolas" pitchFamily="34" charset="-120"/>
              </a:rPr>
              <a:t>HIGH TEAM SECURITY EXPERTISE ▶</a:t>
            </a:r>
            <a:endParaRPr lang="en-US" sz="900" dirty="0"/>
          </a:p>
        </p:txBody>
      </p:sp>
      <p:sp>
        <p:nvSpPr>
          <p:cNvPr id="12" name="Shape 10"/>
          <p:cNvSpPr/>
          <p:nvPr/>
        </p:nvSpPr>
        <p:spPr>
          <a:xfrm>
            <a:off x="3474720" y="2468880"/>
            <a:ext cx="320040" cy="320040"/>
          </a:xfrm>
          <a:prstGeom prst="ellipse">
            <a:avLst/>
          </a:prstGeom>
          <a:solidFill>
            <a:srgbClr val="E8A33D"/>
          </a:solidFill>
          <a:ln w="19050">
            <a:solidFill>
              <a:srgbClr val="F4F1EA"/>
            </a:solidFill>
            <a:prstDash val="solid"/>
          </a:ln>
        </p:spPr>
      </p:sp>
      <p:sp>
        <p:nvSpPr>
          <p:cNvPr id="13" name="Text 11"/>
          <p:cNvSpPr/>
          <p:nvPr/>
        </p:nvSpPr>
        <p:spPr>
          <a:xfrm>
            <a:off x="3931920" y="2395728"/>
            <a:ext cx="2011680" cy="320040"/>
          </a:xfrm>
          <a:prstGeom prst="rect">
            <a:avLst/>
          </a:prstGeom>
          <a:noFill/>
          <a:ln/>
        </p:spPr>
        <p:txBody>
          <a:bodyPr wrap="square" lIns="0" tIns="0" rIns="0" bIns="0" rtlCol="0" anchor="ctr"/>
          <a:lstStyle/>
          <a:p>
            <a:pPr indent="0" marL="0">
              <a:buNone/>
            </a:pPr>
            <a:r>
              <a:rPr lang="en-US" sz="1600" b="1" dirty="0">
                <a:solidFill>
                  <a:srgbClr val="E8A33D"/>
                </a:solidFill>
                <a:latin typeface="Georgia" pitchFamily="34" charset="0"/>
                <a:ea typeface="Georgia" pitchFamily="34" charset="-122"/>
                <a:cs typeface="Georgia" pitchFamily="34" charset="-120"/>
              </a:rPr>
              <a:t>VibeLens</a:t>
            </a:r>
            <a:endParaRPr lang="en-US" sz="1600" dirty="0"/>
          </a:p>
        </p:txBody>
      </p:sp>
      <p:sp>
        <p:nvSpPr>
          <p:cNvPr id="14" name="Text 12"/>
          <p:cNvSpPr/>
          <p:nvPr/>
        </p:nvSpPr>
        <p:spPr>
          <a:xfrm>
            <a:off x="3931920" y="2697480"/>
            <a:ext cx="2560320" cy="731520"/>
          </a:xfrm>
          <a:prstGeom prst="rect">
            <a:avLst/>
          </a:prstGeom>
          <a:noFill/>
          <a:ln/>
        </p:spPr>
        <p:txBody>
          <a:bodyPr wrap="square" lIns="0" tIns="0" rIns="0" bIns="0" rtlCol="0" anchor="ctr"/>
          <a:lstStyle/>
          <a:p>
            <a:pPr indent="0" marL="0">
              <a:buNone/>
            </a:pPr>
            <a:r>
              <a:rPr lang="en-US" sz="1000" dirty="0">
                <a:solidFill>
                  <a:srgbClr val="F4F1EA"/>
                </a:solidFill>
                <a:latin typeface="Arial" pitchFamily="34" charset="0"/>
                <a:ea typeface="Arial" pitchFamily="34" charset="-122"/>
                <a:cs typeface="Arial" pitchFamily="34" charset="-120"/>
              </a:rPr>
              <a:t>AI Vibe Coders &amp; Lean Startups</a:t>
            </a:r>
            <a:endParaRPr lang="en-US" sz="1000" dirty="0"/>
          </a:p>
          <a:p>
            <a:pPr indent="0" marL="0">
              <a:buNone/>
            </a:pPr>
            <a:r>
              <a:rPr lang="en-US" sz="1000" dirty="0">
                <a:solidFill>
                  <a:srgbClr val="F4F1EA"/>
                </a:solidFill>
                <a:latin typeface="Arial" pitchFamily="34" charset="0"/>
                <a:ea typeface="Arial" pitchFamily="34" charset="-122"/>
                <a:cs typeface="Arial" pitchFamily="34" charset="-120"/>
              </a:rPr>
              <a:t>High velocity, 0 dedicated AppSec staff.</a:t>
            </a:r>
            <a:endParaRPr lang="en-US" sz="1000" dirty="0"/>
          </a:p>
          <a:p>
            <a:pPr indent="0" marL="0">
              <a:buNone/>
            </a:pPr>
            <a:r>
              <a:rPr lang="en-US" sz="1000" dirty="0">
                <a:solidFill>
                  <a:srgbClr val="F4F1EA"/>
                </a:solidFill>
                <a:latin typeface="Arial" pitchFamily="34" charset="0"/>
                <a:ea typeface="Arial" pitchFamily="34" charset="-122"/>
                <a:cs typeface="Arial" pitchFamily="34" charset="-120"/>
              </a:rPr>
              <a:t>Needs instant, non-blocking noise filtering.</a:t>
            </a:r>
            <a:endParaRPr lang="en-US" sz="1000" dirty="0"/>
          </a:p>
        </p:txBody>
      </p:sp>
      <p:sp>
        <p:nvSpPr>
          <p:cNvPr id="15" name="Text 13"/>
          <p:cNvSpPr/>
          <p:nvPr/>
        </p:nvSpPr>
        <p:spPr>
          <a:xfrm>
            <a:off x="6858000" y="2377440"/>
            <a:ext cx="3200400" cy="731520"/>
          </a:xfrm>
          <a:prstGeom prst="rect">
            <a:avLst/>
          </a:prstGeom>
          <a:noFill/>
          <a:ln/>
        </p:spPr>
        <p:txBody>
          <a:bodyPr wrap="square" lIns="0" tIns="0" rIns="0" bIns="0" rtlCol="0" anchor="ctr"/>
          <a:lstStyle/>
          <a:p>
            <a:pPr indent="0" marL="0">
              <a:buNone/>
            </a:pPr>
            <a:r>
              <a:rPr lang="en-US" sz="1000" dirty="0">
                <a:solidFill>
                  <a:srgbClr val="57606A"/>
                </a:solidFill>
                <a:latin typeface="Arial" pitchFamily="34" charset="0"/>
                <a:ea typeface="Arial" pitchFamily="34" charset="-122"/>
                <a:cs typeface="Arial" pitchFamily="34" charset="-120"/>
              </a:rPr>
              <a:t>Enterprise AppSec Platforms</a:t>
            </a:r>
            <a:endParaRPr lang="en-US" sz="1000" dirty="0"/>
          </a:p>
          <a:p>
            <a:pPr indent="0" marL="0">
              <a:buNone/>
            </a:pPr>
            <a:r>
              <a:rPr lang="en-US" sz="1000" dirty="0">
                <a:solidFill>
                  <a:srgbClr val="57606A"/>
                </a:solidFill>
                <a:latin typeface="Arial" pitchFamily="34" charset="0"/>
                <a:ea typeface="Arial" pitchFamily="34" charset="-122"/>
                <a:cs typeface="Arial" pitchFamily="34" charset="-120"/>
              </a:rPr>
              <a:t>(Snyk, Veracode, Checkmarx)</a:t>
            </a:r>
            <a:endParaRPr lang="en-US" sz="1000" dirty="0"/>
          </a:p>
          <a:p>
            <a:pPr indent="0" marL="0">
              <a:buNone/>
            </a:pPr>
            <a:r>
              <a:rPr lang="en-US" sz="1000" dirty="0">
                <a:solidFill>
                  <a:srgbClr val="57606A"/>
                </a:solidFill>
                <a:latin typeface="Arial" pitchFamily="34" charset="0"/>
                <a:ea typeface="Arial" pitchFamily="34" charset="-122"/>
                <a:cs typeface="Arial" pitchFamily="34" charset="-120"/>
              </a:rPr>
              <a:t>Heavy compliance, manual review teams</a:t>
            </a:r>
            <a:endParaRPr lang="en-US" sz="1000" dirty="0"/>
          </a:p>
        </p:txBody>
      </p:sp>
      <p:sp>
        <p:nvSpPr>
          <p:cNvPr id="16" name="Text 14"/>
          <p:cNvSpPr/>
          <p:nvPr/>
        </p:nvSpPr>
        <p:spPr>
          <a:xfrm>
            <a:off x="2286000" y="4846320"/>
            <a:ext cx="3474720" cy="731520"/>
          </a:xfrm>
          <a:prstGeom prst="rect">
            <a:avLst/>
          </a:prstGeom>
          <a:noFill/>
          <a:ln/>
        </p:spPr>
        <p:txBody>
          <a:bodyPr wrap="square" lIns="0" tIns="0" rIns="0" bIns="0" rtlCol="0" anchor="ctr"/>
          <a:lstStyle/>
          <a:p>
            <a:pPr indent="0" marL="0">
              <a:buNone/>
            </a:pPr>
            <a:r>
              <a:rPr lang="en-US" sz="1000" dirty="0">
                <a:solidFill>
                  <a:srgbClr val="57606A"/>
                </a:solidFill>
                <a:latin typeface="Arial" pitchFamily="34" charset="0"/>
                <a:ea typeface="Arial" pitchFamily="34" charset="-122"/>
                <a:cs typeface="Arial" pitchFamily="34" charset="-120"/>
              </a:rPr>
              <a:t>Traditional Dependency Audits</a:t>
            </a:r>
            <a:endParaRPr lang="en-US" sz="1000" dirty="0"/>
          </a:p>
          <a:p>
            <a:pPr indent="0" marL="0">
              <a:buNone/>
            </a:pPr>
            <a:r>
              <a:rPr lang="en-US" sz="1000" dirty="0">
                <a:solidFill>
                  <a:srgbClr val="57606A"/>
                </a:solidFill>
                <a:latin typeface="Arial" pitchFamily="34" charset="0"/>
                <a:ea typeface="Arial" pitchFamily="34" charset="-122"/>
                <a:cs typeface="Arial" pitchFamily="34" charset="-120"/>
              </a:rPr>
              <a:t>(npm audit, Dependabot PR flood)</a:t>
            </a:r>
            <a:endParaRPr lang="en-US" sz="1000" dirty="0"/>
          </a:p>
          <a:p>
            <a:pPr indent="0" marL="0">
              <a:buNone/>
            </a:pPr>
            <a:r>
              <a:rPr lang="en-US" sz="1000" dirty="0">
                <a:solidFill>
                  <a:srgbClr val="57606A"/>
                </a:solidFill>
                <a:latin typeface="Arial" pitchFamily="34" charset="0"/>
                <a:ea typeface="Arial" pitchFamily="34" charset="-122"/>
                <a:cs typeface="Arial" pitchFamily="34" charset="-120"/>
              </a:rPr>
              <a:t>High friction, blind version checking</a:t>
            </a:r>
            <a:endParaRPr lang="en-US" sz="1000" dirty="0"/>
          </a:p>
        </p:txBody>
      </p:sp>
      <p:sp>
        <p:nvSpPr>
          <p:cNvPr id="17" name="Text 15"/>
          <p:cNvSpPr/>
          <p:nvPr/>
        </p:nvSpPr>
        <p:spPr>
          <a:xfrm>
            <a:off x="6858000" y="4846320"/>
            <a:ext cx="3200400" cy="731520"/>
          </a:xfrm>
          <a:prstGeom prst="rect">
            <a:avLst/>
          </a:prstGeom>
          <a:noFill/>
          <a:ln/>
        </p:spPr>
        <p:txBody>
          <a:bodyPr wrap="square" lIns="0" tIns="0" rIns="0" bIns="0" rtlCol="0" anchor="ctr"/>
          <a:lstStyle/>
          <a:p>
            <a:pPr indent="0" marL="0">
              <a:buNone/>
            </a:pPr>
            <a:r>
              <a:rPr lang="en-US" sz="1000" dirty="0">
                <a:solidFill>
                  <a:srgbClr val="57606A"/>
                </a:solidFill>
                <a:latin typeface="Arial" pitchFamily="34" charset="0"/>
                <a:ea typeface="Arial" pitchFamily="34" charset="-122"/>
                <a:cs typeface="Arial" pitchFamily="34" charset="-120"/>
              </a:rPr>
              <a:t>Manual Code Review &amp; Security Consultancies</a:t>
            </a:r>
            <a:endParaRPr lang="en-US" sz="1000" dirty="0"/>
          </a:p>
          <a:p>
            <a:pPr indent="0" marL="0">
              <a:buNone/>
            </a:pPr>
            <a:r>
              <a:rPr lang="en-US" sz="1000" dirty="0">
                <a:solidFill>
                  <a:srgbClr val="57606A"/>
                </a:solidFill>
                <a:latin typeface="Arial" pitchFamily="34" charset="0"/>
                <a:ea typeface="Arial" pitchFamily="34" charset="-122"/>
                <a:cs typeface="Arial" pitchFamily="34" charset="-120"/>
              </a:rPr>
              <a:t>High cost, slow turnaround</a:t>
            </a:r>
            <a:endParaRPr lang="en-US" sz="1000" dirty="0"/>
          </a:p>
        </p:txBody>
      </p:sp>
      <p:sp>
        <p:nvSpPr>
          <p:cNvPr id="18" name="Text 16"/>
          <p:cNvSpPr/>
          <p:nvPr/>
        </p:nvSpPr>
        <p:spPr>
          <a:xfrm>
            <a:off x="914400" y="6400800"/>
            <a:ext cx="10332720" cy="228600"/>
          </a:xfrm>
          <a:prstGeom prst="rect">
            <a:avLst/>
          </a:prstGeom>
          <a:noFill/>
          <a:ln/>
        </p:spPr>
        <p:txBody>
          <a:bodyPr wrap="square" lIns="0" tIns="0" rIns="0" bIns="0" rtlCol="0" anchor="ctr"/>
          <a:lstStyle/>
          <a:p>
            <a:pPr indent="0" marL="0">
              <a:buNone/>
            </a:pPr>
            <a:r>
              <a:rPr lang="en-US" sz="900" dirty="0">
                <a:solidFill>
                  <a:srgbClr val="57606A"/>
                </a:solidFill>
                <a:latin typeface="Consolas" pitchFamily="34" charset="0"/>
                <a:ea typeface="Consolas" pitchFamily="34" charset="-122"/>
                <a:cs typeface="Consolas" pitchFamily="34" charset="-120"/>
              </a:rPr>
              <a:t>VIBELENS // INSPECTION BENCH // 100% LOCAL PRIVACY // ZERO CLOUD LEAKS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14400" y="548640"/>
            <a:ext cx="7315200" cy="274320"/>
          </a:xfrm>
          <a:prstGeom prst="rect">
            <a:avLst/>
          </a:prstGeom>
          <a:noFill/>
          <a:ln/>
        </p:spPr>
        <p:txBody>
          <a:bodyPr wrap="square" lIns="0" tIns="0" rIns="0" bIns="0" rtlCol="0" anchor="ctr"/>
          <a:lstStyle/>
          <a:p>
            <a:pPr indent="0" marL="0">
              <a:buNone/>
            </a:pPr>
            <a:r>
              <a:rPr lang="en-US" sz="1000" dirty="0">
                <a:solidFill>
                  <a:srgbClr val="5B7C99"/>
                </a:solidFill>
                <a:latin typeface="Consolas" pitchFamily="34" charset="0"/>
                <a:ea typeface="Consolas" pitchFamily="34" charset="-122"/>
                <a:cs typeface="Consolas" pitchFamily="34" charset="-120"/>
              </a:rPr>
              <a:t>[ ARCHITECTURE // LEFT-TO-RIGHT ENGINE FLOW ]</a:t>
            </a:r>
            <a:endParaRPr lang="en-US" sz="1000" dirty="0"/>
          </a:p>
        </p:txBody>
      </p:sp>
      <p:sp>
        <p:nvSpPr>
          <p:cNvPr id="3" name="Text 1"/>
          <p:cNvSpPr/>
          <p:nvPr/>
        </p:nvSpPr>
        <p:spPr>
          <a:xfrm>
            <a:off x="9418320" y="548640"/>
            <a:ext cx="1828800" cy="274320"/>
          </a:xfrm>
          <a:prstGeom prst="rect">
            <a:avLst/>
          </a:prstGeom>
          <a:noFill/>
          <a:ln/>
        </p:spPr>
        <p:txBody>
          <a:bodyPr wrap="square" lIns="0" tIns="0" rIns="0" bIns="0" rtlCol="0" anchor="ctr"/>
          <a:lstStyle/>
          <a:p>
            <a:pPr algn="r" indent="0" marL="0">
              <a:buNone/>
            </a:pPr>
            <a:r>
              <a:rPr lang="en-US" sz="1000" dirty="0">
                <a:solidFill>
                  <a:srgbClr val="8C959F"/>
                </a:solidFill>
                <a:latin typeface="Consolas" pitchFamily="34" charset="0"/>
                <a:ea typeface="Consolas" pitchFamily="34" charset="-122"/>
                <a:cs typeface="Consolas" pitchFamily="34" charset="-120"/>
              </a:rPr>
              <a:t>SLIDE 10 / 12</a:t>
            </a:r>
            <a:endParaRPr lang="en-US" sz="1000" dirty="0"/>
          </a:p>
        </p:txBody>
      </p:sp>
      <p:sp>
        <p:nvSpPr>
          <p:cNvPr id="4" name="Text 2"/>
          <p:cNvSpPr/>
          <p:nvPr/>
        </p:nvSpPr>
        <p:spPr>
          <a:xfrm>
            <a:off x="914400" y="1005840"/>
            <a:ext cx="10332720" cy="411480"/>
          </a:xfrm>
          <a:prstGeom prst="rect">
            <a:avLst/>
          </a:prstGeom>
          <a:noFill/>
          <a:ln/>
        </p:spPr>
        <p:txBody>
          <a:bodyPr wrap="square" lIns="0" tIns="0" rIns="0" bIns="0" rtlCol="0" anchor="ctr"/>
          <a:lstStyle/>
          <a:p>
            <a:pPr indent="0" marL="0">
              <a:buNone/>
            </a:pPr>
            <a:r>
              <a:rPr lang="en-US" sz="2200" b="1" dirty="0">
                <a:solidFill>
                  <a:srgbClr val="1C1F24"/>
                </a:solidFill>
                <a:latin typeface="Georgia" pitchFamily="34" charset="0"/>
                <a:ea typeface="Georgia" pitchFamily="34" charset="-122"/>
                <a:cs typeface="Georgia" pitchFamily="34" charset="-120"/>
              </a:rPr>
              <a:t>Under the Hood: 4 Outlined Toolchain Components</a:t>
            </a:r>
            <a:endParaRPr lang="en-US" sz="2200" dirty="0"/>
          </a:p>
        </p:txBody>
      </p:sp>
      <p:sp>
        <p:nvSpPr>
          <p:cNvPr id="5" name="Shape 3"/>
          <p:cNvSpPr/>
          <p:nvPr/>
        </p:nvSpPr>
        <p:spPr>
          <a:xfrm>
            <a:off x="1371600" y="3291840"/>
            <a:ext cx="9418320" cy="0"/>
          </a:xfrm>
          <a:prstGeom prst="line">
            <a:avLst/>
          </a:prstGeom>
          <a:noFill/>
          <a:ln w="31750">
            <a:solidFill>
              <a:srgbClr val="E8A33D"/>
            </a:solidFill>
            <a:prstDash val="solid"/>
          </a:ln>
        </p:spPr>
      </p:sp>
      <p:sp>
        <p:nvSpPr>
          <p:cNvPr id="6" name="Shape 4"/>
          <p:cNvSpPr/>
          <p:nvPr/>
        </p:nvSpPr>
        <p:spPr>
          <a:xfrm>
            <a:off x="914400" y="1828800"/>
            <a:ext cx="2130552" cy="4114800"/>
          </a:xfrm>
          <a:prstGeom prst="rect">
            <a:avLst/>
          </a:prstGeom>
          <a:solidFill>
            <a:srgbClr val="F4F1EA"/>
          </a:solidFill>
          <a:ln w="19050">
            <a:solidFill>
              <a:srgbClr val="D0CBC1"/>
            </a:solidFill>
            <a:prstDash val="solid"/>
          </a:ln>
        </p:spPr>
      </p:sp>
      <p:sp>
        <p:nvSpPr>
          <p:cNvPr id="7" name="Text 5"/>
          <p:cNvSpPr/>
          <p:nvPr/>
        </p:nvSpPr>
        <p:spPr>
          <a:xfrm>
            <a:off x="1097280" y="2011680"/>
            <a:ext cx="1737360" cy="274320"/>
          </a:xfrm>
          <a:prstGeom prst="rect">
            <a:avLst/>
          </a:prstGeom>
          <a:noFill/>
          <a:ln/>
        </p:spPr>
        <p:txBody>
          <a:bodyPr wrap="square" lIns="0" tIns="0" rIns="0" bIns="0" rtlCol="0" anchor="ctr"/>
          <a:lstStyle/>
          <a:p>
            <a:pPr indent="0" marL="0">
              <a:buNone/>
            </a:pPr>
            <a:r>
              <a:rPr lang="en-US" sz="1600" b="1" dirty="0">
                <a:solidFill>
                  <a:srgbClr val="E8A33D"/>
                </a:solidFill>
                <a:latin typeface="Georgia" pitchFamily="34" charset="0"/>
                <a:ea typeface="Georgia" pitchFamily="34" charset="-122"/>
                <a:cs typeface="Georgia" pitchFamily="34" charset="-120"/>
              </a:rPr>
              <a:t>01</a:t>
            </a:r>
            <a:endParaRPr lang="en-US" sz="1600" dirty="0"/>
          </a:p>
        </p:txBody>
      </p:sp>
      <p:sp>
        <p:nvSpPr>
          <p:cNvPr id="8" name="Text 6"/>
          <p:cNvSpPr/>
          <p:nvPr/>
        </p:nvSpPr>
        <p:spPr>
          <a:xfrm>
            <a:off x="1097280" y="2331720"/>
            <a:ext cx="1737360" cy="274320"/>
          </a:xfrm>
          <a:prstGeom prst="rect">
            <a:avLst/>
          </a:prstGeom>
          <a:noFill/>
          <a:ln/>
        </p:spPr>
        <p:txBody>
          <a:bodyPr wrap="square" lIns="0" tIns="0" rIns="0" bIns="0" rtlCol="0" anchor="ctr"/>
          <a:lstStyle/>
          <a:p>
            <a:pPr indent="0" marL="0">
              <a:buNone/>
            </a:pPr>
            <a:r>
              <a:rPr lang="en-US" sz="900" b="1" dirty="0">
                <a:solidFill>
                  <a:srgbClr val="5B7C99"/>
                </a:solidFill>
                <a:latin typeface="Consolas" pitchFamily="34" charset="0"/>
                <a:ea typeface="Consolas" pitchFamily="34" charset="-122"/>
                <a:cs typeface="Consolas" pitchFamily="34" charset="-120"/>
              </a:rPr>
              <a:t>AST PARSER &amp; LEXER</a:t>
            </a:r>
            <a:endParaRPr lang="en-US" sz="900" dirty="0"/>
          </a:p>
        </p:txBody>
      </p:sp>
      <p:sp>
        <p:nvSpPr>
          <p:cNvPr id="9" name="Shape 7"/>
          <p:cNvSpPr/>
          <p:nvPr/>
        </p:nvSpPr>
        <p:spPr>
          <a:xfrm>
            <a:off x="1097280" y="2651760"/>
            <a:ext cx="1764792" cy="640080"/>
          </a:xfrm>
          <a:prstGeom prst="rect">
            <a:avLst/>
          </a:prstGeom>
          <a:solidFill>
            <a:srgbClr val="ECE8E0"/>
          </a:solidFill>
          <a:ln w="12700">
            <a:solidFill>
              <a:srgbClr val="D0CBC1"/>
            </a:solidFill>
            <a:prstDash val="solid"/>
          </a:ln>
        </p:spPr>
      </p:sp>
      <p:sp>
        <p:nvSpPr>
          <p:cNvPr id="10" name="Text 8"/>
          <p:cNvSpPr/>
          <p:nvPr/>
        </p:nvSpPr>
        <p:spPr>
          <a:xfrm>
            <a:off x="1143000" y="2724912"/>
            <a:ext cx="1673352" cy="228600"/>
          </a:xfrm>
          <a:prstGeom prst="rect">
            <a:avLst/>
          </a:prstGeom>
          <a:noFill/>
          <a:ln/>
        </p:spPr>
        <p:txBody>
          <a:bodyPr wrap="square" lIns="0" tIns="0" rIns="0" bIns="0" rtlCol="0" anchor="ctr"/>
          <a:lstStyle/>
          <a:p>
            <a:pPr indent="0" marL="0">
              <a:buNone/>
            </a:pPr>
            <a:r>
              <a:rPr lang="en-US" sz="1000" b="1" dirty="0">
                <a:solidFill>
                  <a:srgbClr val="1C1F24"/>
                </a:solidFill>
                <a:latin typeface="Consolas" pitchFamily="34" charset="0"/>
                <a:ea typeface="Consolas" pitchFamily="34" charset="-122"/>
                <a:cs typeface="Consolas" pitchFamily="34" charset="-120"/>
              </a:rPr>
              <a:t>@babel/parser</a:t>
            </a:r>
            <a:endParaRPr lang="en-US" sz="1000" dirty="0"/>
          </a:p>
        </p:txBody>
      </p:sp>
      <p:sp>
        <p:nvSpPr>
          <p:cNvPr id="11" name="Text 9"/>
          <p:cNvSpPr/>
          <p:nvPr/>
        </p:nvSpPr>
        <p:spPr>
          <a:xfrm>
            <a:off x="1143000" y="2971800"/>
            <a:ext cx="1673352" cy="228600"/>
          </a:xfrm>
          <a:prstGeom prst="rect">
            <a:avLst/>
          </a:prstGeom>
          <a:noFill/>
          <a:ln/>
        </p:spPr>
        <p:txBody>
          <a:bodyPr wrap="square" lIns="0" tIns="0" rIns="0" bIns="0" rtlCol="0" anchor="ctr"/>
          <a:lstStyle/>
          <a:p>
            <a:pPr indent="0" marL="0">
              <a:buNone/>
            </a:pPr>
            <a:r>
              <a:rPr lang="en-US" sz="800" dirty="0">
                <a:solidFill>
                  <a:srgbClr val="57606A"/>
                </a:solidFill>
                <a:latin typeface="Consolas" pitchFamily="34" charset="0"/>
                <a:ea typeface="Consolas" pitchFamily="34" charset="-122"/>
                <a:cs typeface="Consolas" pitchFamily="34" charset="-120"/>
              </a:rPr>
              <a:t>+ es-module-lexer</a:t>
            </a:r>
            <a:endParaRPr lang="en-US" sz="800" dirty="0"/>
          </a:p>
        </p:txBody>
      </p:sp>
      <p:sp>
        <p:nvSpPr>
          <p:cNvPr id="12" name="Text 10"/>
          <p:cNvSpPr/>
          <p:nvPr/>
        </p:nvSpPr>
        <p:spPr>
          <a:xfrm>
            <a:off x="1097280" y="3749040"/>
            <a:ext cx="1764792" cy="2011680"/>
          </a:xfrm>
          <a:prstGeom prst="rect">
            <a:avLst/>
          </a:prstGeom>
          <a:noFill/>
          <a:ln/>
        </p:spPr>
        <p:txBody>
          <a:bodyPr wrap="square" lIns="0" tIns="0" rIns="0" bIns="0" rtlCol="0" anchor="ctr"/>
          <a:lstStyle/>
          <a:p>
            <a:pPr indent="0" marL="0">
              <a:buNone/>
            </a:pPr>
            <a:r>
              <a:rPr lang="en-US" sz="1100" dirty="0">
                <a:solidFill>
                  <a:srgbClr val="57606A"/>
                </a:solidFill>
                <a:latin typeface="Arial" pitchFamily="34" charset="0"/>
                <a:ea typeface="Arial" pitchFamily="34" charset="-122"/>
                <a:cs typeface="Arial" pitchFamily="34" charset="-120"/>
              </a:rPr>
              <a:t>Parses local TypeScript and JavaScript directly on-device. Extracts import/export bindings without cloud code uploads.</a:t>
            </a:r>
            <a:endParaRPr lang="en-US" sz="1100" dirty="0"/>
          </a:p>
        </p:txBody>
      </p:sp>
      <p:sp>
        <p:nvSpPr>
          <p:cNvPr id="13" name="Shape 11"/>
          <p:cNvSpPr/>
          <p:nvPr/>
        </p:nvSpPr>
        <p:spPr>
          <a:xfrm>
            <a:off x="3657600" y="1828800"/>
            <a:ext cx="2130552" cy="4114800"/>
          </a:xfrm>
          <a:prstGeom prst="rect">
            <a:avLst/>
          </a:prstGeom>
          <a:solidFill>
            <a:srgbClr val="F4F1EA"/>
          </a:solidFill>
          <a:ln w="19050">
            <a:solidFill>
              <a:srgbClr val="D0CBC1"/>
            </a:solidFill>
            <a:prstDash val="solid"/>
          </a:ln>
        </p:spPr>
      </p:sp>
      <p:sp>
        <p:nvSpPr>
          <p:cNvPr id="14" name="Text 12"/>
          <p:cNvSpPr/>
          <p:nvPr/>
        </p:nvSpPr>
        <p:spPr>
          <a:xfrm>
            <a:off x="3840480" y="2011680"/>
            <a:ext cx="1737360" cy="274320"/>
          </a:xfrm>
          <a:prstGeom prst="rect">
            <a:avLst/>
          </a:prstGeom>
          <a:noFill/>
          <a:ln/>
        </p:spPr>
        <p:txBody>
          <a:bodyPr wrap="square" lIns="0" tIns="0" rIns="0" bIns="0" rtlCol="0" anchor="ctr"/>
          <a:lstStyle/>
          <a:p>
            <a:pPr indent="0" marL="0">
              <a:buNone/>
            </a:pPr>
            <a:r>
              <a:rPr lang="en-US" sz="1600" b="1" dirty="0">
                <a:solidFill>
                  <a:srgbClr val="E8A33D"/>
                </a:solidFill>
                <a:latin typeface="Georgia" pitchFamily="34" charset="0"/>
                <a:ea typeface="Georgia" pitchFamily="34" charset="-122"/>
                <a:cs typeface="Georgia" pitchFamily="34" charset="-120"/>
              </a:rPr>
              <a:t>02</a:t>
            </a:r>
            <a:endParaRPr lang="en-US" sz="1600" dirty="0"/>
          </a:p>
        </p:txBody>
      </p:sp>
      <p:sp>
        <p:nvSpPr>
          <p:cNvPr id="15" name="Text 13"/>
          <p:cNvSpPr/>
          <p:nvPr/>
        </p:nvSpPr>
        <p:spPr>
          <a:xfrm>
            <a:off x="3840480" y="2331720"/>
            <a:ext cx="1737360" cy="274320"/>
          </a:xfrm>
          <a:prstGeom prst="rect">
            <a:avLst/>
          </a:prstGeom>
          <a:noFill/>
          <a:ln/>
        </p:spPr>
        <p:txBody>
          <a:bodyPr wrap="square" lIns="0" tIns="0" rIns="0" bIns="0" rtlCol="0" anchor="ctr"/>
          <a:lstStyle/>
          <a:p>
            <a:pPr indent="0" marL="0">
              <a:buNone/>
            </a:pPr>
            <a:r>
              <a:rPr lang="en-US" sz="900" b="1" dirty="0">
                <a:solidFill>
                  <a:srgbClr val="5B7C99"/>
                </a:solidFill>
                <a:latin typeface="Consolas" pitchFamily="34" charset="0"/>
                <a:ea typeface="Consolas" pitchFamily="34" charset="-122"/>
                <a:cs typeface="Consolas" pitchFamily="34" charset="-120"/>
              </a:rPr>
              <a:t>IMPORT GRAPH ENGINE</a:t>
            </a:r>
            <a:endParaRPr lang="en-US" sz="900" dirty="0"/>
          </a:p>
        </p:txBody>
      </p:sp>
      <p:sp>
        <p:nvSpPr>
          <p:cNvPr id="16" name="Shape 14"/>
          <p:cNvSpPr/>
          <p:nvPr/>
        </p:nvSpPr>
        <p:spPr>
          <a:xfrm>
            <a:off x="3840480" y="2651760"/>
            <a:ext cx="1764792" cy="640080"/>
          </a:xfrm>
          <a:prstGeom prst="rect">
            <a:avLst/>
          </a:prstGeom>
          <a:solidFill>
            <a:srgbClr val="ECE8E0"/>
          </a:solidFill>
          <a:ln w="12700">
            <a:solidFill>
              <a:srgbClr val="D0CBC1"/>
            </a:solidFill>
            <a:prstDash val="solid"/>
          </a:ln>
        </p:spPr>
      </p:sp>
      <p:sp>
        <p:nvSpPr>
          <p:cNvPr id="17" name="Text 15"/>
          <p:cNvSpPr/>
          <p:nvPr/>
        </p:nvSpPr>
        <p:spPr>
          <a:xfrm>
            <a:off x="3886200" y="2724912"/>
            <a:ext cx="1673352" cy="228600"/>
          </a:xfrm>
          <a:prstGeom prst="rect">
            <a:avLst/>
          </a:prstGeom>
          <a:noFill/>
          <a:ln/>
        </p:spPr>
        <p:txBody>
          <a:bodyPr wrap="square" lIns="0" tIns="0" rIns="0" bIns="0" rtlCol="0" anchor="ctr"/>
          <a:lstStyle/>
          <a:p>
            <a:pPr indent="0" marL="0">
              <a:buNone/>
            </a:pPr>
            <a:r>
              <a:rPr lang="en-US" sz="1000" b="1" dirty="0">
                <a:solidFill>
                  <a:srgbClr val="1C1F24"/>
                </a:solidFill>
                <a:latin typeface="Consolas" pitchFamily="34" charset="0"/>
                <a:ea typeface="Consolas" pitchFamily="34" charset="-122"/>
                <a:cs typeface="Consolas" pitchFamily="34" charset="-120"/>
              </a:rPr>
              <a:t>Call-Graph Engine</a:t>
            </a:r>
            <a:endParaRPr lang="en-US" sz="1000" dirty="0"/>
          </a:p>
        </p:txBody>
      </p:sp>
      <p:sp>
        <p:nvSpPr>
          <p:cNvPr id="18" name="Text 16"/>
          <p:cNvSpPr/>
          <p:nvPr/>
        </p:nvSpPr>
        <p:spPr>
          <a:xfrm>
            <a:off x="3886200" y="2971800"/>
            <a:ext cx="1673352" cy="228600"/>
          </a:xfrm>
          <a:prstGeom prst="rect">
            <a:avLst/>
          </a:prstGeom>
          <a:noFill/>
          <a:ln/>
        </p:spPr>
        <p:txBody>
          <a:bodyPr wrap="square" lIns="0" tIns="0" rIns="0" bIns="0" rtlCol="0" anchor="ctr"/>
          <a:lstStyle/>
          <a:p>
            <a:pPr indent="0" marL="0">
              <a:buNone/>
            </a:pPr>
            <a:r>
              <a:rPr lang="en-US" sz="800" dirty="0">
                <a:solidFill>
                  <a:srgbClr val="57606A"/>
                </a:solidFill>
                <a:latin typeface="Consolas" pitchFamily="34" charset="0"/>
                <a:ea typeface="Consolas" pitchFamily="34" charset="-122"/>
                <a:cs typeface="Consolas" pitchFamily="34" charset="-120"/>
              </a:rPr>
              <a:t>Deterministic Directed Graph</a:t>
            </a:r>
            <a:endParaRPr lang="en-US" sz="800" dirty="0"/>
          </a:p>
        </p:txBody>
      </p:sp>
      <p:sp>
        <p:nvSpPr>
          <p:cNvPr id="19" name="Text 17"/>
          <p:cNvSpPr/>
          <p:nvPr/>
        </p:nvSpPr>
        <p:spPr>
          <a:xfrm>
            <a:off x="3840480" y="3749040"/>
            <a:ext cx="1764792" cy="2011680"/>
          </a:xfrm>
          <a:prstGeom prst="rect">
            <a:avLst/>
          </a:prstGeom>
          <a:noFill/>
          <a:ln/>
        </p:spPr>
        <p:txBody>
          <a:bodyPr wrap="square" lIns="0" tIns="0" rIns="0" bIns="0" rtlCol="0" anchor="ctr"/>
          <a:lstStyle/>
          <a:p>
            <a:pPr indent="0" marL="0">
              <a:buNone/>
            </a:pPr>
            <a:r>
              <a:rPr lang="en-US" sz="1100" dirty="0">
                <a:solidFill>
                  <a:srgbClr val="57606A"/>
                </a:solidFill>
                <a:latin typeface="Arial" pitchFamily="34" charset="0"/>
                <a:ea typeface="Arial" pitchFamily="34" charset="-122"/>
                <a:cs typeface="Arial" pitchFamily="34" charset="-120"/>
              </a:rPr>
              <a:t>Constructs in-memory symbol graph connecting route handlers to deep utility functions.</a:t>
            </a:r>
            <a:endParaRPr lang="en-US" sz="1100" dirty="0"/>
          </a:p>
        </p:txBody>
      </p:sp>
      <p:sp>
        <p:nvSpPr>
          <p:cNvPr id="20" name="Shape 18"/>
          <p:cNvSpPr/>
          <p:nvPr/>
        </p:nvSpPr>
        <p:spPr>
          <a:xfrm>
            <a:off x="6400800" y="1828800"/>
            <a:ext cx="2130552" cy="4114800"/>
          </a:xfrm>
          <a:prstGeom prst="rect">
            <a:avLst/>
          </a:prstGeom>
          <a:solidFill>
            <a:srgbClr val="F4F1EA"/>
          </a:solidFill>
          <a:ln w="19050">
            <a:solidFill>
              <a:srgbClr val="D0CBC1"/>
            </a:solidFill>
            <a:prstDash val="solid"/>
          </a:ln>
        </p:spPr>
      </p:sp>
      <p:sp>
        <p:nvSpPr>
          <p:cNvPr id="21" name="Text 19"/>
          <p:cNvSpPr/>
          <p:nvPr/>
        </p:nvSpPr>
        <p:spPr>
          <a:xfrm>
            <a:off x="6583680" y="2011680"/>
            <a:ext cx="1737360" cy="274320"/>
          </a:xfrm>
          <a:prstGeom prst="rect">
            <a:avLst/>
          </a:prstGeom>
          <a:noFill/>
          <a:ln/>
        </p:spPr>
        <p:txBody>
          <a:bodyPr wrap="square" lIns="0" tIns="0" rIns="0" bIns="0" rtlCol="0" anchor="ctr"/>
          <a:lstStyle/>
          <a:p>
            <a:pPr indent="0" marL="0">
              <a:buNone/>
            </a:pPr>
            <a:r>
              <a:rPr lang="en-US" sz="1600" b="1" dirty="0">
                <a:solidFill>
                  <a:srgbClr val="E8A33D"/>
                </a:solidFill>
                <a:latin typeface="Georgia" pitchFamily="34" charset="0"/>
                <a:ea typeface="Georgia" pitchFamily="34" charset="-122"/>
                <a:cs typeface="Georgia" pitchFamily="34" charset="-120"/>
              </a:rPr>
              <a:t>03</a:t>
            </a:r>
            <a:endParaRPr lang="en-US" sz="1600" dirty="0"/>
          </a:p>
        </p:txBody>
      </p:sp>
      <p:sp>
        <p:nvSpPr>
          <p:cNvPr id="22" name="Text 20"/>
          <p:cNvSpPr/>
          <p:nvPr/>
        </p:nvSpPr>
        <p:spPr>
          <a:xfrm>
            <a:off x="6583680" y="2331720"/>
            <a:ext cx="1737360" cy="274320"/>
          </a:xfrm>
          <a:prstGeom prst="rect">
            <a:avLst/>
          </a:prstGeom>
          <a:noFill/>
          <a:ln/>
        </p:spPr>
        <p:txBody>
          <a:bodyPr wrap="square" lIns="0" tIns="0" rIns="0" bIns="0" rtlCol="0" anchor="ctr"/>
          <a:lstStyle/>
          <a:p>
            <a:pPr indent="0" marL="0">
              <a:buNone/>
            </a:pPr>
            <a:r>
              <a:rPr lang="en-US" sz="900" b="1" dirty="0">
                <a:solidFill>
                  <a:srgbClr val="5B7C99"/>
                </a:solidFill>
                <a:latin typeface="Consolas" pitchFamily="34" charset="0"/>
                <a:ea typeface="Consolas" pitchFamily="34" charset="-122"/>
                <a:cs typeface="Consolas" pitchFamily="34" charset="-120"/>
              </a:rPr>
              <a:t>REACHABILITY VERIFICATION</a:t>
            </a:r>
            <a:endParaRPr lang="en-US" sz="900" dirty="0"/>
          </a:p>
        </p:txBody>
      </p:sp>
      <p:sp>
        <p:nvSpPr>
          <p:cNvPr id="23" name="Shape 21"/>
          <p:cNvSpPr/>
          <p:nvPr/>
        </p:nvSpPr>
        <p:spPr>
          <a:xfrm>
            <a:off x="6583680" y="2651760"/>
            <a:ext cx="1764792" cy="640080"/>
          </a:xfrm>
          <a:prstGeom prst="rect">
            <a:avLst/>
          </a:prstGeom>
          <a:solidFill>
            <a:srgbClr val="ECE8E0"/>
          </a:solidFill>
          <a:ln w="12700">
            <a:solidFill>
              <a:srgbClr val="D0CBC1"/>
            </a:solidFill>
            <a:prstDash val="solid"/>
          </a:ln>
        </p:spPr>
      </p:sp>
      <p:sp>
        <p:nvSpPr>
          <p:cNvPr id="24" name="Text 22"/>
          <p:cNvSpPr/>
          <p:nvPr/>
        </p:nvSpPr>
        <p:spPr>
          <a:xfrm>
            <a:off x="6629400" y="2724912"/>
            <a:ext cx="1673352" cy="228600"/>
          </a:xfrm>
          <a:prstGeom prst="rect">
            <a:avLst/>
          </a:prstGeom>
          <a:noFill/>
          <a:ln/>
        </p:spPr>
        <p:txBody>
          <a:bodyPr wrap="square" lIns="0" tIns="0" rIns="0" bIns="0" rtlCol="0" anchor="ctr"/>
          <a:lstStyle/>
          <a:p>
            <a:pPr indent="0" marL="0">
              <a:buNone/>
            </a:pPr>
            <a:r>
              <a:rPr lang="en-US" sz="1000" b="1" dirty="0">
                <a:solidFill>
                  <a:srgbClr val="1C1F24"/>
                </a:solidFill>
                <a:latin typeface="Consolas" pitchFamily="34" charset="0"/>
                <a:ea typeface="Consolas" pitchFamily="34" charset="-122"/>
                <a:cs typeface="Consolas" pitchFamily="34" charset="-120"/>
              </a:rPr>
              <a:t>ReachableSec Gate</a:t>
            </a:r>
            <a:endParaRPr lang="en-US" sz="1000" dirty="0"/>
          </a:p>
        </p:txBody>
      </p:sp>
      <p:sp>
        <p:nvSpPr>
          <p:cNvPr id="25" name="Text 23"/>
          <p:cNvSpPr/>
          <p:nvPr/>
        </p:nvSpPr>
        <p:spPr>
          <a:xfrm>
            <a:off x="6629400" y="2971800"/>
            <a:ext cx="1673352" cy="228600"/>
          </a:xfrm>
          <a:prstGeom prst="rect">
            <a:avLst/>
          </a:prstGeom>
          <a:noFill/>
          <a:ln/>
        </p:spPr>
        <p:txBody>
          <a:bodyPr wrap="square" lIns="0" tIns="0" rIns="0" bIns="0" rtlCol="0" anchor="ctr"/>
          <a:lstStyle/>
          <a:p>
            <a:pPr indent="0" marL="0">
              <a:buNone/>
            </a:pPr>
            <a:r>
              <a:rPr lang="en-US" sz="800" dirty="0">
                <a:solidFill>
                  <a:srgbClr val="57606A"/>
                </a:solidFill>
                <a:latin typeface="Consolas" pitchFamily="34" charset="0"/>
                <a:ea typeface="Consolas" pitchFamily="34" charset="-122"/>
                <a:cs typeface="Consolas" pitchFamily="34" charset="-120"/>
              </a:rPr>
              <a:t>DFS Traversal Algorithm</a:t>
            </a:r>
            <a:endParaRPr lang="en-US" sz="800" dirty="0"/>
          </a:p>
        </p:txBody>
      </p:sp>
      <p:sp>
        <p:nvSpPr>
          <p:cNvPr id="26" name="Text 24"/>
          <p:cNvSpPr/>
          <p:nvPr/>
        </p:nvSpPr>
        <p:spPr>
          <a:xfrm>
            <a:off x="6583680" y="3749040"/>
            <a:ext cx="1764792" cy="2011680"/>
          </a:xfrm>
          <a:prstGeom prst="rect">
            <a:avLst/>
          </a:prstGeom>
          <a:noFill/>
          <a:ln/>
        </p:spPr>
        <p:txBody>
          <a:bodyPr wrap="square" lIns="0" tIns="0" rIns="0" bIns="0" rtlCol="0" anchor="ctr"/>
          <a:lstStyle/>
          <a:p>
            <a:pPr indent="0" marL="0">
              <a:buNone/>
            </a:pPr>
            <a:r>
              <a:rPr lang="en-US" sz="1100" dirty="0">
                <a:solidFill>
                  <a:srgbClr val="57606A"/>
                </a:solidFill>
                <a:latin typeface="Arial" pitchFamily="34" charset="0"/>
                <a:ea typeface="Arial" pitchFamily="34" charset="-122"/>
                <a:cs typeface="Arial" pitchFamily="34" charset="-120"/>
              </a:rPr>
              <a:t>Traces from public entry points down to CVE sinks. Classifies into Reachable, Unknown, or Silenced.</a:t>
            </a:r>
            <a:endParaRPr lang="en-US" sz="1100" dirty="0"/>
          </a:p>
        </p:txBody>
      </p:sp>
      <p:sp>
        <p:nvSpPr>
          <p:cNvPr id="27" name="Shape 25"/>
          <p:cNvSpPr/>
          <p:nvPr/>
        </p:nvSpPr>
        <p:spPr>
          <a:xfrm>
            <a:off x="9144000" y="1828800"/>
            <a:ext cx="2130552" cy="4114800"/>
          </a:xfrm>
          <a:prstGeom prst="rect">
            <a:avLst/>
          </a:prstGeom>
          <a:solidFill>
            <a:srgbClr val="F4F1EA"/>
          </a:solidFill>
          <a:ln w="19050">
            <a:solidFill>
              <a:srgbClr val="D0CBC1"/>
            </a:solidFill>
            <a:prstDash val="solid"/>
          </a:ln>
        </p:spPr>
      </p:sp>
      <p:sp>
        <p:nvSpPr>
          <p:cNvPr id="28" name="Text 26"/>
          <p:cNvSpPr/>
          <p:nvPr/>
        </p:nvSpPr>
        <p:spPr>
          <a:xfrm>
            <a:off x="9326880" y="2011680"/>
            <a:ext cx="1737360" cy="274320"/>
          </a:xfrm>
          <a:prstGeom prst="rect">
            <a:avLst/>
          </a:prstGeom>
          <a:noFill/>
          <a:ln/>
        </p:spPr>
        <p:txBody>
          <a:bodyPr wrap="square" lIns="0" tIns="0" rIns="0" bIns="0" rtlCol="0" anchor="ctr"/>
          <a:lstStyle/>
          <a:p>
            <a:pPr indent="0" marL="0">
              <a:buNone/>
            </a:pPr>
            <a:r>
              <a:rPr lang="en-US" sz="1600" b="1" dirty="0">
                <a:solidFill>
                  <a:srgbClr val="E8A33D"/>
                </a:solidFill>
                <a:latin typeface="Georgia" pitchFamily="34" charset="0"/>
                <a:ea typeface="Georgia" pitchFamily="34" charset="-122"/>
                <a:cs typeface="Georgia" pitchFamily="34" charset="-120"/>
              </a:rPr>
              <a:t>04</a:t>
            </a:r>
            <a:endParaRPr lang="en-US" sz="1600" dirty="0"/>
          </a:p>
        </p:txBody>
      </p:sp>
      <p:sp>
        <p:nvSpPr>
          <p:cNvPr id="29" name="Text 27"/>
          <p:cNvSpPr/>
          <p:nvPr/>
        </p:nvSpPr>
        <p:spPr>
          <a:xfrm>
            <a:off x="9326880" y="2331720"/>
            <a:ext cx="1737360" cy="274320"/>
          </a:xfrm>
          <a:prstGeom prst="rect">
            <a:avLst/>
          </a:prstGeom>
          <a:noFill/>
          <a:ln/>
        </p:spPr>
        <p:txBody>
          <a:bodyPr wrap="square" lIns="0" tIns="0" rIns="0" bIns="0" rtlCol="0" anchor="ctr"/>
          <a:lstStyle/>
          <a:p>
            <a:pPr indent="0" marL="0">
              <a:buNone/>
            </a:pPr>
            <a:r>
              <a:rPr lang="en-US" sz="900" b="1" dirty="0">
                <a:solidFill>
                  <a:srgbClr val="5B7C99"/>
                </a:solidFill>
                <a:latin typeface="Consolas" pitchFamily="34" charset="0"/>
                <a:ea typeface="Consolas" pitchFamily="34" charset="-122"/>
                <a:cs typeface="Consolas" pitchFamily="34" charset="-120"/>
              </a:rPr>
              <a:t>SPATIAL COCKPIT &amp; AGENTS</a:t>
            </a:r>
            <a:endParaRPr lang="en-US" sz="900" dirty="0"/>
          </a:p>
        </p:txBody>
      </p:sp>
      <p:sp>
        <p:nvSpPr>
          <p:cNvPr id="30" name="Shape 28"/>
          <p:cNvSpPr/>
          <p:nvPr/>
        </p:nvSpPr>
        <p:spPr>
          <a:xfrm>
            <a:off x="9326880" y="2651760"/>
            <a:ext cx="1764792" cy="640080"/>
          </a:xfrm>
          <a:prstGeom prst="rect">
            <a:avLst/>
          </a:prstGeom>
          <a:solidFill>
            <a:srgbClr val="ECE8E0"/>
          </a:solidFill>
          <a:ln w="12700">
            <a:solidFill>
              <a:srgbClr val="D0CBC1"/>
            </a:solidFill>
            <a:prstDash val="solid"/>
          </a:ln>
        </p:spPr>
      </p:sp>
      <p:sp>
        <p:nvSpPr>
          <p:cNvPr id="31" name="Text 29"/>
          <p:cNvSpPr/>
          <p:nvPr/>
        </p:nvSpPr>
        <p:spPr>
          <a:xfrm>
            <a:off x="9372600" y="2724912"/>
            <a:ext cx="1673352" cy="228600"/>
          </a:xfrm>
          <a:prstGeom prst="rect">
            <a:avLst/>
          </a:prstGeom>
          <a:noFill/>
          <a:ln/>
        </p:spPr>
        <p:txBody>
          <a:bodyPr wrap="square" lIns="0" tIns="0" rIns="0" bIns="0" rtlCol="0" anchor="ctr"/>
          <a:lstStyle/>
          <a:p>
            <a:pPr indent="0" marL="0">
              <a:buNone/>
            </a:pPr>
            <a:r>
              <a:rPr lang="en-US" sz="1000" b="1" dirty="0">
                <a:solidFill>
                  <a:srgbClr val="1C1F24"/>
                </a:solidFill>
                <a:latin typeface="Consolas" pitchFamily="34" charset="0"/>
                <a:ea typeface="Consolas" pitchFamily="34" charset="-122"/>
                <a:cs typeface="Consolas" pitchFamily="34" charset="-120"/>
              </a:rPr>
              <a:t>Three.js WebGL + CLI</a:t>
            </a:r>
            <a:endParaRPr lang="en-US" sz="1000" dirty="0"/>
          </a:p>
        </p:txBody>
      </p:sp>
      <p:sp>
        <p:nvSpPr>
          <p:cNvPr id="32" name="Text 30"/>
          <p:cNvSpPr/>
          <p:nvPr/>
        </p:nvSpPr>
        <p:spPr>
          <a:xfrm>
            <a:off x="9372600" y="2971800"/>
            <a:ext cx="1673352" cy="228600"/>
          </a:xfrm>
          <a:prstGeom prst="rect">
            <a:avLst/>
          </a:prstGeom>
          <a:noFill/>
          <a:ln/>
        </p:spPr>
        <p:txBody>
          <a:bodyPr wrap="square" lIns="0" tIns="0" rIns="0" bIns="0" rtlCol="0" anchor="ctr"/>
          <a:lstStyle/>
          <a:p>
            <a:pPr indent="0" marL="0">
              <a:buNone/>
            </a:pPr>
            <a:r>
              <a:rPr lang="en-US" sz="800" dirty="0">
                <a:solidFill>
                  <a:srgbClr val="57606A"/>
                </a:solidFill>
                <a:latin typeface="Consolas" pitchFamily="34" charset="0"/>
                <a:ea typeface="Consolas" pitchFamily="34" charset="-122"/>
                <a:cs typeface="Consolas" pitchFamily="34" charset="-120"/>
              </a:rPr>
              <a:t>+ Model Context Protocol</a:t>
            </a:r>
            <a:endParaRPr lang="en-US" sz="800" dirty="0"/>
          </a:p>
        </p:txBody>
      </p:sp>
      <p:sp>
        <p:nvSpPr>
          <p:cNvPr id="33" name="Text 31"/>
          <p:cNvSpPr/>
          <p:nvPr/>
        </p:nvSpPr>
        <p:spPr>
          <a:xfrm>
            <a:off x="9326880" y="3749040"/>
            <a:ext cx="1764792" cy="2011680"/>
          </a:xfrm>
          <a:prstGeom prst="rect">
            <a:avLst/>
          </a:prstGeom>
          <a:noFill/>
          <a:ln/>
        </p:spPr>
        <p:txBody>
          <a:bodyPr wrap="square" lIns="0" tIns="0" rIns="0" bIns="0" rtlCol="0" anchor="ctr"/>
          <a:lstStyle/>
          <a:p>
            <a:pPr indent="0" marL="0">
              <a:buNone/>
            </a:pPr>
            <a:r>
              <a:rPr lang="en-US" sz="1100" dirty="0">
                <a:solidFill>
                  <a:srgbClr val="57606A"/>
                </a:solidFill>
                <a:latin typeface="Arial" pitchFamily="34" charset="0"/>
                <a:ea typeface="Arial" pitchFamily="34" charset="-122"/>
                <a:cs typeface="Arial" pitchFamily="34" charset="-120"/>
              </a:rPr>
              <a:t>Renders 3D city treemap and wiring graph. Broadcasts handover state to Cursor, Claude, and v0.dev.</a:t>
            </a:r>
            <a:endParaRPr lang="en-US" sz="1100" dirty="0"/>
          </a:p>
        </p:txBody>
      </p:sp>
      <p:sp>
        <p:nvSpPr>
          <p:cNvPr id="34" name="Text 32"/>
          <p:cNvSpPr/>
          <p:nvPr/>
        </p:nvSpPr>
        <p:spPr>
          <a:xfrm>
            <a:off x="914400" y="6400800"/>
            <a:ext cx="10332720" cy="228600"/>
          </a:xfrm>
          <a:prstGeom prst="rect">
            <a:avLst/>
          </a:prstGeom>
          <a:noFill/>
          <a:ln/>
        </p:spPr>
        <p:txBody>
          <a:bodyPr wrap="square" lIns="0" tIns="0" rIns="0" bIns="0" rtlCol="0" anchor="ctr"/>
          <a:lstStyle/>
          <a:p>
            <a:pPr indent="0" marL="0">
              <a:buNone/>
            </a:pPr>
            <a:r>
              <a:rPr lang="en-US" sz="900" dirty="0">
                <a:solidFill>
                  <a:srgbClr val="8C959F"/>
                </a:solidFill>
                <a:latin typeface="Consolas" pitchFamily="34" charset="0"/>
                <a:ea typeface="Consolas" pitchFamily="34" charset="-122"/>
                <a:cs typeface="Consolas" pitchFamily="34" charset="-120"/>
              </a:rPr>
              <a:t>VIBELENS // INSPECTION BENCH // 100% LOCAL PRIVACY // ZERO CLOUD LEAKS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C1F24"/>
        </a:solidFill>
      </p:bgPr>
    </p:bg>
    <p:spTree>
      <p:nvGrpSpPr>
        <p:cNvPr id="1" name=""/>
        <p:cNvGrpSpPr/>
        <p:nvPr/>
      </p:nvGrpSpPr>
      <p:grpSpPr>
        <a:xfrm>
          <a:off x="0" y="0"/>
          <a:ext cx="0" cy="0"/>
          <a:chOff x="0" y="0"/>
          <a:chExt cx="0" cy="0"/>
        </a:xfrm>
      </p:grpSpPr>
      <p:sp>
        <p:nvSpPr>
          <p:cNvPr id="2" name="Text 0"/>
          <p:cNvSpPr/>
          <p:nvPr/>
        </p:nvSpPr>
        <p:spPr>
          <a:xfrm>
            <a:off x="914400" y="548640"/>
            <a:ext cx="7315200" cy="274320"/>
          </a:xfrm>
          <a:prstGeom prst="rect">
            <a:avLst/>
          </a:prstGeom>
          <a:noFill/>
          <a:ln/>
        </p:spPr>
        <p:txBody>
          <a:bodyPr wrap="square" lIns="0" tIns="0" rIns="0" bIns="0" rtlCol="0" anchor="ctr"/>
          <a:lstStyle/>
          <a:p>
            <a:pPr indent="0" marL="0">
              <a:buNone/>
            </a:pPr>
            <a:r>
              <a:rPr lang="en-US" sz="1000" dirty="0">
                <a:solidFill>
                  <a:srgbClr val="5B7C99"/>
                </a:solidFill>
                <a:latin typeface="Consolas" pitchFamily="34" charset="0"/>
                <a:ea typeface="Consolas" pitchFamily="34" charset="-122"/>
                <a:cs typeface="Consolas" pitchFamily="34" charset="-120"/>
              </a:rPr>
              <a:t>[ ROADMAP // THE BUILDER'S PROGRESS ]</a:t>
            </a:r>
            <a:endParaRPr lang="en-US" sz="1000" dirty="0"/>
          </a:p>
        </p:txBody>
      </p:sp>
      <p:sp>
        <p:nvSpPr>
          <p:cNvPr id="3" name="Text 1"/>
          <p:cNvSpPr/>
          <p:nvPr/>
        </p:nvSpPr>
        <p:spPr>
          <a:xfrm>
            <a:off x="9418320" y="548640"/>
            <a:ext cx="1828800" cy="274320"/>
          </a:xfrm>
          <a:prstGeom prst="rect">
            <a:avLst/>
          </a:prstGeom>
          <a:noFill/>
          <a:ln/>
        </p:spPr>
        <p:txBody>
          <a:bodyPr wrap="square" lIns="0" tIns="0" rIns="0" bIns="0" rtlCol="0" anchor="ctr"/>
          <a:lstStyle/>
          <a:p>
            <a:pPr algn="r" indent="0" marL="0">
              <a:buNone/>
            </a:pPr>
            <a:r>
              <a:rPr lang="en-US" sz="1000" dirty="0">
                <a:solidFill>
                  <a:srgbClr val="57606A"/>
                </a:solidFill>
                <a:latin typeface="Consolas" pitchFamily="34" charset="0"/>
                <a:ea typeface="Consolas" pitchFamily="34" charset="-122"/>
                <a:cs typeface="Consolas" pitchFamily="34" charset="-120"/>
              </a:rPr>
              <a:t>SLIDE 11 / 12</a:t>
            </a:r>
            <a:endParaRPr lang="en-US" sz="1000" dirty="0"/>
          </a:p>
        </p:txBody>
      </p:sp>
      <p:sp>
        <p:nvSpPr>
          <p:cNvPr id="4" name="Text 2"/>
          <p:cNvSpPr/>
          <p:nvPr/>
        </p:nvSpPr>
        <p:spPr>
          <a:xfrm>
            <a:off x="914400" y="1005840"/>
            <a:ext cx="10332720" cy="411480"/>
          </a:xfrm>
          <a:prstGeom prst="rect">
            <a:avLst/>
          </a:prstGeom>
          <a:noFill/>
          <a:ln/>
        </p:spPr>
        <p:txBody>
          <a:bodyPr wrap="square" lIns="0" tIns="0" rIns="0" bIns="0" rtlCol="0" anchor="ctr"/>
          <a:lstStyle/>
          <a:p>
            <a:pPr indent="0" marL="0">
              <a:buNone/>
            </a:pPr>
            <a:r>
              <a:rPr lang="en-US" sz="2200" b="1" dirty="0">
                <a:solidFill>
                  <a:srgbClr val="F4F1EA"/>
                </a:solidFill>
                <a:latin typeface="Georgia" pitchFamily="34" charset="0"/>
                <a:ea typeface="Georgia" pitchFamily="34" charset="-122"/>
                <a:cs typeface="Georgia" pitchFamily="34" charset="-120"/>
              </a:rPr>
              <a:t>Clear Boundaries: What is Shipped vs. What Comes Next</a:t>
            </a:r>
            <a:endParaRPr lang="en-US" sz="2200" dirty="0"/>
          </a:p>
        </p:txBody>
      </p:sp>
      <p:sp>
        <p:nvSpPr>
          <p:cNvPr id="5" name="Shape 3"/>
          <p:cNvSpPr/>
          <p:nvPr/>
        </p:nvSpPr>
        <p:spPr>
          <a:xfrm>
            <a:off x="914400" y="3200400"/>
            <a:ext cx="5120640" cy="0"/>
          </a:xfrm>
          <a:prstGeom prst="line">
            <a:avLst/>
          </a:prstGeom>
          <a:noFill/>
          <a:ln w="25400">
            <a:solidFill>
              <a:srgbClr val="F4F1EA"/>
            </a:solidFill>
            <a:prstDash val="solid"/>
          </a:ln>
        </p:spPr>
      </p:sp>
      <p:sp>
        <p:nvSpPr>
          <p:cNvPr id="6" name="Shape 4"/>
          <p:cNvSpPr/>
          <p:nvPr/>
        </p:nvSpPr>
        <p:spPr>
          <a:xfrm>
            <a:off x="6217920" y="3200400"/>
            <a:ext cx="5029200" cy="0"/>
          </a:xfrm>
          <a:prstGeom prst="line">
            <a:avLst/>
          </a:prstGeom>
          <a:noFill/>
          <a:ln w="25400">
            <a:solidFill>
              <a:srgbClr val="E8A33D"/>
            </a:solidFill>
            <a:prstDash val="dash"/>
          </a:ln>
        </p:spPr>
      </p:sp>
      <p:sp>
        <p:nvSpPr>
          <p:cNvPr id="7" name="Text 5"/>
          <p:cNvSpPr/>
          <p:nvPr/>
        </p:nvSpPr>
        <p:spPr>
          <a:xfrm>
            <a:off x="914400" y="1920240"/>
            <a:ext cx="5029200" cy="320040"/>
          </a:xfrm>
          <a:prstGeom prst="rect">
            <a:avLst/>
          </a:prstGeom>
          <a:noFill/>
          <a:ln/>
        </p:spPr>
        <p:txBody>
          <a:bodyPr wrap="square" lIns="0" tIns="0" rIns="0" bIns="0" rtlCol="0" anchor="ctr"/>
          <a:lstStyle/>
          <a:p>
            <a:pPr indent="0" marL="0">
              <a:buNone/>
            </a:pPr>
            <a:r>
              <a:rPr lang="en-US" sz="1400" b="1" dirty="0">
                <a:solidFill>
                  <a:srgbClr val="F4F1EA"/>
                </a:solidFill>
                <a:latin typeface="Georgia" pitchFamily="34" charset="0"/>
                <a:ea typeface="Georgia" pitchFamily="34" charset="-122"/>
                <a:cs typeface="Georgia" pitchFamily="34" charset="-120"/>
              </a:rPr>
              <a:t>● BUILT &amp; VERIFIED TODAY</a:t>
            </a:r>
            <a:endParaRPr lang="en-US" sz="1400" dirty="0"/>
          </a:p>
        </p:txBody>
      </p:sp>
      <p:sp>
        <p:nvSpPr>
          <p:cNvPr id="8" name="Text 6"/>
          <p:cNvSpPr/>
          <p:nvPr/>
        </p:nvSpPr>
        <p:spPr>
          <a:xfrm>
            <a:off x="914400" y="2286000"/>
            <a:ext cx="5029200" cy="274320"/>
          </a:xfrm>
          <a:prstGeom prst="rect">
            <a:avLst/>
          </a:prstGeom>
          <a:noFill/>
          <a:ln/>
        </p:spPr>
        <p:txBody>
          <a:bodyPr wrap="square" lIns="0" tIns="0" rIns="0" bIns="0" rtlCol="0" anchor="ctr"/>
          <a:lstStyle/>
          <a:p>
            <a:pPr indent="0" marL="0">
              <a:buNone/>
            </a:pPr>
            <a:r>
              <a:rPr lang="en-US" sz="1100" dirty="0">
                <a:solidFill>
                  <a:srgbClr val="8B949E"/>
                </a:solidFill>
                <a:latin typeface="Arial" pitchFamily="34" charset="0"/>
                <a:ea typeface="Arial" pitchFamily="34" charset="-122"/>
                <a:cs typeface="Arial" pitchFamily="34" charset="-120"/>
              </a:rPr>
              <a:t>Shipped in this repository with 18/18 passing tests:</a:t>
            </a:r>
            <a:endParaRPr lang="en-US" sz="1100" dirty="0"/>
          </a:p>
        </p:txBody>
      </p:sp>
      <p:sp>
        <p:nvSpPr>
          <p:cNvPr id="9" name="Text 7"/>
          <p:cNvSpPr/>
          <p:nvPr/>
        </p:nvSpPr>
        <p:spPr>
          <a:xfrm>
            <a:off x="914400" y="3474720"/>
            <a:ext cx="5029200" cy="502920"/>
          </a:xfrm>
          <a:prstGeom prst="rect">
            <a:avLst/>
          </a:prstGeom>
          <a:noFill/>
          <a:ln/>
        </p:spPr>
        <p:txBody>
          <a:bodyPr wrap="square" lIns="0" tIns="0" rIns="0" bIns="0" rtlCol="0" anchor="ctr"/>
          <a:lstStyle/>
          <a:p>
            <a:pPr indent="0" marL="0">
              <a:buNone/>
            </a:pPr>
            <a:r>
              <a:rPr lang="en-US" sz="1100" dirty="0">
                <a:solidFill>
                  <a:srgbClr val="F4F1EA"/>
                </a:solidFill>
                <a:latin typeface="Arial" pitchFamily="34" charset="0"/>
                <a:ea typeface="Arial" pitchFamily="34" charset="-122"/>
                <a:cs typeface="Arial" pitchFamily="34" charset="-120"/>
              </a:rPr>
              <a:t>✓ ReachableSec Static Call-Graph DFS Engine (3-tier honest classification)</a:t>
            </a:r>
            <a:endParaRPr lang="en-US" sz="1100" dirty="0"/>
          </a:p>
        </p:txBody>
      </p:sp>
      <p:sp>
        <p:nvSpPr>
          <p:cNvPr id="10" name="Text 8"/>
          <p:cNvSpPr/>
          <p:nvPr/>
        </p:nvSpPr>
        <p:spPr>
          <a:xfrm>
            <a:off x="914400" y="4069080"/>
            <a:ext cx="5029200" cy="502920"/>
          </a:xfrm>
          <a:prstGeom prst="rect">
            <a:avLst/>
          </a:prstGeom>
          <a:noFill/>
          <a:ln/>
        </p:spPr>
        <p:txBody>
          <a:bodyPr wrap="square" lIns="0" tIns="0" rIns="0" bIns="0" rtlCol="0" anchor="ctr"/>
          <a:lstStyle/>
          <a:p>
            <a:pPr indent="0" marL="0">
              <a:buNone/>
            </a:pPr>
            <a:r>
              <a:rPr lang="en-US" sz="1100" dirty="0">
                <a:solidFill>
                  <a:srgbClr val="F4F1EA"/>
                </a:solidFill>
                <a:latin typeface="Arial" pitchFamily="34" charset="0"/>
                <a:ea typeface="Arial" pitchFamily="34" charset="-122"/>
                <a:cs typeface="Arial" pitchFamily="34" charset="-120"/>
              </a:rPr>
              <a:t>✓ 3D Spatial Treemap &amp; Wiring Cockpit with on-demand red laser arcs</a:t>
            </a:r>
            <a:endParaRPr lang="en-US" sz="1100" dirty="0"/>
          </a:p>
        </p:txBody>
      </p:sp>
      <p:sp>
        <p:nvSpPr>
          <p:cNvPr id="11" name="Text 9"/>
          <p:cNvSpPr/>
          <p:nvPr/>
        </p:nvSpPr>
        <p:spPr>
          <a:xfrm>
            <a:off x="914400" y="4663440"/>
            <a:ext cx="5029200" cy="502920"/>
          </a:xfrm>
          <a:prstGeom prst="rect">
            <a:avLst/>
          </a:prstGeom>
          <a:noFill/>
          <a:ln/>
        </p:spPr>
        <p:txBody>
          <a:bodyPr wrap="square" lIns="0" tIns="0" rIns="0" bIns="0" rtlCol="0" anchor="ctr"/>
          <a:lstStyle/>
          <a:p>
            <a:pPr indent="0" marL="0">
              <a:buNone/>
            </a:pPr>
            <a:r>
              <a:rPr lang="en-US" sz="1100" dirty="0">
                <a:solidFill>
                  <a:srgbClr val="F4F1EA"/>
                </a:solidFill>
                <a:latin typeface="Arial" pitchFamily="34" charset="0"/>
                <a:ea typeface="Arial" pitchFamily="34" charset="-122"/>
                <a:cs typeface="Arial" pitchFamily="34" charset="-120"/>
              </a:rPr>
              <a:t>✓ Personalized Metro Grid Calibration (BLR, SFO, NYC, LHR presets)</a:t>
            </a:r>
            <a:endParaRPr lang="en-US" sz="1100" dirty="0"/>
          </a:p>
        </p:txBody>
      </p:sp>
      <p:sp>
        <p:nvSpPr>
          <p:cNvPr id="12" name="Text 10"/>
          <p:cNvSpPr/>
          <p:nvPr/>
        </p:nvSpPr>
        <p:spPr>
          <a:xfrm>
            <a:off x="914400" y="5257800"/>
            <a:ext cx="5029200" cy="502920"/>
          </a:xfrm>
          <a:prstGeom prst="rect">
            <a:avLst/>
          </a:prstGeom>
          <a:noFill/>
          <a:ln/>
        </p:spPr>
        <p:txBody>
          <a:bodyPr wrap="square" lIns="0" tIns="0" rIns="0" bIns="0" rtlCol="0" anchor="ctr"/>
          <a:lstStyle/>
          <a:p>
            <a:pPr indent="0" marL="0">
              <a:buNone/>
            </a:pPr>
            <a:r>
              <a:rPr lang="en-US" sz="1100" dirty="0">
                <a:solidFill>
                  <a:srgbClr val="F4F1EA"/>
                </a:solidFill>
                <a:latin typeface="Arial" pitchFamily="34" charset="0"/>
                <a:ea typeface="Arial" pitchFamily="34" charset="-122"/>
                <a:cs typeface="Arial" pitchFamily="34" charset="-120"/>
              </a:rPr>
              <a:t>✓ Automated Local Verification Gate (vitest + tsc --noEmit git hook)</a:t>
            </a:r>
            <a:endParaRPr lang="en-US" sz="1100" dirty="0"/>
          </a:p>
        </p:txBody>
      </p:sp>
      <p:sp>
        <p:nvSpPr>
          <p:cNvPr id="13" name="Text 11"/>
          <p:cNvSpPr/>
          <p:nvPr/>
        </p:nvSpPr>
        <p:spPr>
          <a:xfrm>
            <a:off x="6217920" y="1920240"/>
            <a:ext cx="5029200" cy="320040"/>
          </a:xfrm>
          <a:prstGeom prst="rect">
            <a:avLst/>
          </a:prstGeom>
          <a:noFill/>
          <a:ln/>
        </p:spPr>
        <p:txBody>
          <a:bodyPr wrap="square" lIns="0" tIns="0" rIns="0" bIns="0" rtlCol="0" anchor="ctr"/>
          <a:lstStyle/>
          <a:p>
            <a:pPr indent="0" marL="0">
              <a:buNone/>
            </a:pPr>
            <a:r>
              <a:rPr lang="en-US" sz="1400" b="1" dirty="0">
                <a:solidFill>
                  <a:srgbClr val="E8A33D"/>
                </a:solidFill>
                <a:latin typeface="Georgia" pitchFamily="34" charset="0"/>
                <a:ea typeface="Georgia" pitchFamily="34" charset="-122"/>
                <a:cs typeface="Georgia" pitchFamily="34" charset="-120"/>
              </a:rPr>
              <a:t>○ NEXT // 2026 ROADMAP</a:t>
            </a:r>
            <a:endParaRPr lang="en-US" sz="1400" dirty="0"/>
          </a:p>
        </p:txBody>
      </p:sp>
      <p:sp>
        <p:nvSpPr>
          <p:cNvPr id="14" name="Text 12"/>
          <p:cNvSpPr/>
          <p:nvPr/>
        </p:nvSpPr>
        <p:spPr>
          <a:xfrm>
            <a:off x="6217920" y="2286000"/>
            <a:ext cx="5029200" cy="274320"/>
          </a:xfrm>
          <a:prstGeom prst="rect">
            <a:avLst/>
          </a:prstGeom>
          <a:noFill/>
          <a:ln/>
        </p:spPr>
        <p:txBody>
          <a:bodyPr wrap="square" lIns="0" tIns="0" rIns="0" bIns="0" rtlCol="0" anchor="ctr"/>
          <a:lstStyle/>
          <a:p>
            <a:pPr indent="0" marL="0">
              <a:buNone/>
            </a:pPr>
            <a:r>
              <a:rPr lang="en-US" sz="1100" dirty="0">
                <a:solidFill>
                  <a:srgbClr val="8B949E"/>
                </a:solidFill>
                <a:latin typeface="Arial" pitchFamily="34" charset="0"/>
                <a:ea typeface="Arial" pitchFamily="34" charset="-122"/>
                <a:cs typeface="Arial" pitchFamily="34" charset="-120"/>
              </a:rPr>
              <a:t>Planned extensions after hackathon submission:</a:t>
            </a:r>
            <a:endParaRPr lang="en-US" sz="1100" dirty="0"/>
          </a:p>
        </p:txBody>
      </p:sp>
      <p:sp>
        <p:nvSpPr>
          <p:cNvPr id="15" name="Text 13"/>
          <p:cNvSpPr/>
          <p:nvPr/>
        </p:nvSpPr>
        <p:spPr>
          <a:xfrm>
            <a:off x="6217920" y="3474720"/>
            <a:ext cx="5029200" cy="502920"/>
          </a:xfrm>
          <a:prstGeom prst="rect">
            <a:avLst/>
          </a:prstGeom>
          <a:noFill/>
          <a:ln/>
        </p:spPr>
        <p:txBody>
          <a:bodyPr wrap="square" lIns="0" tIns="0" rIns="0" bIns="0" rtlCol="0" anchor="ctr"/>
          <a:lstStyle/>
          <a:p>
            <a:pPr indent="0" marL="0">
              <a:buNone/>
            </a:pPr>
            <a:r>
              <a:rPr lang="en-US" sz="1100" dirty="0">
                <a:solidFill>
                  <a:srgbClr val="8B949E"/>
                </a:solidFill>
                <a:latin typeface="Arial" pitchFamily="34" charset="0"/>
                <a:ea typeface="Arial" pitchFamily="34" charset="-122"/>
                <a:cs typeface="Arial" pitchFamily="34" charset="-120"/>
              </a:rPr>
              <a:t>➔ AST Helper De-Duplication: Local vector clustering to purge slop</a:t>
            </a:r>
            <a:endParaRPr lang="en-US" sz="1100" dirty="0"/>
          </a:p>
        </p:txBody>
      </p:sp>
      <p:sp>
        <p:nvSpPr>
          <p:cNvPr id="16" name="Text 14"/>
          <p:cNvSpPr/>
          <p:nvPr/>
        </p:nvSpPr>
        <p:spPr>
          <a:xfrm>
            <a:off x="6217920" y="4069080"/>
            <a:ext cx="5029200" cy="502920"/>
          </a:xfrm>
          <a:prstGeom prst="rect">
            <a:avLst/>
          </a:prstGeom>
          <a:noFill/>
          <a:ln/>
        </p:spPr>
        <p:txBody>
          <a:bodyPr wrap="square" lIns="0" tIns="0" rIns="0" bIns="0" rtlCol="0" anchor="ctr"/>
          <a:lstStyle/>
          <a:p>
            <a:pPr indent="0" marL="0">
              <a:buNone/>
            </a:pPr>
            <a:r>
              <a:rPr lang="en-US" sz="1100" dirty="0">
                <a:solidFill>
                  <a:srgbClr val="8B949E"/>
                </a:solidFill>
                <a:latin typeface="Arial" pitchFamily="34" charset="0"/>
                <a:ea typeface="Arial" pitchFamily="34" charset="-122"/>
                <a:cs typeface="Arial" pitchFamily="34" charset="-120"/>
              </a:rPr>
              <a:t>➔ Zero-Slop Prompt Compiler: ~140-token context relay for v0 &amp; Bolt</a:t>
            </a:r>
            <a:endParaRPr lang="en-US" sz="1100" dirty="0"/>
          </a:p>
        </p:txBody>
      </p:sp>
      <p:sp>
        <p:nvSpPr>
          <p:cNvPr id="17" name="Text 15"/>
          <p:cNvSpPr/>
          <p:nvPr/>
        </p:nvSpPr>
        <p:spPr>
          <a:xfrm>
            <a:off x="6217920" y="4663440"/>
            <a:ext cx="5029200" cy="502920"/>
          </a:xfrm>
          <a:prstGeom prst="rect">
            <a:avLst/>
          </a:prstGeom>
          <a:noFill/>
          <a:ln/>
        </p:spPr>
        <p:txBody>
          <a:bodyPr wrap="square" lIns="0" tIns="0" rIns="0" bIns="0" rtlCol="0" anchor="ctr"/>
          <a:lstStyle/>
          <a:p>
            <a:pPr indent="0" marL="0">
              <a:buNone/>
            </a:pPr>
            <a:r>
              <a:rPr lang="en-US" sz="1100" dirty="0">
                <a:solidFill>
                  <a:srgbClr val="8B949E"/>
                </a:solidFill>
                <a:latin typeface="Arial" pitchFamily="34" charset="0"/>
                <a:ea typeface="Arial" pitchFamily="34" charset="-122"/>
                <a:cs typeface="Arial" pitchFamily="34" charset="-120"/>
              </a:rPr>
              <a:t>➔ 1-Click Test-Gated PRs: Automatically merges only if local vitest passes</a:t>
            </a:r>
            <a:endParaRPr lang="en-US" sz="1100" dirty="0"/>
          </a:p>
        </p:txBody>
      </p:sp>
      <p:sp>
        <p:nvSpPr>
          <p:cNvPr id="18" name="Text 16"/>
          <p:cNvSpPr/>
          <p:nvPr/>
        </p:nvSpPr>
        <p:spPr>
          <a:xfrm>
            <a:off x="6217920" y="5257800"/>
            <a:ext cx="5029200" cy="502920"/>
          </a:xfrm>
          <a:prstGeom prst="rect">
            <a:avLst/>
          </a:prstGeom>
          <a:noFill/>
          <a:ln/>
        </p:spPr>
        <p:txBody>
          <a:bodyPr wrap="square" lIns="0" tIns="0" rIns="0" bIns="0" rtlCol="0" anchor="ctr"/>
          <a:lstStyle/>
          <a:p>
            <a:pPr indent="0" marL="0">
              <a:buNone/>
            </a:pPr>
            <a:r>
              <a:rPr lang="en-US" sz="1100" dirty="0">
                <a:solidFill>
                  <a:srgbClr val="8B949E"/>
                </a:solidFill>
                <a:latin typeface="Arial" pitchFamily="34" charset="0"/>
                <a:ea typeface="Arial" pitchFamily="34" charset="-122"/>
                <a:cs typeface="Arial" pitchFamily="34" charset="-120"/>
              </a:rPr>
              <a:t>➔ Multi-Language Reachability: Extending AST graphs to Python &amp; Go</a:t>
            </a:r>
            <a:endParaRPr lang="en-US" sz="1100" dirty="0"/>
          </a:p>
        </p:txBody>
      </p:sp>
      <p:sp>
        <p:nvSpPr>
          <p:cNvPr id="19" name="Text 17"/>
          <p:cNvSpPr/>
          <p:nvPr/>
        </p:nvSpPr>
        <p:spPr>
          <a:xfrm>
            <a:off x="914400" y="6400800"/>
            <a:ext cx="10332720" cy="228600"/>
          </a:xfrm>
          <a:prstGeom prst="rect">
            <a:avLst/>
          </a:prstGeom>
          <a:noFill/>
          <a:ln/>
        </p:spPr>
        <p:txBody>
          <a:bodyPr wrap="square" lIns="0" tIns="0" rIns="0" bIns="0" rtlCol="0" anchor="ctr"/>
          <a:lstStyle/>
          <a:p>
            <a:pPr indent="0" marL="0">
              <a:buNone/>
            </a:pPr>
            <a:r>
              <a:rPr lang="en-US" sz="900" dirty="0">
                <a:solidFill>
                  <a:srgbClr val="57606A"/>
                </a:solidFill>
                <a:latin typeface="Consolas" pitchFamily="34" charset="0"/>
                <a:ea typeface="Consolas" pitchFamily="34" charset="-122"/>
                <a:cs typeface="Consolas" pitchFamily="34" charset="-120"/>
              </a:rPr>
              <a:t>VIBELENS // INSPECTION BENCH // 100% LOCAL PRIVACY // ZERO CLOUD LEAKS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C1F24"/>
        </a:solidFill>
      </p:bgPr>
    </p:bg>
    <p:spTree>
      <p:nvGrpSpPr>
        <p:cNvPr id="1" name=""/>
        <p:cNvGrpSpPr/>
        <p:nvPr/>
      </p:nvGrpSpPr>
      <p:grpSpPr>
        <a:xfrm>
          <a:off x="0" y="0"/>
          <a:ext cx="0" cy="0"/>
          <a:chOff x="0" y="0"/>
          <a:chExt cx="0" cy="0"/>
        </a:xfrm>
      </p:grpSpPr>
      <p:sp>
        <p:nvSpPr>
          <p:cNvPr id="2" name="Text 0"/>
          <p:cNvSpPr/>
          <p:nvPr/>
        </p:nvSpPr>
        <p:spPr>
          <a:xfrm>
            <a:off x="914400" y="1280160"/>
            <a:ext cx="10332720" cy="320040"/>
          </a:xfrm>
          <a:prstGeom prst="rect">
            <a:avLst/>
          </a:prstGeom>
          <a:noFill/>
          <a:ln/>
        </p:spPr>
        <p:txBody>
          <a:bodyPr wrap="square" lIns="0" tIns="0" rIns="0" bIns="0" rtlCol="0" anchor="ctr"/>
          <a:lstStyle/>
          <a:p>
            <a:pPr indent="0" marL="0">
              <a:buNone/>
            </a:pPr>
            <a:r>
              <a:rPr lang="en-US" sz="1100" dirty="0">
                <a:solidFill>
                  <a:srgbClr val="5B7C99"/>
                </a:solidFill>
                <a:latin typeface="Consolas" pitchFamily="34" charset="0"/>
                <a:ea typeface="Consolas" pitchFamily="34" charset="-122"/>
                <a:cs typeface="Consolas" pitchFamily="34" charset="-120"/>
              </a:rPr>
              <a:t>[ PRASUNEX INNOVATHON 2026 // CONCLUSION ]</a:t>
            </a:r>
            <a:endParaRPr lang="en-US" sz="1100" dirty="0"/>
          </a:p>
        </p:txBody>
      </p:sp>
      <p:sp>
        <p:nvSpPr>
          <p:cNvPr id="3" name="Text 1"/>
          <p:cNvSpPr/>
          <p:nvPr/>
        </p:nvSpPr>
        <p:spPr>
          <a:xfrm>
            <a:off x="914400" y="1920240"/>
            <a:ext cx="10332720" cy="1828800"/>
          </a:xfrm>
          <a:prstGeom prst="rect">
            <a:avLst/>
          </a:prstGeom>
          <a:noFill/>
          <a:ln/>
        </p:spPr>
        <p:txBody>
          <a:bodyPr wrap="square" lIns="0" tIns="0" rIns="0" bIns="0" rtlCol="0" anchor="ctr"/>
          <a:lstStyle/>
          <a:p>
            <a:pPr indent="0" marL="0">
              <a:buNone/>
            </a:pPr>
            <a:r>
              <a:rPr lang="en-US" sz="4400" b="1" dirty="0">
                <a:solidFill>
                  <a:srgbClr val="F4F1EA"/>
                </a:solidFill>
                <a:latin typeface="Georgia" pitchFamily="34" charset="0"/>
                <a:ea typeface="Georgia" pitchFamily="34" charset="-122"/>
                <a:cs typeface="Georgia" pitchFamily="34" charset="-120"/>
              </a:rPr>
              <a:t>"Build with the velocity of AI.</a:t>
            </a:r>
            <a:endParaRPr lang="en-US" sz="4400" dirty="0"/>
          </a:p>
          <a:p>
            <a:pPr indent="0" marL="0">
              <a:buNone/>
            </a:pPr>
            <a:r>
              <a:rPr lang="en-US" sz="4400" b="1" dirty="0">
                <a:solidFill>
                  <a:srgbClr val="F4F1EA"/>
                </a:solidFill>
                <a:latin typeface="Georgia" pitchFamily="34" charset="0"/>
                <a:ea typeface="Georgia" pitchFamily="34" charset="-122"/>
                <a:cs typeface="Georgia" pitchFamily="34" charset="-120"/>
              </a:rPr>
              <a:t>Keep the clarity of a master craftsman."</a:t>
            </a:r>
            <a:endParaRPr lang="en-US" sz="4400" dirty="0"/>
          </a:p>
        </p:txBody>
      </p:sp>
      <p:sp>
        <p:nvSpPr>
          <p:cNvPr id="4" name="Shape 2"/>
          <p:cNvSpPr/>
          <p:nvPr/>
        </p:nvSpPr>
        <p:spPr>
          <a:xfrm>
            <a:off x="914400" y="4023360"/>
            <a:ext cx="822960" cy="822960"/>
          </a:xfrm>
          <a:prstGeom prst="ellipse">
            <a:avLst/>
          </a:prstGeom>
          <a:noFill/>
          <a:ln w="25400">
            <a:solidFill>
              <a:srgbClr val="E8A33D"/>
            </a:solidFill>
            <a:prstDash val="solid"/>
          </a:ln>
        </p:spPr>
      </p:sp>
      <p:sp>
        <p:nvSpPr>
          <p:cNvPr id="5" name="Shape 3"/>
          <p:cNvSpPr/>
          <p:nvPr/>
        </p:nvSpPr>
        <p:spPr>
          <a:xfrm>
            <a:off x="1097280" y="4206240"/>
            <a:ext cx="457200" cy="457200"/>
          </a:xfrm>
          <a:prstGeom prst="ellipse">
            <a:avLst/>
          </a:prstGeom>
          <a:noFill/>
          <a:ln w="12700">
            <a:solidFill>
              <a:srgbClr val="5B7C99"/>
            </a:solidFill>
            <a:prstDash val="dash"/>
          </a:ln>
        </p:spPr>
      </p:sp>
      <p:sp>
        <p:nvSpPr>
          <p:cNvPr id="6" name="Shape 4"/>
          <p:cNvSpPr/>
          <p:nvPr/>
        </p:nvSpPr>
        <p:spPr>
          <a:xfrm>
            <a:off x="1280160" y="4389120"/>
            <a:ext cx="91440" cy="91440"/>
          </a:xfrm>
          <a:prstGeom prst="ellipse">
            <a:avLst/>
          </a:prstGeom>
          <a:solidFill>
            <a:srgbClr val="E8A33D"/>
          </a:solidFill>
          <a:ln/>
        </p:spPr>
      </p:sp>
      <p:sp>
        <p:nvSpPr>
          <p:cNvPr id="7" name="Text 5"/>
          <p:cNvSpPr/>
          <p:nvPr/>
        </p:nvSpPr>
        <p:spPr>
          <a:xfrm>
            <a:off x="2011680" y="4069080"/>
            <a:ext cx="8229600" cy="731520"/>
          </a:xfrm>
          <a:prstGeom prst="rect">
            <a:avLst/>
          </a:prstGeom>
          <a:noFill/>
          <a:ln/>
        </p:spPr>
        <p:txBody>
          <a:bodyPr wrap="square" lIns="0" tIns="0" rIns="0" bIns="0" rtlCol="0" anchor="ctr"/>
          <a:lstStyle/>
          <a:p>
            <a:pPr indent="0" marL="0">
              <a:buNone/>
            </a:pPr>
            <a:r>
              <a:rPr lang="en-US" sz="1300" dirty="0">
                <a:solidFill>
                  <a:srgbClr val="8B949E"/>
                </a:solidFill>
                <a:latin typeface="Arial" pitchFamily="34" charset="0"/>
                <a:ea typeface="Arial" pitchFamily="34" charset="-122"/>
                <a:cs typeface="Arial" pitchFamily="34" charset="-120"/>
              </a:rPr>
              <a:t>We are seeking mentorship on compiler static analysis heuristics, ecosystem partners, and pilot engineering teams to run VibeLens in daily development.</a:t>
            </a:r>
            <a:endParaRPr lang="en-US" sz="1300" dirty="0"/>
          </a:p>
        </p:txBody>
      </p:sp>
      <p:sp>
        <p:nvSpPr>
          <p:cNvPr id="8" name="Text 6"/>
          <p:cNvSpPr/>
          <p:nvPr/>
        </p:nvSpPr>
        <p:spPr>
          <a:xfrm>
            <a:off x="914400" y="5303520"/>
            <a:ext cx="7315200" cy="320040"/>
          </a:xfrm>
          <a:prstGeom prst="rect">
            <a:avLst/>
          </a:prstGeom>
          <a:noFill/>
          <a:ln/>
        </p:spPr>
        <p:txBody>
          <a:bodyPr wrap="square" lIns="0" tIns="0" rIns="0" bIns="0" rtlCol="0" anchor="ctr"/>
          <a:lstStyle/>
          <a:p>
            <a:pPr indent="0" marL="0">
              <a:buNone/>
            </a:pPr>
            <a:r>
              <a:rPr lang="en-US" sz="1200" dirty="0">
                <a:solidFill>
                  <a:srgbClr val="5B7C99"/>
                </a:solidFill>
                <a:latin typeface="Consolas" pitchFamily="34" charset="0"/>
                <a:ea typeface="Consolas" pitchFamily="34" charset="-122"/>
                <a:cs typeface="Consolas" pitchFamily="34" charset="-120"/>
              </a:rPr>
              <a:t>github.com/chiraggoenka17512-coder/vibelens</a:t>
            </a:r>
            <a:endParaRPr lang="en-US" sz="1200" dirty="0"/>
          </a:p>
        </p:txBody>
      </p:sp>
      <p:sp>
        <p:nvSpPr>
          <p:cNvPr id="9" name="Text 7"/>
          <p:cNvSpPr/>
          <p:nvPr/>
        </p:nvSpPr>
        <p:spPr>
          <a:xfrm>
            <a:off x="914400" y="6400800"/>
            <a:ext cx="10332720" cy="228600"/>
          </a:xfrm>
          <a:prstGeom prst="rect">
            <a:avLst/>
          </a:prstGeom>
          <a:noFill/>
          <a:ln/>
        </p:spPr>
        <p:txBody>
          <a:bodyPr wrap="square" lIns="0" tIns="0" rIns="0" bIns="0" rtlCol="0" anchor="ctr"/>
          <a:lstStyle/>
          <a:p>
            <a:pPr indent="0" marL="0">
              <a:buNone/>
            </a:pPr>
            <a:r>
              <a:rPr lang="en-US" sz="900" dirty="0">
                <a:solidFill>
                  <a:srgbClr val="57606A"/>
                </a:solidFill>
                <a:latin typeface="Consolas" pitchFamily="34" charset="0"/>
                <a:ea typeface="Consolas" pitchFamily="34" charset="-122"/>
                <a:cs typeface="Consolas" pitchFamily="34" charset="-120"/>
              </a:rPr>
              <a:t>VIBELENS // INSPECTION BENCH // 100% LOCAL PRIVACY // ZERO CLOUD LEAKS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VibeLens // Workshop Inspection Bench</dc:title>
  <dc:subject>PptxGenJS Presentation</dc:subject>
  <dc:creator>VibeLens Team (Prasunex 2026)</dc:creator>
  <cp:lastModifiedBy>VibeLens Team (Prasunex 2026)</cp:lastModifiedBy>
  <cp:revision>1</cp:revision>
  <dcterms:created xsi:type="dcterms:W3CDTF">2026-10-31T10:51:25Z</dcterms:created>
  <dcterms:modified xsi:type="dcterms:W3CDTF">2026-10-31T10:51:25Z</dcterms:modified>
</cp:coreProperties>
</file>